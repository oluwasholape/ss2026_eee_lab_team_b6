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9144000" cy="5143500" type="screen16x9"/>
  <p:notesSz cx="5143500" cy="9144000"/>
  <p:embeddedFontLst>
    <p:embeddedFont>
      <p:font typeface="DM Sans Light" panose="020B0604020202020204" charset="0"/>
      <p:regular r:id="rId17"/>
    </p:embeddedFont>
    <p:embeddedFont>
      <p:font typeface="DM Sans Medium" panose="020F0502020204030204" pitchFamily="2" charset="0"/>
      <p:regular r:id="rId18"/>
    </p:embeddedFont>
    <p:embeddedFont>
      <p:font typeface="Inter"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930" y="10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244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2DB"/>
          </a:solidFill>
          <a:ln/>
        </p:spPr>
        <p:txBody>
          <a:bodyPr/>
          <a:lstStyle/>
          <a:p>
            <a:endParaRPr lang="en-DE"/>
          </a:p>
        </p:txBody>
      </p:sp>
      <p:sp>
        <p:nvSpPr>
          <p:cNvPr id="3" name="Shape 1"/>
          <p:cNvSpPr/>
          <p:nvPr/>
        </p:nvSpPr>
        <p:spPr>
          <a:xfrm>
            <a:off x="0" y="0"/>
            <a:ext cx="9144000" cy="5143500"/>
          </a:xfrm>
          <a:prstGeom prst="rect">
            <a:avLst/>
          </a:prstGeom>
          <a:solidFill>
            <a:srgbClr val="F9F8F5"/>
          </a:solidFill>
          <a:ln/>
        </p:spPr>
        <p:txBody>
          <a:bodyPr/>
          <a:lstStyle/>
          <a:p>
            <a:endParaRPr lang="en-DE"/>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25.pn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28.sv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379512"/>
            <a:ext cx="4722763" cy="726728"/>
          </a:xfrm>
          <a:prstGeom prst="rect">
            <a:avLst/>
          </a:prstGeom>
          <a:noFill/>
          <a:ln/>
        </p:spPr>
        <p:txBody>
          <a:bodyPr wrap="square" lIns="0" tIns="0" rIns="0" bIns="0" rtlCol="0" anchor="t">
            <a:normAutofit/>
          </a:bodyPr>
          <a:lstStyle/>
          <a:p>
            <a:pPr marL="0" indent="0" algn="l">
              <a:lnSpc>
                <a:spcPct val="104000"/>
              </a:lnSpc>
              <a:buNone/>
            </a:pPr>
            <a:r>
              <a:rPr lang="en-US" sz="2250" dirty="0">
                <a:solidFill>
                  <a:srgbClr val="161613"/>
                </a:solidFill>
                <a:latin typeface="DM Sans Medium" pitchFamily="34" charset="0"/>
                <a:ea typeface="DM Sans Medium" pitchFamily="34" charset="-122"/>
                <a:cs typeface="DM Sans Medium" pitchFamily="34" charset="-120"/>
              </a:rPr>
              <a:t>High-Level Synthesis with Game-Theoretic Scheduling</a:t>
            </a:r>
            <a:endParaRPr lang="en-US" sz="2250" dirty="0"/>
          </a:p>
        </p:txBody>
      </p:sp>
      <p:sp>
        <p:nvSpPr>
          <p:cNvPr id="4" name="Text 1"/>
          <p:cNvSpPr/>
          <p:nvPr/>
        </p:nvSpPr>
        <p:spPr>
          <a:xfrm>
            <a:off x="3925119" y="1149846"/>
            <a:ext cx="3717875" cy="18164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DM Sans Medium" pitchFamily="34" charset="0"/>
                <a:ea typeface="DM Sans Medium" pitchFamily="34" charset="-122"/>
                <a:cs typeface="DM Sans Medium" pitchFamily="34" charset="-120"/>
              </a:rPr>
              <a:t>Power Optimization during Behavioral Synthesis</a:t>
            </a:r>
            <a:endParaRPr lang="en-US" sz="1100" dirty="0"/>
          </a:p>
        </p:txBody>
      </p:sp>
      <p:sp>
        <p:nvSpPr>
          <p:cNvPr id="5" name="Text 2"/>
          <p:cNvSpPr/>
          <p:nvPr/>
        </p:nvSpPr>
        <p:spPr>
          <a:xfrm>
            <a:off x="3925119" y="1494979"/>
            <a:ext cx="5179963" cy="180231"/>
          </a:xfrm>
          <a:prstGeom prst="rect">
            <a:avLst/>
          </a:prstGeom>
          <a:noFill/>
          <a:ln/>
        </p:spPr>
        <p:txBody>
          <a:bodyPr wrap="none" lIns="0" tIns="0" rIns="0" bIns="0" rtlCol="0" anchor="t"/>
          <a:lstStyle/>
          <a:p>
            <a:pPr marL="0" indent="0" algn="l">
              <a:lnSpc>
                <a:spcPct val="129000"/>
              </a:lnSpc>
              <a:buNone/>
            </a:pPr>
            <a:r>
              <a:rPr lang="en-US" sz="900" b="1" dirty="0">
                <a:solidFill>
                  <a:srgbClr val="161613"/>
                </a:solidFill>
                <a:latin typeface="Inter" pitchFamily="34" charset="0"/>
                <a:ea typeface="Inter" pitchFamily="34" charset="-122"/>
                <a:cs typeface="Inter" pitchFamily="34" charset="-120"/>
              </a:rPr>
              <a:t>Presenter:</a:t>
            </a:r>
            <a:r>
              <a:rPr lang="en-US" sz="900" dirty="0">
                <a:solidFill>
                  <a:srgbClr val="161613"/>
                </a:solidFill>
                <a:latin typeface="Inter" pitchFamily="34" charset="0"/>
                <a:ea typeface="Inter" pitchFamily="34" charset="-122"/>
                <a:cs typeface="Inter" pitchFamily="34" charset="-120"/>
              </a:rPr>
              <a:t> Sumon Boiddo  |  </a:t>
            </a:r>
            <a:r>
              <a:rPr lang="en-US" sz="900" b="1" dirty="0">
                <a:solidFill>
                  <a:srgbClr val="161613"/>
                </a:solidFill>
                <a:latin typeface="Inter" pitchFamily="34" charset="0"/>
                <a:ea typeface="Inter" pitchFamily="34" charset="-122"/>
                <a:cs typeface="Inter" pitchFamily="34" charset="-120"/>
              </a:rPr>
              <a:t>Institute:</a:t>
            </a:r>
            <a:r>
              <a:rPr lang="en-US" sz="900" dirty="0">
                <a:solidFill>
                  <a:srgbClr val="161613"/>
                </a:solidFill>
                <a:latin typeface="Inter" pitchFamily="34" charset="0"/>
                <a:ea typeface="Inter" pitchFamily="34" charset="-122"/>
                <a:cs typeface="Inter" pitchFamily="34" charset="-120"/>
              </a:rPr>
              <a:t> Hochschule Hamm-Lippstadt</a:t>
            </a:r>
            <a:endParaRPr lang="en-US" sz="900" dirty="0"/>
          </a:p>
        </p:txBody>
      </p:sp>
      <p:sp>
        <p:nvSpPr>
          <p:cNvPr id="6" name="Shape 3"/>
          <p:cNvSpPr/>
          <p:nvPr/>
        </p:nvSpPr>
        <p:spPr>
          <a:xfrm>
            <a:off x="3925119" y="1797844"/>
            <a:ext cx="4722763" cy="659755"/>
          </a:xfrm>
          <a:prstGeom prst="roundRect">
            <a:avLst>
              <a:gd name="adj" fmla="val 2644"/>
            </a:avLst>
          </a:prstGeom>
          <a:solidFill>
            <a:srgbClr val="EDEBE3"/>
          </a:solidFill>
          <a:ln/>
        </p:spPr>
        <p:txBody>
          <a:bodyPr/>
          <a:lstStyle/>
          <a:p>
            <a:endParaRPr lang="en-DE"/>
          </a:p>
        </p:txBody>
      </p:sp>
      <p:sp>
        <p:nvSpPr>
          <p:cNvPr id="7" name="Text 4"/>
          <p:cNvSpPr/>
          <p:nvPr/>
        </p:nvSpPr>
        <p:spPr>
          <a:xfrm>
            <a:off x="4041353" y="1914079"/>
            <a:ext cx="1453604" cy="18164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DM Sans Medium" pitchFamily="34" charset="0"/>
                <a:ea typeface="DM Sans Medium" pitchFamily="34" charset="-122"/>
                <a:cs typeface="DM Sans Medium" pitchFamily="34" charset="-120"/>
              </a:rPr>
              <a:t>Scheduling</a:t>
            </a:r>
            <a:endParaRPr lang="en-US" sz="1100" dirty="0"/>
          </a:p>
        </p:txBody>
      </p:sp>
      <p:sp>
        <p:nvSpPr>
          <p:cNvPr id="8" name="Text 5"/>
          <p:cNvSpPr/>
          <p:nvPr/>
        </p:nvSpPr>
        <p:spPr>
          <a:xfrm>
            <a:off x="4041353" y="2161133"/>
            <a:ext cx="4490293" cy="180231"/>
          </a:xfrm>
          <a:prstGeom prst="rect">
            <a:avLst/>
          </a:prstGeom>
          <a:noFill/>
          <a:ln/>
        </p:spPr>
        <p:txBody>
          <a:bodyPr wrap="none" lIns="0" tIns="0" rIns="0" bIns="0" rtlCol="0" anchor="t"/>
          <a:lstStyle/>
          <a:p>
            <a:pPr marL="0" indent="0" algn="l">
              <a:lnSpc>
                <a:spcPct val="129000"/>
              </a:lnSpc>
              <a:buNone/>
            </a:pPr>
            <a:r>
              <a:rPr lang="en-US" sz="900" dirty="0">
                <a:solidFill>
                  <a:srgbClr val="161613"/>
                </a:solidFill>
                <a:latin typeface="Inter" pitchFamily="34" charset="0"/>
                <a:ea typeface="Inter" pitchFamily="34" charset="-122"/>
                <a:cs typeface="Inter" pitchFamily="34" charset="-120"/>
              </a:rPr>
              <a:t>When operations run</a:t>
            </a:r>
            <a:endParaRPr lang="en-US" sz="900" dirty="0"/>
          </a:p>
        </p:txBody>
      </p:sp>
      <p:sp>
        <p:nvSpPr>
          <p:cNvPr id="9" name="Shape 6"/>
          <p:cNvSpPr/>
          <p:nvPr/>
        </p:nvSpPr>
        <p:spPr>
          <a:xfrm>
            <a:off x="3925119" y="2566615"/>
            <a:ext cx="4722763" cy="659755"/>
          </a:xfrm>
          <a:prstGeom prst="roundRect">
            <a:avLst>
              <a:gd name="adj" fmla="val 2644"/>
            </a:avLst>
          </a:prstGeom>
          <a:solidFill>
            <a:srgbClr val="EDEBE3"/>
          </a:solidFill>
          <a:ln/>
        </p:spPr>
        <p:txBody>
          <a:bodyPr/>
          <a:lstStyle/>
          <a:p>
            <a:endParaRPr lang="en-DE"/>
          </a:p>
        </p:txBody>
      </p:sp>
      <p:sp>
        <p:nvSpPr>
          <p:cNvPr id="10" name="Text 7"/>
          <p:cNvSpPr/>
          <p:nvPr/>
        </p:nvSpPr>
        <p:spPr>
          <a:xfrm>
            <a:off x="4041353" y="2682850"/>
            <a:ext cx="1453604" cy="18164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DM Sans Medium" pitchFamily="34" charset="0"/>
                <a:ea typeface="DM Sans Medium" pitchFamily="34" charset="-122"/>
                <a:cs typeface="DM Sans Medium" pitchFamily="34" charset="-120"/>
              </a:rPr>
              <a:t>Binding</a:t>
            </a:r>
            <a:endParaRPr lang="en-US" sz="1100" dirty="0"/>
          </a:p>
        </p:txBody>
      </p:sp>
      <p:sp>
        <p:nvSpPr>
          <p:cNvPr id="11" name="Text 8"/>
          <p:cNvSpPr/>
          <p:nvPr/>
        </p:nvSpPr>
        <p:spPr>
          <a:xfrm>
            <a:off x="4041353" y="2929905"/>
            <a:ext cx="4490293" cy="180231"/>
          </a:xfrm>
          <a:prstGeom prst="rect">
            <a:avLst/>
          </a:prstGeom>
          <a:noFill/>
          <a:ln/>
        </p:spPr>
        <p:txBody>
          <a:bodyPr wrap="none" lIns="0" tIns="0" rIns="0" bIns="0" rtlCol="0" anchor="t"/>
          <a:lstStyle/>
          <a:p>
            <a:pPr marL="0" indent="0" algn="l">
              <a:lnSpc>
                <a:spcPct val="129000"/>
              </a:lnSpc>
              <a:buNone/>
            </a:pPr>
            <a:r>
              <a:rPr lang="en-US" sz="900" dirty="0">
                <a:solidFill>
                  <a:srgbClr val="161613"/>
                </a:solidFill>
                <a:latin typeface="Inter" pitchFamily="34" charset="0"/>
                <a:ea typeface="Inter" pitchFamily="34" charset="-122"/>
                <a:cs typeface="Inter" pitchFamily="34" charset="-120"/>
              </a:rPr>
              <a:t>Resource-operation assignment</a:t>
            </a:r>
            <a:endParaRPr lang="en-US" sz="900" dirty="0"/>
          </a:p>
        </p:txBody>
      </p:sp>
      <p:sp>
        <p:nvSpPr>
          <p:cNvPr id="12" name="Shape 9"/>
          <p:cNvSpPr/>
          <p:nvPr/>
        </p:nvSpPr>
        <p:spPr>
          <a:xfrm>
            <a:off x="3925119" y="3335387"/>
            <a:ext cx="4722763" cy="659755"/>
          </a:xfrm>
          <a:prstGeom prst="roundRect">
            <a:avLst>
              <a:gd name="adj" fmla="val 2644"/>
            </a:avLst>
          </a:prstGeom>
          <a:solidFill>
            <a:srgbClr val="EDEBE3"/>
          </a:solidFill>
          <a:ln/>
        </p:spPr>
        <p:txBody>
          <a:bodyPr/>
          <a:lstStyle/>
          <a:p>
            <a:endParaRPr lang="en-DE"/>
          </a:p>
        </p:txBody>
      </p:sp>
      <p:sp>
        <p:nvSpPr>
          <p:cNvPr id="13" name="Text 10"/>
          <p:cNvSpPr/>
          <p:nvPr/>
        </p:nvSpPr>
        <p:spPr>
          <a:xfrm>
            <a:off x="4041353" y="3451622"/>
            <a:ext cx="1453604" cy="18164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DM Sans Medium" pitchFamily="34" charset="0"/>
                <a:ea typeface="DM Sans Medium" pitchFamily="34" charset="-122"/>
                <a:cs typeface="DM Sans Medium" pitchFamily="34" charset="-120"/>
              </a:rPr>
              <a:t>Nash Equilibrium</a:t>
            </a:r>
            <a:endParaRPr lang="en-US" sz="1100" dirty="0"/>
          </a:p>
        </p:txBody>
      </p:sp>
      <p:sp>
        <p:nvSpPr>
          <p:cNvPr id="14" name="Text 11"/>
          <p:cNvSpPr/>
          <p:nvPr/>
        </p:nvSpPr>
        <p:spPr>
          <a:xfrm>
            <a:off x="4041353" y="3698677"/>
            <a:ext cx="4490293" cy="180231"/>
          </a:xfrm>
          <a:prstGeom prst="rect">
            <a:avLst/>
          </a:prstGeom>
          <a:noFill/>
          <a:ln/>
        </p:spPr>
        <p:txBody>
          <a:bodyPr wrap="none" lIns="0" tIns="0" rIns="0" bIns="0" rtlCol="0" anchor="t"/>
          <a:lstStyle/>
          <a:p>
            <a:pPr marL="0" indent="0" algn="l">
              <a:lnSpc>
                <a:spcPct val="129000"/>
              </a:lnSpc>
              <a:buNone/>
            </a:pPr>
            <a:r>
              <a:rPr lang="en-US" sz="900" dirty="0">
                <a:solidFill>
                  <a:srgbClr val="161613"/>
                </a:solidFill>
                <a:latin typeface="Inter" pitchFamily="34" charset="0"/>
                <a:ea typeface="Inter" pitchFamily="34" charset="-122"/>
                <a:cs typeface="Inter" pitchFamily="34" charset="-120"/>
              </a:rPr>
              <a:t>Stable, optimal decisions</a:t>
            </a:r>
            <a:endParaRPr lang="en-US" sz="900" dirty="0"/>
          </a:p>
        </p:txBody>
      </p:sp>
      <p:sp>
        <p:nvSpPr>
          <p:cNvPr id="15" name="Shape 12"/>
          <p:cNvSpPr/>
          <p:nvPr/>
        </p:nvSpPr>
        <p:spPr>
          <a:xfrm>
            <a:off x="3925119" y="4104159"/>
            <a:ext cx="4722763" cy="659755"/>
          </a:xfrm>
          <a:prstGeom prst="roundRect">
            <a:avLst>
              <a:gd name="adj" fmla="val 2644"/>
            </a:avLst>
          </a:prstGeom>
          <a:solidFill>
            <a:srgbClr val="EDEBE3"/>
          </a:solidFill>
          <a:ln/>
        </p:spPr>
        <p:txBody>
          <a:bodyPr/>
          <a:lstStyle/>
          <a:p>
            <a:endParaRPr lang="en-DE"/>
          </a:p>
        </p:txBody>
      </p:sp>
      <p:sp>
        <p:nvSpPr>
          <p:cNvPr id="16" name="Text 13"/>
          <p:cNvSpPr/>
          <p:nvPr/>
        </p:nvSpPr>
        <p:spPr>
          <a:xfrm>
            <a:off x="4041353" y="4220394"/>
            <a:ext cx="1453604" cy="18164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DM Sans Medium" pitchFamily="34" charset="0"/>
                <a:ea typeface="DM Sans Medium" pitchFamily="34" charset="-122"/>
                <a:cs typeface="DM Sans Medium" pitchFamily="34" charset="-120"/>
              </a:rPr>
              <a:t>Results</a:t>
            </a:r>
            <a:endParaRPr lang="en-US" sz="1100" dirty="0"/>
          </a:p>
        </p:txBody>
      </p:sp>
      <p:sp>
        <p:nvSpPr>
          <p:cNvPr id="17" name="Text 14"/>
          <p:cNvSpPr/>
          <p:nvPr/>
        </p:nvSpPr>
        <p:spPr>
          <a:xfrm>
            <a:off x="4041353" y="4467448"/>
            <a:ext cx="4490293" cy="180231"/>
          </a:xfrm>
          <a:prstGeom prst="rect">
            <a:avLst/>
          </a:prstGeom>
          <a:noFill/>
          <a:ln/>
        </p:spPr>
        <p:txBody>
          <a:bodyPr wrap="none" lIns="0" tIns="0" rIns="0" bIns="0" rtlCol="0" anchor="t"/>
          <a:lstStyle/>
          <a:p>
            <a:pPr marL="0" indent="0" algn="l">
              <a:lnSpc>
                <a:spcPct val="129000"/>
              </a:lnSpc>
              <a:buNone/>
            </a:pPr>
            <a:r>
              <a:rPr lang="en-US" sz="900" dirty="0">
                <a:solidFill>
                  <a:srgbClr val="161613"/>
                </a:solidFill>
                <a:latin typeface="Inter" pitchFamily="34" charset="0"/>
                <a:ea typeface="Inter" pitchFamily="34" charset="-122"/>
                <a:cs typeface="Inter" pitchFamily="34" charset="-120"/>
              </a:rPr>
              <a:t>Measured power savings</a:t>
            </a:r>
            <a:endParaRPr lang="en-US" sz="900" dirty="0"/>
          </a:p>
        </p:txBody>
      </p:sp>
      <p:pic>
        <p:nvPicPr>
          <p:cNvPr id="19" name="Picture 18">
            <a:extLst>
              <a:ext uri="{FF2B5EF4-FFF2-40B4-BE49-F238E27FC236}">
                <a16:creationId xmlns:a16="http://schemas.microsoft.com/office/drawing/2014/main" id="{52A63D18-2F40-BAEF-12B3-AC4E9F22E93C}"/>
              </a:ext>
            </a:extLst>
          </p:cNvPr>
          <p:cNvPicPr>
            <a:picLocks noChangeAspect="1"/>
          </p:cNvPicPr>
          <p:nvPr/>
        </p:nvPicPr>
        <p:blipFill>
          <a:blip r:embed="rId4"/>
          <a:stretch>
            <a:fillRect/>
          </a:stretch>
        </p:blipFill>
        <p:spPr>
          <a:xfrm>
            <a:off x="0" y="4308130"/>
            <a:ext cx="1754978" cy="835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433685"/>
            <a:ext cx="4859834"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What is High-Level Synthesis?</a:t>
            </a:r>
            <a:endParaRPr lang="en-US" sz="2400" dirty="0"/>
          </a:p>
        </p:txBody>
      </p:sp>
      <p:sp>
        <p:nvSpPr>
          <p:cNvPr id="4" name="Text 1"/>
          <p:cNvSpPr/>
          <p:nvPr/>
        </p:nvSpPr>
        <p:spPr>
          <a:xfrm>
            <a:off x="3925119" y="1007269"/>
            <a:ext cx="472276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High-Level Synthesis (HLS) automatically converts algorithmic descriptions written in high-level languages such as C or C++ into register-transfer level (RTL) hardware designs. It eliminates the need for manual gate-level design, dramatically reducing development time and designer effort.</a:t>
            </a:r>
            <a:endParaRPr lang="en-US" sz="950" dirty="0"/>
          </a:p>
        </p:txBody>
      </p:sp>
      <p:pic>
        <p:nvPicPr>
          <p:cNvPr id="5" name="Image 1" descr="preencoded.png"/>
          <p:cNvPicPr>
            <a:picLocks noChangeAspect="1"/>
          </p:cNvPicPr>
          <p:nvPr/>
        </p:nvPicPr>
        <p:blipFill>
          <a:blip r:embed="rId4"/>
          <a:stretch>
            <a:fillRect/>
          </a:stretch>
        </p:blipFill>
        <p:spPr>
          <a:xfrm>
            <a:off x="3925119" y="1940644"/>
            <a:ext cx="620167" cy="744215"/>
          </a:xfrm>
          <a:prstGeom prst="rect">
            <a:avLst/>
          </a:prstGeom>
        </p:spPr>
      </p:pic>
      <p:sp>
        <p:nvSpPr>
          <p:cNvPr id="6" name="Text 2"/>
          <p:cNvSpPr/>
          <p:nvPr/>
        </p:nvSpPr>
        <p:spPr>
          <a:xfrm>
            <a:off x="4669259" y="206461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Scheduling</a:t>
            </a:r>
            <a:endParaRPr lang="en-US" sz="1200" dirty="0"/>
          </a:p>
        </p:txBody>
      </p:sp>
      <p:sp>
        <p:nvSpPr>
          <p:cNvPr id="7" name="Text 3"/>
          <p:cNvSpPr/>
          <p:nvPr/>
        </p:nvSpPr>
        <p:spPr>
          <a:xfrm>
            <a:off x="4669259" y="2332881"/>
            <a:ext cx="3978622"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Assign operations to control steps (clock cycles)</a:t>
            </a:r>
            <a:endParaRPr lang="en-US" sz="950" dirty="0"/>
          </a:p>
        </p:txBody>
      </p:sp>
      <p:pic>
        <p:nvPicPr>
          <p:cNvPr id="8" name="Image 2" descr="preencoded.png"/>
          <p:cNvPicPr>
            <a:picLocks noChangeAspect="1"/>
          </p:cNvPicPr>
          <p:nvPr/>
        </p:nvPicPr>
        <p:blipFill>
          <a:blip r:embed="rId5"/>
          <a:stretch>
            <a:fillRect/>
          </a:stretch>
        </p:blipFill>
        <p:spPr>
          <a:xfrm>
            <a:off x="3925119" y="2684859"/>
            <a:ext cx="620167" cy="744215"/>
          </a:xfrm>
          <a:prstGeom prst="rect">
            <a:avLst/>
          </a:prstGeom>
        </p:spPr>
      </p:pic>
      <p:sp>
        <p:nvSpPr>
          <p:cNvPr id="9" name="Text 4"/>
          <p:cNvSpPr/>
          <p:nvPr/>
        </p:nvSpPr>
        <p:spPr>
          <a:xfrm>
            <a:off x="4669259" y="280883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Allocation</a:t>
            </a:r>
            <a:endParaRPr lang="en-US" sz="1200" dirty="0"/>
          </a:p>
        </p:txBody>
      </p:sp>
      <p:sp>
        <p:nvSpPr>
          <p:cNvPr id="10" name="Text 5"/>
          <p:cNvSpPr/>
          <p:nvPr/>
        </p:nvSpPr>
        <p:spPr>
          <a:xfrm>
            <a:off x="4669259" y="3077096"/>
            <a:ext cx="3978622"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Determine number and type of hardware resources needed</a:t>
            </a:r>
            <a:endParaRPr lang="en-US" sz="950" dirty="0"/>
          </a:p>
        </p:txBody>
      </p:sp>
      <p:pic>
        <p:nvPicPr>
          <p:cNvPr id="11" name="Image 3" descr="preencoded.png"/>
          <p:cNvPicPr>
            <a:picLocks noChangeAspect="1"/>
          </p:cNvPicPr>
          <p:nvPr/>
        </p:nvPicPr>
        <p:blipFill>
          <a:blip r:embed="rId6"/>
          <a:stretch>
            <a:fillRect/>
          </a:stretch>
        </p:blipFill>
        <p:spPr>
          <a:xfrm>
            <a:off x="3925119" y="3429074"/>
            <a:ext cx="620167" cy="744215"/>
          </a:xfrm>
          <a:prstGeom prst="rect">
            <a:avLst/>
          </a:prstGeom>
        </p:spPr>
      </p:pic>
      <p:sp>
        <p:nvSpPr>
          <p:cNvPr id="12" name="Text 6"/>
          <p:cNvSpPr/>
          <p:nvPr/>
        </p:nvSpPr>
        <p:spPr>
          <a:xfrm>
            <a:off x="4669259" y="355304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Binding</a:t>
            </a:r>
            <a:endParaRPr lang="en-US" sz="1200" dirty="0"/>
          </a:p>
        </p:txBody>
      </p:sp>
      <p:sp>
        <p:nvSpPr>
          <p:cNvPr id="13" name="Text 7"/>
          <p:cNvSpPr/>
          <p:nvPr/>
        </p:nvSpPr>
        <p:spPr>
          <a:xfrm>
            <a:off x="4669259" y="3821311"/>
            <a:ext cx="3978622"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Map operations to specific functional units and registers</a:t>
            </a:r>
            <a:endParaRPr lang="en-US" sz="950" dirty="0"/>
          </a:p>
        </p:txBody>
      </p:sp>
      <p:sp>
        <p:nvSpPr>
          <p:cNvPr id="14" name="Text 8"/>
          <p:cNvSpPr/>
          <p:nvPr/>
        </p:nvSpPr>
        <p:spPr>
          <a:xfrm>
            <a:off x="3925119" y="4312816"/>
            <a:ext cx="4722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Together, these three steps translate an abstract algorithm into a concrete, synthesizable hardware netlist ready for FPGA or ASIC implementation.</a:t>
            </a:r>
            <a:endParaRPr lang="en-US" sz="950" dirty="0"/>
          </a:p>
        </p:txBody>
      </p:sp>
      <p:pic>
        <p:nvPicPr>
          <p:cNvPr id="15" name="Picture 14">
            <a:extLst>
              <a:ext uri="{FF2B5EF4-FFF2-40B4-BE49-F238E27FC236}">
                <a16:creationId xmlns:a16="http://schemas.microsoft.com/office/drawing/2014/main" id="{D1490570-A1CC-B7ED-06A0-669F138E35D8}"/>
              </a:ext>
            </a:extLst>
          </p:cNvPr>
          <p:cNvPicPr>
            <a:picLocks noChangeAspect="1"/>
          </p:cNvPicPr>
          <p:nvPr/>
        </p:nvPicPr>
        <p:blipFill>
          <a:blip r:embed="rId7"/>
          <a:stretch>
            <a:fillRect/>
          </a:stretch>
        </p:blipFill>
        <p:spPr>
          <a:xfrm>
            <a:off x="0" y="4308130"/>
            <a:ext cx="1754978" cy="8353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901303"/>
            <a:ext cx="5260777"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Why Power Optimization Matters</a:t>
            </a:r>
            <a:endParaRPr lang="en-US" sz="2400" dirty="0"/>
          </a:p>
        </p:txBody>
      </p:sp>
      <p:sp>
        <p:nvSpPr>
          <p:cNvPr id="3" name="Shape 1"/>
          <p:cNvSpPr/>
          <p:nvPr/>
        </p:nvSpPr>
        <p:spPr>
          <a:xfrm>
            <a:off x="406822" y="1474887"/>
            <a:ext cx="4103191" cy="2767236"/>
          </a:xfrm>
          <a:prstGeom prst="roundRect">
            <a:avLst>
              <a:gd name="adj" fmla="val 672"/>
            </a:avLst>
          </a:prstGeom>
          <a:solidFill>
            <a:srgbClr val="28282F"/>
          </a:solidFill>
          <a:ln/>
        </p:spPr>
        <p:txBody>
          <a:bodyPr/>
          <a:lstStyle/>
          <a:p>
            <a:endParaRPr lang="en-DE"/>
          </a:p>
        </p:txBody>
      </p:sp>
      <p:sp>
        <p:nvSpPr>
          <p:cNvPr id="4" name="Text 2"/>
          <p:cNvSpPr/>
          <p:nvPr/>
        </p:nvSpPr>
        <p:spPr>
          <a:xfrm>
            <a:off x="530796" y="159886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DM Sans Medium" pitchFamily="34" charset="0"/>
                <a:ea typeface="DM Sans Medium" pitchFamily="34" charset="-122"/>
                <a:cs typeface="DM Sans Medium" pitchFamily="34" charset="-120"/>
              </a:rPr>
              <a:t>The Challenge</a:t>
            </a:r>
            <a:endParaRPr lang="en-US" sz="1200" dirty="0"/>
          </a:p>
        </p:txBody>
      </p:sp>
      <p:sp>
        <p:nvSpPr>
          <p:cNvPr id="5" name="Text 3"/>
          <p:cNvSpPr/>
          <p:nvPr/>
        </p:nvSpPr>
        <p:spPr>
          <a:xfrm>
            <a:off x="530796" y="1916683"/>
            <a:ext cx="3855244"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Inter" pitchFamily="34" charset="0"/>
                <a:ea typeface="Inter" pitchFamily="34" charset="-122"/>
                <a:cs typeface="Inter" pitchFamily="34" charset="-120"/>
              </a:rPr>
              <a:t>As silicon technology scales down, power consumption has become a first-class design constraint — not an afterthought. Every wasted switching event translates directly into heat, reduced battery life, and reliability degradation.</a:t>
            </a:r>
            <a:endParaRPr lang="en-US" sz="950" dirty="0"/>
          </a:p>
        </p:txBody>
      </p:sp>
      <p:sp>
        <p:nvSpPr>
          <p:cNvPr id="6" name="Text 4"/>
          <p:cNvSpPr/>
          <p:nvPr/>
        </p:nvSpPr>
        <p:spPr>
          <a:xfrm>
            <a:off x="4728046" y="1598861"/>
            <a:ext cx="289098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Key Consequences of High Power</a:t>
            </a:r>
            <a:endParaRPr lang="en-US" sz="1200" dirty="0"/>
          </a:p>
        </p:txBody>
      </p:sp>
      <p:sp>
        <p:nvSpPr>
          <p:cNvPr id="7" name="Text 5"/>
          <p:cNvSpPr/>
          <p:nvPr/>
        </p:nvSpPr>
        <p:spPr>
          <a:xfrm>
            <a:off x="4728046" y="1916683"/>
            <a:ext cx="3924598" cy="116584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Faster battery drain in portable and IoT devices</a:t>
            </a:r>
            <a:endParaRPr lang="en-US" sz="950" dirty="0"/>
          </a:p>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Increased heat generation requiring expensive cooling</a:t>
            </a:r>
            <a:endParaRPr lang="en-US" sz="950" dirty="0"/>
          </a:p>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Higher packaging and thermal management costs</a:t>
            </a:r>
            <a:endParaRPr lang="en-US" sz="950" dirty="0"/>
          </a:p>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Reduced circuit reliability and lifespan</a:t>
            </a:r>
            <a:endParaRPr lang="en-US" sz="950" dirty="0"/>
          </a:p>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Thermal throttling, limiting peak performance</a:t>
            </a:r>
            <a:endParaRPr lang="en-US" sz="950" dirty="0"/>
          </a:p>
        </p:txBody>
      </p:sp>
      <p:sp>
        <p:nvSpPr>
          <p:cNvPr id="8" name="Shape 6"/>
          <p:cNvSpPr/>
          <p:nvPr/>
        </p:nvSpPr>
        <p:spPr>
          <a:xfrm>
            <a:off x="4728046" y="3222054"/>
            <a:ext cx="3924598" cy="880542"/>
          </a:xfrm>
          <a:prstGeom prst="roundRect">
            <a:avLst>
              <a:gd name="adj" fmla="val 2113"/>
            </a:avLst>
          </a:prstGeom>
          <a:solidFill>
            <a:srgbClr val="B6D6FC"/>
          </a:solidFill>
          <a:ln/>
        </p:spPr>
        <p:txBody>
          <a:bodyPr/>
          <a:lstStyle/>
          <a:p>
            <a:endParaRPr lang="en-DE"/>
          </a:p>
        </p:txBody>
      </p:sp>
      <p:pic>
        <p:nvPicPr>
          <p:cNvPr id="9" name="Image 0" descr="preencoded.png"/>
          <p:cNvPicPr>
            <a:picLocks noChangeAspect="1"/>
          </p:cNvPicPr>
          <p:nvPr/>
        </p:nvPicPr>
        <p:blipFill>
          <a:blip r:embed="rId3"/>
          <a:stretch>
            <a:fillRect/>
          </a:stretch>
        </p:blipFill>
        <p:spPr>
          <a:xfrm>
            <a:off x="4852020" y="3411364"/>
            <a:ext cx="155004" cy="123974"/>
          </a:xfrm>
          <a:prstGeom prst="rect">
            <a:avLst/>
          </a:prstGeom>
        </p:spPr>
      </p:pic>
      <p:sp>
        <p:nvSpPr>
          <p:cNvPr id="10" name="Text 7"/>
          <p:cNvSpPr/>
          <p:nvPr/>
        </p:nvSpPr>
        <p:spPr>
          <a:xfrm>
            <a:off x="5130998" y="3364632"/>
            <a:ext cx="33976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Embedded systems, sensors, wearables, and mobile SoCs are all critically affected by power budget decisions made during HLS.</a:t>
            </a:r>
            <a:endParaRPr lang="en-US" sz="950" dirty="0"/>
          </a:p>
        </p:txBody>
      </p:sp>
      <p:pic>
        <p:nvPicPr>
          <p:cNvPr id="11" name="Picture 10">
            <a:extLst>
              <a:ext uri="{FF2B5EF4-FFF2-40B4-BE49-F238E27FC236}">
                <a16:creationId xmlns:a16="http://schemas.microsoft.com/office/drawing/2014/main" id="{BD915C1F-230F-C6AE-CD49-04E78892F968}"/>
              </a:ext>
            </a:extLst>
          </p:cNvPr>
          <p:cNvPicPr>
            <a:picLocks noChangeAspect="1"/>
          </p:cNvPicPr>
          <p:nvPr/>
        </p:nvPicPr>
        <p:blipFill>
          <a:blip r:embed="rId4"/>
          <a:stretch>
            <a:fillRect/>
          </a:stretch>
        </p:blipFill>
        <p:spPr>
          <a:xfrm>
            <a:off x="0" y="4308130"/>
            <a:ext cx="1754978" cy="8353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736625"/>
            <a:ext cx="4043958"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The Core Problem in HLS</a:t>
            </a:r>
            <a:endParaRPr lang="en-US" sz="2400" dirty="0"/>
          </a:p>
        </p:txBody>
      </p:sp>
      <p:sp>
        <p:nvSpPr>
          <p:cNvPr id="3" name="Text 1"/>
          <p:cNvSpPr/>
          <p:nvPr/>
        </p:nvSpPr>
        <p:spPr>
          <a:xfrm>
            <a:off x="496119" y="1372195"/>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Naïve or suboptimal scheduling and binding decisions can significantly inflate power consumption. The root cause lies in unnecessary </a:t>
            </a:r>
            <a:r>
              <a:rPr lang="en-US" sz="950" b="1" dirty="0">
                <a:solidFill>
                  <a:srgbClr val="161613"/>
                </a:solidFill>
                <a:latin typeface="Inter" pitchFamily="34" charset="0"/>
                <a:ea typeface="Inter" pitchFamily="34" charset="-122"/>
                <a:cs typeface="Inter" pitchFamily="34" charset="-120"/>
              </a:rPr>
              <a:t>switching activity</a:t>
            </a:r>
            <a:r>
              <a:rPr lang="en-US" sz="950" dirty="0">
                <a:solidFill>
                  <a:srgbClr val="161613"/>
                </a:solidFill>
                <a:latin typeface="Inter" pitchFamily="34" charset="0"/>
                <a:ea typeface="Inter" pitchFamily="34" charset="-122"/>
                <a:cs typeface="Inter" pitchFamily="34" charset="-120"/>
              </a:rPr>
              <a:t> — every time a signal changes value, dynamic power is dissipated.</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31" y="1908646"/>
            <a:ext cx="2648843" cy="1537097"/>
          </a:xfrm>
          <a:prstGeom prst="rect">
            <a:avLst/>
          </a:prstGeom>
        </p:spPr>
      </p:pic>
      <p:sp>
        <p:nvSpPr>
          <p:cNvPr id="5" name="Text 2"/>
          <p:cNvSpPr/>
          <p:nvPr/>
        </p:nvSpPr>
        <p:spPr>
          <a:xfrm>
            <a:off x="677242" y="204690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DM Sans Medium" pitchFamily="34" charset="0"/>
                <a:ea typeface="DM Sans Medium" pitchFamily="34" charset="-122"/>
                <a:cs typeface="DM Sans Medium" pitchFamily="34" charset="-120"/>
              </a:rPr>
              <a:t>⏱</a:t>
            </a:r>
            <a:r>
              <a:rPr lang="en-US" sz="1200" dirty="0">
                <a:solidFill>
                  <a:srgbClr val="161613"/>
                </a:solidFill>
                <a:latin typeface="DM Sans Medium" pitchFamily="34" charset="0"/>
                <a:ea typeface="DM Sans Medium" pitchFamily="34" charset="-122"/>
                <a:cs typeface="DM Sans Medium" pitchFamily="34" charset="-120"/>
              </a:rPr>
              <a:t> Scheduling</a:t>
            </a:r>
            <a:endParaRPr lang="en-US" sz="1200" dirty="0"/>
          </a:p>
        </p:txBody>
      </p:sp>
      <p:sp>
        <p:nvSpPr>
          <p:cNvPr id="6" name="Text 3"/>
          <p:cNvSpPr/>
          <p:nvPr/>
        </p:nvSpPr>
        <p:spPr>
          <a:xfrm>
            <a:off x="677242" y="2315170"/>
            <a:ext cx="2315170"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Decides </a:t>
            </a:r>
            <a:r>
              <a:rPr lang="en-US" sz="950" i="1" dirty="0">
                <a:solidFill>
                  <a:srgbClr val="161613"/>
                </a:solidFill>
                <a:latin typeface="Inter" pitchFamily="34" charset="0"/>
                <a:ea typeface="Inter" pitchFamily="34" charset="-122"/>
                <a:cs typeface="Inter" pitchFamily="34" charset="-120"/>
              </a:rPr>
              <a:t>when</a:t>
            </a:r>
            <a:r>
              <a:rPr lang="en-US" sz="950" dirty="0">
                <a:solidFill>
                  <a:srgbClr val="161613"/>
                </a:solidFill>
                <a:latin typeface="Inter" pitchFamily="34" charset="0"/>
                <a:ea typeface="Inter" pitchFamily="34" charset="-122"/>
                <a:cs typeface="Inter" pitchFamily="34" charset="-120"/>
              </a:rPr>
              <a:t> each operation executes. Poor scheduling forces data to travel through extra logic, increasing transitions on interconnect and functional unit inputs.</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0360" y="1908646"/>
            <a:ext cx="2648917" cy="1537097"/>
          </a:xfrm>
          <a:prstGeom prst="rect">
            <a:avLst/>
          </a:prstGeom>
        </p:spPr>
      </p:pic>
      <p:sp>
        <p:nvSpPr>
          <p:cNvPr id="8" name="Text 4"/>
          <p:cNvSpPr/>
          <p:nvPr/>
        </p:nvSpPr>
        <p:spPr>
          <a:xfrm>
            <a:off x="3435772" y="204690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DM Sans Medium" pitchFamily="34" charset="0"/>
                <a:ea typeface="DM Sans Medium" pitchFamily="34" charset="-122"/>
                <a:cs typeface="DM Sans Medium" pitchFamily="34" charset="-120"/>
              </a:rPr>
              <a:t>🔧</a:t>
            </a:r>
            <a:r>
              <a:rPr lang="en-US" sz="1200" dirty="0">
                <a:solidFill>
                  <a:srgbClr val="161613"/>
                </a:solidFill>
                <a:latin typeface="DM Sans Medium" pitchFamily="34" charset="0"/>
                <a:ea typeface="DM Sans Medium" pitchFamily="34" charset="-122"/>
                <a:cs typeface="DM Sans Medium" pitchFamily="34" charset="-120"/>
              </a:rPr>
              <a:t> Allocation</a:t>
            </a:r>
            <a:endParaRPr lang="en-US" sz="1200" dirty="0"/>
          </a:p>
        </p:txBody>
      </p:sp>
      <p:sp>
        <p:nvSpPr>
          <p:cNvPr id="9" name="Text 5"/>
          <p:cNvSpPr/>
          <p:nvPr/>
        </p:nvSpPr>
        <p:spPr>
          <a:xfrm>
            <a:off x="3435772" y="2315170"/>
            <a:ext cx="2315245"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Determines </a:t>
            </a:r>
            <a:r>
              <a:rPr lang="en-US" sz="950" i="1" dirty="0">
                <a:solidFill>
                  <a:srgbClr val="161613"/>
                </a:solidFill>
                <a:latin typeface="Inter" pitchFamily="34" charset="0"/>
                <a:ea typeface="Inter" pitchFamily="34" charset="-122"/>
                <a:cs typeface="Inter" pitchFamily="34" charset="-120"/>
              </a:rPr>
              <a:t>how many</a:t>
            </a:r>
            <a:r>
              <a:rPr lang="en-US" sz="950" dirty="0">
                <a:solidFill>
                  <a:srgbClr val="161613"/>
                </a:solidFill>
                <a:latin typeface="Inter" pitchFamily="34" charset="0"/>
                <a:ea typeface="Inter" pitchFamily="34" charset="-122"/>
                <a:cs typeface="Inter" pitchFamily="34" charset="-120"/>
              </a:rPr>
              <a:t> hardware resources are instantiated. Over-allocation creates idle units that still leak power; under-allocation causes congestion and pipeline stalls.</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98964" y="1908646"/>
            <a:ext cx="2648843" cy="1537097"/>
          </a:xfrm>
          <a:prstGeom prst="rect">
            <a:avLst/>
          </a:prstGeom>
        </p:spPr>
      </p:pic>
      <p:sp>
        <p:nvSpPr>
          <p:cNvPr id="11" name="Text 6"/>
          <p:cNvSpPr/>
          <p:nvPr/>
        </p:nvSpPr>
        <p:spPr>
          <a:xfrm>
            <a:off x="6194375" y="204690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DM Sans Medium" pitchFamily="34" charset="0"/>
                <a:ea typeface="DM Sans Medium" pitchFamily="34" charset="-122"/>
                <a:cs typeface="DM Sans Medium" pitchFamily="34" charset="-120"/>
              </a:rPr>
              <a:t>🔗</a:t>
            </a:r>
            <a:r>
              <a:rPr lang="en-US" sz="1200" dirty="0">
                <a:solidFill>
                  <a:srgbClr val="161613"/>
                </a:solidFill>
                <a:latin typeface="DM Sans Medium" pitchFamily="34" charset="0"/>
                <a:ea typeface="DM Sans Medium" pitchFamily="34" charset="-122"/>
                <a:cs typeface="DM Sans Medium" pitchFamily="34" charset="-120"/>
              </a:rPr>
              <a:t> Binding</a:t>
            </a:r>
            <a:endParaRPr lang="en-US" sz="1200" dirty="0"/>
          </a:p>
        </p:txBody>
      </p:sp>
      <p:sp>
        <p:nvSpPr>
          <p:cNvPr id="12" name="Text 7"/>
          <p:cNvSpPr/>
          <p:nvPr/>
        </p:nvSpPr>
        <p:spPr>
          <a:xfrm>
            <a:off x="6194375" y="2315170"/>
            <a:ext cx="2315170"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Maps operations to </a:t>
            </a:r>
            <a:r>
              <a:rPr lang="en-US" sz="950" i="1" dirty="0">
                <a:solidFill>
                  <a:srgbClr val="161613"/>
                </a:solidFill>
                <a:latin typeface="Inter" pitchFamily="34" charset="0"/>
                <a:ea typeface="Inter" pitchFamily="34" charset="-122"/>
                <a:cs typeface="Inter" pitchFamily="34" charset="-120"/>
              </a:rPr>
              <a:t>specific</a:t>
            </a:r>
            <a:r>
              <a:rPr lang="en-US" sz="950" dirty="0">
                <a:solidFill>
                  <a:srgbClr val="161613"/>
                </a:solidFill>
                <a:latin typeface="Inter" pitchFamily="34" charset="0"/>
                <a:ea typeface="Inter" pitchFamily="34" charset="-122"/>
                <a:cs typeface="Inter" pitchFamily="34" charset="-120"/>
              </a:rPr>
              <a:t> functional units and registers. Poor binding pairs operations with dissimilar inputs, maximizing bit-level transitions and power cost.</a:t>
            </a:r>
            <a:endParaRPr lang="en-US" sz="950" dirty="0"/>
          </a:p>
        </p:txBody>
      </p:sp>
      <p:sp>
        <p:nvSpPr>
          <p:cNvPr id="13" name="Shape 8"/>
          <p:cNvSpPr/>
          <p:nvPr/>
        </p:nvSpPr>
        <p:spPr>
          <a:xfrm>
            <a:off x="496119" y="3585270"/>
            <a:ext cx="8151763" cy="682079"/>
          </a:xfrm>
          <a:prstGeom prst="roundRect">
            <a:avLst>
              <a:gd name="adj" fmla="val 2728"/>
            </a:avLst>
          </a:prstGeom>
          <a:solidFill>
            <a:srgbClr val="FCF2B5"/>
          </a:solidFill>
          <a:ln/>
        </p:spPr>
        <p:txBody>
          <a:bodyPr/>
          <a:lstStyle/>
          <a:p>
            <a:endParaRPr lang="en-DE"/>
          </a:p>
        </p:txBody>
      </p:sp>
      <p:pic>
        <p:nvPicPr>
          <p:cNvPr id="14" name="Image 3" descr="preencoded.png"/>
          <p:cNvPicPr>
            <a:picLocks noChangeAspect="1"/>
          </p:cNvPicPr>
          <p:nvPr/>
        </p:nvPicPr>
        <p:blipFill>
          <a:blip r:embed="rId4"/>
          <a:stretch>
            <a:fillRect/>
          </a:stretch>
        </p:blipFill>
        <p:spPr>
          <a:xfrm>
            <a:off x="620092" y="3765054"/>
            <a:ext cx="155004" cy="123974"/>
          </a:xfrm>
          <a:prstGeom prst="rect">
            <a:avLst/>
          </a:prstGeom>
        </p:spPr>
      </p:pic>
      <p:sp>
        <p:nvSpPr>
          <p:cNvPr id="15" name="Text 9"/>
          <p:cNvSpPr/>
          <p:nvPr/>
        </p:nvSpPr>
        <p:spPr>
          <a:xfrm>
            <a:off x="899071" y="3727847"/>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More switching activity → More dynamic power consumption. Optimal binding is the single largest lever for power reduction at the HLS stage.</a:t>
            </a:r>
            <a:endParaRPr lang="en-US" sz="950" dirty="0"/>
          </a:p>
        </p:txBody>
      </p:sp>
      <p:pic>
        <p:nvPicPr>
          <p:cNvPr id="16" name="Picture 15">
            <a:extLst>
              <a:ext uri="{FF2B5EF4-FFF2-40B4-BE49-F238E27FC236}">
                <a16:creationId xmlns:a16="http://schemas.microsoft.com/office/drawing/2014/main" id="{247840C8-CFC9-5041-05F7-1640B928015B}"/>
              </a:ext>
            </a:extLst>
          </p:cNvPr>
          <p:cNvPicPr>
            <a:picLocks noChangeAspect="1"/>
          </p:cNvPicPr>
          <p:nvPr/>
        </p:nvPicPr>
        <p:blipFill>
          <a:blip r:embed="rId5"/>
          <a:stretch>
            <a:fillRect/>
          </a:stretch>
        </p:blipFill>
        <p:spPr>
          <a:xfrm>
            <a:off x="0" y="4308130"/>
            <a:ext cx="1754978" cy="8353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72467"/>
            <a:ext cx="3953768"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Why Use Game Theory?</a:t>
            </a:r>
            <a:endParaRPr lang="en-US" sz="2400" dirty="0"/>
          </a:p>
        </p:txBody>
      </p:sp>
      <p:sp>
        <p:nvSpPr>
          <p:cNvPr id="4" name="Text 1"/>
          <p:cNvSpPr/>
          <p:nvPr/>
        </p:nvSpPr>
        <p:spPr>
          <a:xfrm>
            <a:off x="3925119" y="1146051"/>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Game theory provides a mathematically rigorous framework for decision-making when multiple agents compete for resources under conflicting objectives — exactly the situation in HLS binding.</a:t>
            </a:r>
            <a:endParaRPr lang="en-US" sz="9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5119" y="1880964"/>
            <a:ext cx="310083" cy="310083"/>
          </a:xfrm>
          <a:prstGeom prst="rect">
            <a:avLst/>
          </a:prstGeom>
        </p:spPr>
      </p:pic>
      <p:sp>
        <p:nvSpPr>
          <p:cNvPr id="6" name="Text 2"/>
          <p:cNvSpPr/>
          <p:nvPr/>
        </p:nvSpPr>
        <p:spPr>
          <a:xfrm>
            <a:off x="4390206" y="188096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Players</a:t>
            </a:r>
            <a:endParaRPr lang="en-US" sz="1200" dirty="0"/>
          </a:p>
        </p:txBody>
      </p:sp>
      <p:sp>
        <p:nvSpPr>
          <p:cNvPr id="7" name="Text 3"/>
          <p:cNvSpPr/>
          <p:nvPr/>
        </p:nvSpPr>
        <p:spPr>
          <a:xfrm>
            <a:off x="4390206" y="2149227"/>
            <a:ext cx="4257675"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Functional units (adders, multipliers, ALUs) act as rational players, each seeking to minimize their individual power cost when assigned an operation.</a:t>
            </a:r>
            <a:endParaRPr lang="en-US" sz="9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5119" y="2992636"/>
            <a:ext cx="310083" cy="310083"/>
          </a:xfrm>
          <a:prstGeom prst="rect">
            <a:avLst/>
          </a:prstGeom>
        </p:spPr>
      </p:pic>
      <p:sp>
        <p:nvSpPr>
          <p:cNvPr id="9" name="Text 4"/>
          <p:cNvSpPr/>
          <p:nvPr/>
        </p:nvSpPr>
        <p:spPr>
          <a:xfrm>
            <a:off x="4390206" y="299263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Strategies</a:t>
            </a:r>
            <a:endParaRPr lang="en-US" sz="1200" dirty="0"/>
          </a:p>
        </p:txBody>
      </p:sp>
      <p:sp>
        <p:nvSpPr>
          <p:cNvPr id="10" name="Text 5"/>
          <p:cNvSpPr/>
          <p:nvPr/>
        </p:nvSpPr>
        <p:spPr>
          <a:xfrm>
            <a:off x="4390206" y="3260899"/>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Each player's strategy is a bid representing the estimated switching power cost of executing a given operation on that specific unit.</a:t>
            </a:r>
            <a:endParaRPr lang="en-US" sz="9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25119" y="3905845"/>
            <a:ext cx="310083" cy="310083"/>
          </a:xfrm>
          <a:prstGeom prst="rect">
            <a:avLst/>
          </a:prstGeom>
        </p:spPr>
      </p:pic>
      <p:sp>
        <p:nvSpPr>
          <p:cNvPr id="12" name="Text 6"/>
          <p:cNvSpPr/>
          <p:nvPr/>
        </p:nvSpPr>
        <p:spPr>
          <a:xfrm>
            <a:off x="4390206" y="390584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Equilibrium</a:t>
            </a:r>
            <a:endParaRPr lang="en-US" sz="1200" dirty="0"/>
          </a:p>
        </p:txBody>
      </p:sp>
      <p:sp>
        <p:nvSpPr>
          <p:cNvPr id="13" name="Text 7"/>
          <p:cNvSpPr/>
          <p:nvPr/>
        </p:nvSpPr>
        <p:spPr>
          <a:xfrm>
            <a:off x="4390206" y="4174108"/>
            <a:ext cx="425767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Nash equilibrium identifies the globally stable assignment — no unit can unilaterally reduce system power by switching to a different operation.</a:t>
            </a:r>
            <a:endParaRPr lang="en-US" sz="950" dirty="0"/>
          </a:p>
        </p:txBody>
      </p:sp>
      <p:pic>
        <p:nvPicPr>
          <p:cNvPr id="15" name="Picture 14">
            <a:extLst>
              <a:ext uri="{FF2B5EF4-FFF2-40B4-BE49-F238E27FC236}">
                <a16:creationId xmlns:a16="http://schemas.microsoft.com/office/drawing/2014/main" id="{F9A263F1-2940-EEBA-41DC-EFAD61177EC3}"/>
              </a:ext>
            </a:extLst>
          </p:cNvPr>
          <p:cNvPicPr>
            <a:picLocks noChangeAspect="1"/>
          </p:cNvPicPr>
          <p:nvPr/>
        </p:nvPicPr>
        <p:blipFill>
          <a:blip r:embed="rId7"/>
          <a:stretch>
            <a:fillRect/>
          </a:stretch>
        </p:blipFill>
        <p:spPr>
          <a:xfrm>
            <a:off x="0" y="4308130"/>
            <a:ext cx="1754978" cy="8353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44550"/>
            <a:ext cx="6116241"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Auction-Based Scheduling Mechanism</a:t>
            </a:r>
            <a:endParaRPr lang="en-US" sz="2400" dirty="0"/>
          </a:p>
        </p:txBody>
      </p:sp>
      <p:sp>
        <p:nvSpPr>
          <p:cNvPr id="3" name="Text 1"/>
          <p:cNvSpPr/>
          <p:nvPr/>
        </p:nvSpPr>
        <p:spPr>
          <a:xfrm>
            <a:off x="496119" y="1080120"/>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game-theoretic scheduler operates like a </a:t>
            </a:r>
            <a:r>
              <a:rPr lang="en-US" sz="950" b="1" dirty="0">
                <a:solidFill>
                  <a:srgbClr val="161613"/>
                </a:solidFill>
                <a:latin typeface="Inter" pitchFamily="34" charset="0"/>
                <a:ea typeface="Inter" pitchFamily="34" charset="-122"/>
                <a:cs typeface="Inter" pitchFamily="34" charset="-120"/>
              </a:rPr>
              <a:t>sealed-bid auction</a:t>
            </a:r>
            <a:r>
              <a:rPr lang="en-US" sz="950" dirty="0">
                <a:solidFill>
                  <a:srgbClr val="161613"/>
                </a:solidFill>
                <a:latin typeface="Inter" pitchFamily="34" charset="0"/>
                <a:ea typeface="Inter" pitchFamily="34" charset="-122"/>
                <a:cs typeface="Inter" pitchFamily="34" charset="-120"/>
              </a:rPr>
              <a:t>: operations are tasks to be assigned, and functional units submit power-cost bids. The unit with the </a:t>
            </a:r>
            <a:r>
              <a:rPr lang="en-US" sz="950" b="1" dirty="0">
                <a:solidFill>
                  <a:srgbClr val="161613"/>
                </a:solidFill>
                <a:latin typeface="Inter" pitchFamily="34" charset="0"/>
                <a:ea typeface="Inter" pitchFamily="34" charset="-122"/>
                <a:cs typeface="Inter" pitchFamily="34" charset="-120"/>
              </a:rPr>
              <a:t>lowest bid wins</a:t>
            </a:r>
            <a:r>
              <a:rPr lang="en-US" sz="950" dirty="0">
                <a:solidFill>
                  <a:srgbClr val="161613"/>
                </a:solidFill>
                <a:latin typeface="Inter" pitchFamily="34" charset="0"/>
                <a:ea typeface="Inter" pitchFamily="34" charset="-122"/>
                <a:cs typeface="Inter" pitchFamily="34" charset="-120"/>
              </a:rPr>
              <a:t> the operation assignment, minimizing switching activity at each scheduling step.</a:t>
            </a:r>
            <a:endParaRPr lang="en-US" sz="950" dirty="0"/>
          </a:p>
        </p:txBody>
      </p:sp>
      <p:sp>
        <p:nvSpPr>
          <p:cNvPr id="4" name="Text 2"/>
          <p:cNvSpPr/>
          <p:nvPr/>
        </p:nvSpPr>
        <p:spPr>
          <a:xfrm>
            <a:off x="496119" y="1740545"/>
            <a:ext cx="328277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Bidding Example — Addition Operation</a:t>
            </a:r>
            <a:endParaRPr lang="en-US" sz="1200" dirty="0"/>
          </a:p>
        </p:txBody>
      </p:sp>
      <p:sp>
        <p:nvSpPr>
          <p:cNvPr id="5" name="Shape 3"/>
          <p:cNvSpPr/>
          <p:nvPr/>
        </p:nvSpPr>
        <p:spPr>
          <a:xfrm>
            <a:off x="496119" y="2073920"/>
            <a:ext cx="3924598" cy="1465362"/>
          </a:xfrm>
          <a:prstGeom prst="roundRect">
            <a:avLst>
              <a:gd name="adj" fmla="val 1270"/>
            </a:avLst>
          </a:prstGeom>
          <a:noFill/>
          <a:ln w="4763">
            <a:solidFill>
              <a:srgbClr val="000000">
                <a:alpha val="8000"/>
              </a:srgbClr>
            </a:solidFill>
            <a:prstDash val="solid"/>
          </a:ln>
        </p:spPr>
        <p:txBody>
          <a:bodyPr/>
          <a:lstStyle/>
          <a:p>
            <a:endParaRPr lang="en-DE"/>
          </a:p>
        </p:txBody>
      </p:sp>
      <p:sp>
        <p:nvSpPr>
          <p:cNvPr id="6" name="Text 4"/>
          <p:cNvSpPr/>
          <p:nvPr/>
        </p:nvSpPr>
        <p:spPr>
          <a:xfrm>
            <a:off x="625376" y="2157859"/>
            <a:ext cx="1513954" cy="198462"/>
          </a:xfrm>
          <a:prstGeom prst="rect">
            <a:avLst/>
          </a:prstGeom>
          <a:noFill/>
          <a:ln/>
        </p:spPr>
        <p:txBody>
          <a:bodyPr wrap="none" lIns="0" tIns="0" rIns="0" bIns="0" rtlCol="0" anchor="t"/>
          <a:lstStyle/>
          <a:p>
            <a:pPr marL="0" indent="0" algn="l">
              <a:lnSpc>
                <a:spcPct val="133000"/>
              </a:lnSpc>
              <a:buNone/>
            </a:pPr>
            <a:r>
              <a:rPr lang="en-US" sz="950" b="1" dirty="0">
                <a:solidFill>
                  <a:srgbClr val="161613"/>
                </a:solidFill>
                <a:latin typeface="Inter" pitchFamily="34" charset="0"/>
                <a:ea typeface="Inter" pitchFamily="34" charset="-122"/>
                <a:cs typeface="Inter" pitchFamily="34" charset="-120"/>
              </a:rPr>
              <a:t>Functional Unit</a:t>
            </a:r>
            <a:endParaRPr lang="en-US" sz="950" dirty="0"/>
          </a:p>
        </p:txBody>
      </p:sp>
      <p:sp>
        <p:nvSpPr>
          <p:cNvPr id="7" name="Text 5"/>
          <p:cNvSpPr/>
          <p:nvPr/>
        </p:nvSpPr>
        <p:spPr>
          <a:xfrm>
            <a:off x="1930078" y="2157859"/>
            <a:ext cx="1513954" cy="198462"/>
          </a:xfrm>
          <a:prstGeom prst="rect">
            <a:avLst/>
          </a:prstGeom>
          <a:noFill/>
          <a:ln/>
        </p:spPr>
        <p:txBody>
          <a:bodyPr wrap="none" lIns="0" tIns="0" rIns="0" bIns="0" rtlCol="0" anchor="t"/>
          <a:lstStyle/>
          <a:p>
            <a:pPr marL="0" indent="0" algn="l">
              <a:lnSpc>
                <a:spcPct val="133000"/>
              </a:lnSpc>
              <a:buNone/>
            </a:pPr>
            <a:r>
              <a:rPr lang="en-US" sz="950" b="1" dirty="0">
                <a:solidFill>
                  <a:srgbClr val="161613"/>
                </a:solidFill>
                <a:latin typeface="Inter" pitchFamily="34" charset="0"/>
                <a:ea typeface="Inter" pitchFamily="34" charset="-122"/>
                <a:cs typeface="Inter" pitchFamily="34" charset="-120"/>
              </a:rPr>
              <a:t>Power Bid (mW)</a:t>
            </a:r>
            <a:endParaRPr lang="en-US" sz="950" dirty="0"/>
          </a:p>
        </p:txBody>
      </p:sp>
      <p:sp>
        <p:nvSpPr>
          <p:cNvPr id="8" name="Text 6"/>
          <p:cNvSpPr/>
          <p:nvPr/>
        </p:nvSpPr>
        <p:spPr>
          <a:xfrm>
            <a:off x="3234779" y="2157859"/>
            <a:ext cx="1513954" cy="198462"/>
          </a:xfrm>
          <a:prstGeom prst="rect">
            <a:avLst/>
          </a:prstGeom>
          <a:noFill/>
          <a:ln/>
        </p:spPr>
        <p:txBody>
          <a:bodyPr wrap="none" lIns="0" tIns="0" rIns="0" bIns="0" rtlCol="0" anchor="t"/>
          <a:lstStyle/>
          <a:p>
            <a:pPr marL="0" indent="0" algn="l">
              <a:lnSpc>
                <a:spcPct val="133000"/>
              </a:lnSpc>
              <a:buNone/>
            </a:pPr>
            <a:r>
              <a:rPr lang="en-US" sz="950" b="1" dirty="0">
                <a:solidFill>
                  <a:srgbClr val="161613"/>
                </a:solidFill>
                <a:latin typeface="Inter" pitchFamily="34" charset="0"/>
                <a:ea typeface="Inter" pitchFamily="34" charset="-122"/>
                <a:cs typeface="Inter" pitchFamily="34" charset="-120"/>
              </a:rPr>
              <a:t>Result</a:t>
            </a:r>
            <a:endParaRPr lang="en-US" sz="950" dirty="0"/>
          </a:p>
        </p:txBody>
      </p:sp>
      <p:sp>
        <p:nvSpPr>
          <p:cNvPr id="9" name="Text 7"/>
          <p:cNvSpPr/>
          <p:nvPr/>
        </p:nvSpPr>
        <p:spPr>
          <a:xfrm>
            <a:off x="625376" y="2519437"/>
            <a:ext cx="1513954"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Adder 1</a:t>
            </a:r>
            <a:endParaRPr lang="en-US" sz="950" dirty="0"/>
          </a:p>
        </p:txBody>
      </p:sp>
      <p:sp>
        <p:nvSpPr>
          <p:cNvPr id="10" name="Text 8"/>
          <p:cNvSpPr/>
          <p:nvPr/>
        </p:nvSpPr>
        <p:spPr>
          <a:xfrm>
            <a:off x="1930078" y="2519437"/>
            <a:ext cx="1513954"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8</a:t>
            </a:r>
            <a:endParaRPr lang="en-US" sz="950" dirty="0"/>
          </a:p>
        </p:txBody>
      </p:sp>
      <p:sp>
        <p:nvSpPr>
          <p:cNvPr id="11" name="Text 9"/>
          <p:cNvSpPr/>
          <p:nvPr/>
        </p:nvSpPr>
        <p:spPr>
          <a:xfrm>
            <a:off x="3234779" y="2519437"/>
            <a:ext cx="1513954" cy="203225"/>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dirty="0">
                <a:solidFill>
                  <a:srgbClr val="161613"/>
                </a:solidFill>
                <a:latin typeface="Inter" pitchFamily="34" charset="0"/>
                <a:ea typeface="Inter" pitchFamily="34" charset="-122"/>
                <a:cs typeface="Inter" pitchFamily="34" charset="-120"/>
              </a:rPr>
              <a:t> Not selected</a:t>
            </a:r>
            <a:endParaRPr lang="en-US" sz="950" dirty="0"/>
          </a:p>
        </p:txBody>
      </p:sp>
      <p:sp>
        <p:nvSpPr>
          <p:cNvPr id="12" name="Text 10"/>
          <p:cNvSpPr/>
          <p:nvPr/>
        </p:nvSpPr>
        <p:spPr>
          <a:xfrm>
            <a:off x="625376" y="2885777"/>
            <a:ext cx="1513954"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Adder 2</a:t>
            </a:r>
            <a:endParaRPr lang="en-US" sz="950" dirty="0"/>
          </a:p>
        </p:txBody>
      </p:sp>
      <p:sp>
        <p:nvSpPr>
          <p:cNvPr id="13" name="Text 11"/>
          <p:cNvSpPr/>
          <p:nvPr/>
        </p:nvSpPr>
        <p:spPr>
          <a:xfrm>
            <a:off x="1930078" y="2885777"/>
            <a:ext cx="1513954"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5</a:t>
            </a:r>
            <a:endParaRPr lang="en-US" sz="950" dirty="0"/>
          </a:p>
        </p:txBody>
      </p:sp>
      <p:sp>
        <p:nvSpPr>
          <p:cNvPr id="14" name="Text 12"/>
          <p:cNvSpPr/>
          <p:nvPr/>
        </p:nvSpPr>
        <p:spPr>
          <a:xfrm>
            <a:off x="3234779" y="2885777"/>
            <a:ext cx="1513954" cy="203225"/>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dirty="0">
                <a:solidFill>
                  <a:srgbClr val="161613"/>
                </a:solidFill>
                <a:latin typeface="Inter" pitchFamily="34" charset="0"/>
                <a:ea typeface="Inter" pitchFamily="34" charset="-122"/>
                <a:cs typeface="Inter" pitchFamily="34" charset="-120"/>
              </a:rPr>
              <a:t> Not selected</a:t>
            </a:r>
            <a:endParaRPr lang="en-US" sz="950" dirty="0"/>
          </a:p>
        </p:txBody>
      </p:sp>
      <p:sp>
        <p:nvSpPr>
          <p:cNvPr id="15" name="Text 13"/>
          <p:cNvSpPr/>
          <p:nvPr/>
        </p:nvSpPr>
        <p:spPr>
          <a:xfrm>
            <a:off x="625376" y="3252118"/>
            <a:ext cx="1513954"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Adder 3</a:t>
            </a:r>
            <a:endParaRPr lang="en-US" sz="950" dirty="0"/>
          </a:p>
        </p:txBody>
      </p:sp>
      <p:sp>
        <p:nvSpPr>
          <p:cNvPr id="16" name="Text 14"/>
          <p:cNvSpPr/>
          <p:nvPr/>
        </p:nvSpPr>
        <p:spPr>
          <a:xfrm>
            <a:off x="1930078" y="3252118"/>
            <a:ext cx="1513954"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3</a:t>
            </a:r>
            <a:endParaRPr lang="en-US" sz="950" dirty="0"/>
          </a:p>
        </p:txBody>
      </p:sp>
      <p:sp>
        <p:nvSpPr>
          <p:cNvPr id="17" name="Text 15"/>
          <p:cNvSpPr/>
          <p:nvPr/>
        </p:nvSpPr>
        <p:spPr>
          <a:xfrm>
            <a:off x="3234779" y="3252118"/>
            <a:ext cx="1513954" cy="203225"/>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dirty="0">
                <a:solidFill>
                  <a:srgbClr val="161613"/>
                </a:solidFill>
                <a:latin typeface="Inter" pitchFamily="34" charset="0"/>
                <a:ea typeface="Inter" pitchFamily="34" charset="-122"/>
                <a:cs typeface="Inter" pitchFamily="34" charset="-120"/>
              </a:rPr>
              <a:t> </a:t>
            </a:r>
            <a:r>
              <a:rPr lang="en-US" sz="950" b="1" dirty="0">
                <a:solidFill>
                  <a:srgbClr val="161613"/>
                </a:solidFill>
                <a:latin typeface="Inter" pitchFamily="34" charset="0"/>
                <a:ea typeface="Inter" pitchFamily="34" charset="-122"/>
                <a:cs typeface="Inter" pitchFamily="34" charset="-120"/>
              </a:rPr>
              <a:t>Winner</a:t>
            </a:r>
            <a:endParaRPr lang="en-US" sz="950" dirty="0"/>
          </a:p>
        </p:txBody>
      </p:sp>
      <p:sp>
        <p:nvSpPr>
          <p:cNvPr id="18" name="Shape 16"/>
          <p:cNvSpPr/>
          <p:nvPr/>
        </p:nvSpPr>
        <p:spPr>
          <a:xfrm>
            <a:off x="496119" y="3678808"/>
            <a:ext cx="3924598" cy="880542"/>
          </a:xfrm>
          <a:prstGeom prst="roundRect">
            <a:avLst>
              <a:gd name="adj" fmla="val 2113"/>
            </a:avLst>
          </a:prstGeom>
          <a:solidFill>
            <a:srgbClr val="B6FCB8"/>
          </a:solidFill>
          <a:ln/>
        </p:spPr>
        <p:txBody>
          <a:bodyPr/>
          <a:lstStyle/>
          <a:p>
            <a:endParaRPr lang="en-DE"/>
          </a:p>
        </p:txBody>
      </p:sp>
      <p:pic>
        <p:nvPicPr>
          <p:cNvPr id="19" name="Image 0" descr="preencoded.png"/>
          <p:cNvPicPr>
            <a:picLocks noChangeAspect="1"/>
          </p:cNvPicPr>
          <p:nvPr/>
        </p:nvPicPr>
        <p:blipFill>
          <a:blip r:embed="rId3"/>
          <a:stretch>
            <a:fillRect/>
          </a:stretch>
        </p:blipFill>
        <p:spPr>
          <a:xfrm>
            <a:off x="620092" y="3868117"/>
            <a:ext cx="155004" cy="123974"/>
          </a:xfrm>
          <a:prstGeom prst="rect">
            <a:avLst/>
          </a:prstGeom>
        </p:spPr>
      </p:pic>
      <p:sp>
        <p:nvSpPr>
          <p:cNvPr id="20" name="Text 17"/>
          <p:cNvSpPr/>
          <p:nvPr/>
        </p:nvSpPr>
        <p:spPr>
          <a:xfrm>
            <a:off x="899071" y="3821385"/>
            <a:ext cx="33976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Adder 3 wins because it shares the most common inputs with the operation, reducing bit transitions and power cost.</a:t>
            </a:r>
            <a:endParaRPr lang="en-US" sz="950" dirty="0"/>
          </a:p>
        </p:txBody>
      </p:sp>
      <p:sp>
        <p:nvSpPr>
          <p:cNvPr id="21" name="Text 18"/>
          <p:cNvSpPr/>
          <p:nvPr/>
        </p:nvSpPr>
        <p:spPr>
          <a:xfrm>
            <a:off x="4728046" y="174054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Why This Works</a:t>
            </a:r>
            <a:endParaRPr lang="en-US" sz="1200" dirty="0"/>
          </a:p>
        </p:txBody>
      </p:sp>
      <p:sp>
        <p:nvSpPr>
          <p:cNvPr id="22" name="Text 19"/>
          <p:cNvSpPr/>
          <p:nvPr/>
        </p:nvSpPr>
        <p:spPr>
          <a:xfrm>
            <a:off x="4728046" y="2058367"/>
            <a:ext cx="392459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bid value is not arbitrary — it is computed from the </a:t>
            </a:r>
            <a:r>
              <a:rPr lang="en-US" sz="950" b="1" dirty="0">
                <a:solidFill>
                  <a:srgbClr val="161613"/>
                </a:solidFill>
                <a:latin typeface="Inter" pitchFamily="34" charset="0"/>
                <a:ea typeface="Inter" pitchFamily="34" charset="-122"/>
                <a:cs typeface="Inter" pitchFamily="34" charset="-120"/>
              </a:rPr>
              <a:t>switching power model</a:t>
            </a:r>
            <a:r>
              <a:rPr lang="en-US" sz="950" dirty="0">
                <a:solidFill>
                  <a:srgbClr val="161613"/>
                </a:solidFill>
                <a:latin typeface="Inter" pitchFamily="34" charset="0"/>
                <a:ea typeface="Inter" pitchFamily="34" charset="-122"/>
                <a:cs typeface="Inter" pitchFamily="34" charset="-120"/>
              </a:rPr>
              <a:t>, accounting for input similarity between the operation and the unit's previous assignment. Units that have recently processed similar data have lower switching costs and naturally win relevant tasks.</a:t>
            </a:r>
            <a:endParaRPr lang="en-US" sz="950" dirty="0"/>
          </a:p>
        </p:txBody>
      </p:sp>
      <p:sp>
        <p:nvSpPr>
          <p:cNvPr id="23" name="Text 20"/>
          <p:cNvSpPr/>
          <p:nvPr/>
        </p:nvSpPr>
        <p:spPr>
          <a:xfrm>
            <a:off x="4728046" y="3162300"/>
            <a:ext cx="3924598" cy="68215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Encourages data locality in binding</a:t>
            </a:r>
            <a:endParaRPr lang="en-US" sz="950" dirty="0"/>
          </a:p>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Minimizes unnecessary bit-level transitions</a:t>
            </a:r>
            <a:endParaRPr lang="en-US" sz="950" dirty="0"/>
          </a:p>
          <a:p>
            <a:pPr marL="342900" indent="-342900" algn="l">
              <a:lnSpc>
                <a:spcPct val="133000"/>
              </a:lnSpc>
              <a:buSzPct val="100000"/>
              <a:buChar char="•"/>
            </a:pPr>
            <a:r>
              <a:rPr lang="en-US" sz="950" dirty="0">
                <a:solidFill>
                  <a:srgbClr val="161613"/>
                </a:solidFill>
                <a:latin typeface="Inter" pitchFamily="34" charset="0"/>
                <a:ea typeface="Inter" pitchFamily="34" charset="-122"/>
                <a:cs typeface="Inter" pitchFamily="34" charset="-120"/>
              </a:rPr>
              <a:t>Scales naturally to multiple resource types</a:t>
            </a:r>
            <a:endParaRPr lang="en-US" sz="950" dirty="0"/>
          </a:p>
        </p:txBody>
      </p:sp>
      <p:pic>
        <p:nvPicPr>
          <p:cNvPr id="24" name="Picture 23">
            <a:extLst>
              <a:ext uri="{FF2B5EF4-FFF2-40B4-BE49-F238E27FC236}">
                <a16:creationId xmlns:a16="http://schemas.microsoft.com/office/drawing/2014/main" id="{2C857528-C8B7-E52E-B3BD-02A457B35E8B}"/>
              </a:ext>
            </a:extLst>
          </p:cNvPr>
          <p:cNvPicPr>
            <a:picLocks noChangeAspect="1"/>
          </p:cNvPicPr>
          <p:nvPr/>
        </p:nvPicPr>
        <p:blipFill>
          <a:blip r:embed="rId4"/>
          <a:stretch>
            <a:fillRect/>
          </a:stretch>
        </p:blipFill>
        <p:spPr>
          <a:xfrm>
            <a:off x="7367440" y="4308130"/>
            <a:ext cx="1754978" cy="8353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750912"/>
            <a:ext cx="6165279"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Nash Equilibrium — The Stable Solution</a:t>
            </a:r>
            <a:endParaRPr lang="en-US" sz="2400" dirty="0"/>
          </a:p>
        </p:txBody>
      </p:sp>
      <p:sp>
        <p:nvSpPr>
          <p:cNvPr id="3" name="Text 1"/>
          <p:cNvSpPr/>
          <p:nvPr/>
        </p:nvSpPr>
        <p:spPr>
          <a:xfrm>
            <a:off x="496119" y="1386483"/>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Nash equilibrium is the cornerstone of the game-theoretic approach. It defines a binding assignment where </a:t>
            </a:r>
            <a:r>
              <a:rPr lang="en-US" sz="950" b="1" dirty="0">
                <a:solidFill>
                  <a:srgbClr val="161613"/>
                </a:solidFill>
                <a:latin typeface="Inter" pitchFamily="34" charset="0"/>
                <a:ea typeface="Inter" pitchFamily="34" charset="-122"/>
                <a:cs typeface="Inter" pitchFamily="34" charset="-120"/>
              </a:rPr>
              <a:t>no single functional unit can reduce the overall system power by unilaterally changing its assigned operation</a:t>
            </a:r>
            <a:r>
              <a:rPr lang="en-US" sz="950" dirty="0">
                <a:solidFill>
                  <a:srgbClr val="161613"/>
                </a:solidFill>
                <a:latin typeface="Inter" pitchFamily="34" charset="0"/>
                <a:ea typeface="Inter" pitchFamily="34" charset="-122"/>
                <a:cs typeface="Inter" pitchFamily="34" charset="-120"/>
              </a:rPr>
              <a:t>.</a:t>
            </a:r>
            <a:endParaRPr lang="en-US" sz="950" dirty="0"/>
          </a:p>
        </p:txBody>
      </p:sp>
      <p:sp>
        <p:nvSpPr>
          <p:cNvPr id="4" name="Shape 2"/>
          <p:cNvSpPr/>
          <p:nvPr/>
        </p:nvSpPr>
        <p:spPr>
          <a:xfrm>
            <a:off x="496119" y="1922934"/>
            <a:ext cx="2634555" cy="1508522"/>
          </a:xfrm>
          <a:prstGeom prst="roundRect">
            <a:avLst>
              <a:gd name="adj" fmla="val 1233"/>
            </a:avLst>
          </a:prstGeom>
          <a:solidFill>
            <a:srgbClr val="EDEBE3"/>
          </a:solidFill>
          <a:ln/>
        </p:spPr>
        <p:txBody>
          <a:bodyPr/>
          <a:lstStyle/>
          <a:p>
            <a:endParaRPr lang="en-DE"/>
          </a:p>
        </p:txBody>
      </p:sp>
      <p:sp>
        <p:nvSpPr>
          <p:cNvPr id="5" name="Text 3"/>
          <p:cNvSpPr/>
          <p:nvPr/>
        </p:nvSpPr>
        <p:spPr>
          <a:xfrm>
            <a:off x="620092" y="204690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Definition</a:t>
            </a:r>
            <a:endParaRPr lang="en-US" sz="1200" dirty="0"/>
          </a:p>
        </p:txBody>
      </p:sp>
      <p:sp>
        <p:nvSpPr>
          <p:cNvPr id="6" name="Text 4"/>
          <p:cNvSpPr/>
          <p:nvPr/>
        </p:nvSpPr>
        <p:spPr>
          <a:xfrm>
            <a:off x="620092" y="2315170"/>
            <a:ext cx="238660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A set of strategies (one per player/unit) from which no player benefits by deviating alone. The system has reached a globally consistent, self-enforcing solution.</a:t>
            </a:r>
            <a:endParaRPr lang="en-US" sz="950" dirty="0"/>
          </a:p>
        </p:txBody>
      </p:sp>
      <p:sp>
        <p:nvSpPr>
          <p:cNvPr id="7" name="Shape 5"/>
          <p:cNvSpPr/>
          <p:nvPr/>
        </p:nvSpPr>
        <p:spPr>
          <a:xfrm>
            <a:off x="3254648" y="1922934"/>
            <a:ext cx="2634630" cy="1508522"/>
          </a:xfrm>
          <a:prstGeom prst="roundRect">
            <a:avLst>
              <a:gd name="adj" fmla="val 1233"/>
            </a:avLst>
          </a:prstGeom>
          <a:solidFill>
            <a:srgbClr val="EDEBE3"/>
          </a:solidFill>
          <a:ln/>
        </p:spPr>
        <p:txBody>
          <a:bodyPr/>
          <a:lstStyle/>
          <a:p>
            <a:endParaRPr lang="en-DE"/>
          </a:p>
        </p:txBody>
      </p:sp>
      <p:sp>
        <p:nvSpPr>
          <p:cNvPr id="8" name="Text 6"/>
          <p:cNvSpPr/>
          <p:nvPr/>
        </p:nvSpPr>
        <p:spPr>
          <a:xfrm>
            <a:off x="3378622" y="204690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In HLS Context</a:t>
            </a:r>
            <a:endParaRPr lang="en-US" sz="1200" dirty="0"/>
          </a:p>
        </p:txBody>
      </p:sp>
      <p:sp>
        <p:nvSpPr>
          <p:cNvPr id="9" name="Text 7"/>
          <p:cNvSpPr/>
          <p:nvPr/>
        </p:nvSpPr>
        <p:spPr>
          <a:xfrm>
            <a:off x="3378622" y="2315170"/>
            <a:ext cx="238668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Each functional unit is assigned exactly the operation that minimizes mutual switching cost. Reassigning any single unit would only increase total power.</a:t>
            </a:r>
            <a:endParaRPr lang="en-US" sz="950" dirty="0"/>
          </a:p>
        </p:txBody>
      </p:sp>
      <p:sp>
        <p:nvSpPr>
          <p:cNvPr id="10" name="Shape 8"/>
          <p:cNvSpPr/>
          <p:nvPr/>
        </p:nvSpPr>
        <p:spPr>
          <a:xfrm>
            <a:off x="6013252" y="1922934"/>
            <a:ext cx="2634555" cy="1508522"/>
          </a:xfrm>
          <a:prstGeom prst="roundRect">
            <a:avLst>
              <a:gd name="adj" fmla="val 1233"/>
            </a:avLst>
          </a:prstGeom>
          <a:solidFill>
            <a:srgbClr val="EDEBE3"/>
          </a:solidFill>
          <a:ln/>
        </p:spPr>
        <p:txBody>
          <a:bodyPr/>
          <a:lstStyle/>
          <a:p>
            <a:endParaRPr lang="en-DE"/>
          </a:p>
        </p:txBody>
      </p:sp>
      <p:sp>
        <p:nvSpPr>
          <p:cNvPr id="11" name="Text 9"/>
          <p:cNvSpPr/>
          <p:nvPr/>
        </p:nvSpPr>
        <p:spPr>
          <a:xfrm>
            <a:off x="6137225" y="204690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Guarantee</a:t>
            </a:r>
            <a:endParaRPr lang="en-US" sz="1200" dirty="0"/>
          </a:p>
        </p:txBody>
      </p:sp>
      <p:sp>
        <p:nvSpPr>
          <p:cNvPr id="12" name="Text 10"/>
          <p:cNvSpPr/>
          <p:nvPr/>
        </p:nvSpPr>
        <p:spPr>
          <a:xfrm>
            <a:off x="6137225" y="2315170"/>
            <a:ext cx="238660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equilibrium provides a </a:t>
            </a:r>
            <a:r>
              <a:rPr lang="en-US" sz="950" i="1" dirty="0">
                <a:solidFill>
                  <a:srgbClr val="161613"/>
                </a:solidFill>
                <a:latin typeface="Inter" pitchFamily="34" charset="0"/>
                <a:ea typeface="Inter" pitchFamily="34" charset="-122"/>
                <a:cs typeface="Inter" pitchFamily="34" charset="-120"/>
              </a:rPr>
              <a:t>provably stable</a:t>
            </a:r>
            <a:r>
              <a:rPr lang="en-US" sz="950" dirty="0">
                <a:solidFill>
                  <a:srgbClr val="161613"/>
                </a:solidFill>
                <a:latin typeface="Inter" pitchFamily="34" charset="0"/>
                <a:ea typeface="Inter" pitchFamily="34" charset="-122"/>
                <a:cs typeface="Inter" pitchFamily="34" charset="-120"/>
              </a:rPr>
              <a:t> and power-efficient binding. It replaces exhaustive search with a convergent iterative bidding process.</a:t>
            </a:r>
            <a:endParaRPr lang="en-US" sz="950" dirty="0"/>
          </a:p>
        </p:txBody>
      </p:sp>
      <p:sp>
        <p:nvSpPr>
          <p:cNvPr id="13" name="Shape 11"/>
          <p:cNvSpPr/>
          <p:nvPr/>
        </p:nvSpPr>
        <p:spPr>
          <a:xfrm>
            <a:off x="496119" y="3570982"/>
            <a:ext cx="8151763" cy="682079"/>
          </a:xfrm>
          <a:prstGeom prst="roundRect">
            <a:avLst>
              <a:gd name="adj" fmla="val 2728"/>
            </a:avLst>
          </a:prstGeom>
          <a:solidFill>
            <a:srgbClr val="D6D6DC"/>
          </a:solidFill>
          <a:ln/>
        </p:spPr>
        <p:txBody>
          <a:bodyPr/>
          <a:lstStyle/>
          <a:p>
            <a:endParaRPr lang="en-DE"/>
          </a:p>
        </p:txBody>
      </p:sp>
      <p:pic>
        <p:nvPicPr>
          <p:cNvPr id="14" name="Image 0" descr="preencoded.png"/>
          <p:cNvPicPr>
            <a:picLocks noChangeAspect="1"/>
          </p:cNvPicPr>
          <p:nvPr/>
        </p:nvPicPr>
        <p:blipFill>
          <a:blip r:embed="rId3"/>
          <a:stretch>
            <a:fillRect/>
          </a:stretch>
        </p:blipFill>
        <p:spPr>
          <a:xfrm>
            <a:off x="620092" y="3750766"/>
            <a:ext cx="155004" cy="123974"/>
          </a:xfrm>
          <a:prstGeom prst="rect">
            <a:avLst/>
          </a:prstGeom>
        </p:spPr>
      </p:pic>
      <p:sp>
        <p:nvSpPr>
          <p:cNvPr id="15" name="Text 12"/>
          <p:cNvSpPr/>
          <p:nvPr/>
        </p:nvSpPr>
        <p:spPr>
          <a:xfrm>
            <a:off x="899071" y="3713559"/>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Nash equilibrium does not require a central controller — stability emerges naturally from the decentralized bidding interactions of the functional units.</a:t>
            </a:r>
            <a:endParaRPr lang="en-US" sz="950" dirty="0"/>
          </a:p>
        </p:txBody>
      </p:sp>
      <p:pic>
        <p:nvPicPr>
          <p:cNvPr id="16" name="Picture 15">
            <a:extLst>
              <a:ext uri="{FF2B5EF4-FFF2-40B4-BE49-F238E27FC236}">
                <a16:creationId xmlns:a16="http://schemas.microsoft.com/office/drawing/2014/main" id="{1C892BEA-FFE4-882B-4D3D-5D90BCA8C529}"/>
              </a:ext>
            </a:extLst>
          </p:cNvPr>
          <p:cNvPicPr>
            <a:picLocks noChangeAspect="1"/>
          </p:cNvPicPr>
          <p:nvPr/>
        </p:nvPicPr>
        <p:blipFill>
          <a:blip r:embed="rId4"/>
          <a:stretch>
            <a:fillRect/>
          </a:stretch>
        </p:blipFill>
        <p:spPr>
          <a:xfrm>
            <a:off x="7330529" y="4308130"/>
            <a:ext cx="1754978" cy="8353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58973"/>
            <a:ext cx="5332661"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Methodology: Step-by-Step Flow</a:t>
            </a:r>
            <a:endParaRPr lang="en-US" sz="2400" dirty="0"/>
          </a:p>
        </p:txBody>
      </p:sp>
      <p:pic>
        <p:nvPicPr>
          <p:cNvPr id="3" name="Image 0" descr="A vector graphic of a black and grey infinity symbol with a smooth, continuous loop design. The symbol features a subtle gradient and shadow effect, emphasizing its three-dimensional appearance.&#10;&#10;AI-generated content may be incorrect."/>
          <p:cNvPicPr>
            <a:picLocks noChangeAspect="1"/>
          </p:cNvPicPr>
          <p:nvPr/>
        </p:nvPicPr>
        <p:blipFill>
          <a:blip r:embed="rId3"/>
          <a:stretch>
            <a:fillRect/>
          </a:stretch>
        </p:blipFill>
        <p:spPr>
          <a:xfrm>
            <a:off x="675605" y="1144367"/>
            <a:ext cx="7792715" cy="2905172"/>
          </a:xfrm>
          <a:prstGeom prst="rect">
            <a:avLst/>
          </a:prstGeom>
        </p:spPr>
      </p:pic>
      <p:sp>
        <p:nvSpPr>
          <p:cNvPr id="4" name="Text 1"/>
          <p:cNvSpPr/>
          <p:nvPr/>
        </p:nvSpPr>
        <p:spPr>
          <a:xfrm>
            <a:off x="862103" y="1144367"/>
            <a:ext cx="1426548" cy="229267"/>
          </a:xfrm>
          <a:prstGeom prst="rect">
            <a:avLst/>
          </a:prstGeom>
          <a:noFill/>
          <a:ln/>
        </p:spPr>
        <p:txBody>
          <a:bodyPr wrap="none" lIns="0" tIns="0" rIns="0" bIns="0" rtlCol="0" anchor="t"/>
          <a:lstStyle/>
          <a:p>
            <a:pPr marL="0" indent="0" algn="r">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Read DFG</a:t>
            </a:r>
            <a:endParaRPr lang="en-US" sz="1400" dirty="0"/>
          </a:p>
        </p:txBody>
      </p:sp>
      <p:sp>
        <p:nvSpPr>
          <p:cNvPr id="5" name="Text 2"/>
          <p:cNvSpPr/>
          <p:nvPr/>
        </p:nvSpPr>
        <p:spPr>
          <a:xfrm>
            <a:off x="6855133" y="1144367"/>
            <a:ext cx="1426548" cy="458533"/>
          </a:xfrm>
          <a:prstGeom prst="rect">
            <a:avLst/>
          </a:prstGeom>
          <a:noFill/>
          <a:ln/>
        </p:spPr>
        <p:txBody>
          <a:bodyPr wrap="square" lIns="0" tIns="0" rIns="0" bIns="0" rtlCol="0" anchor="t">
            <a:normAutofit/>
          </a:bodyPr>
          <a:lstStyle/>
          <a:p>
            <a:pPr marL="0" indent="0" algn="l">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Identify Ready Ops</a:t>
            </a:r>
            <a:endParaRPr lang="en-US" sz="1400" dirty="0"/>
          </a:p>
        </p:txBody>
      </p:sp>
      <p:sp>
        <p:nvSpPr>
          <p:cNvPr id="6" name="Text 3"/>
          <p:cNvSpPr/>
          <p:nvPr/>
        </p:nvSpPr>
        <p:spPr>
          <a:xfrm>
            <a:off x="6855133" y="3441109"/>
            <a:ext cx="1426548" cy="458533"/>
          </a:xfrm>
          <a:prstGeom prst="rect">
            <a:avLst/>
          </a:prstGeom>
          <a:noFill/>
          <a:ln/>
        </p:spPr>
        <p:txBody>
          <a:bodyPr wrap="square" lIns="0" tIns="0" rIns="0" bIns="0" rtlCol="0" anchor="t">
            <a:normAutofit fontScale="77500" lnSpcReduction="20000"/>
          </a:bodyPr>
          <a:lstStyle/>
          <a:p>
            <a:pPr marL="0" indent="0" algn="l">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Units Submit Bids(Adder, Multiplier)</a:t>
            </a:r>
            <a:endParaRPr lang="en-US" sz="1400" dirty="0"/>
          </a:p>
        </p:txBody>
      </p:sp>
      <p:sp>
        <p:nvSpPr>
          <p:cNvPr id="7" name="Text 4"/>
          <p:cNvSpPr/>
          <p:nvPr/>
        </p:nvSpPr>
        <p:spPr>
          <a:xfrm>
            <a:off x="862103" y="3441109"/>
            <a:ext cx="1426548" cy="458533"/>
          </a:xfrm>
          <a:prstGeom prst="rect">
            <a:avLst/>
          </a:prstGeom>
          <a:noFill/>
          <a:ln/>
        </p:spPr>
        <p:txBody>
          <a:bodyPr wrap="square" lIns="0" tIns="0" rIns="0" bIns="0" rtlCol="0" anchor="t">
            <a:normAutofit/>
          </a:bodyPr>
          <a:lstStyle/>
          <a:p>
            <a:pPr marL="0" indent="0" algn="r">
              <a:lnSpc>
                <a:spcPct val="104000"/>
              </a:lnSpc>
              <a:buNone/>
            </a:pPr>
            <a:r>
              <a:rPr lang="en-US" sz="1400" dirty="0">
                <a:solidFill>
                  <a:srgbClr val="161613"/>
                </a:solidFill>
                <a:latin typeface="DM Sans Medium" pitchFamily="34" charset="0"/>
                <a:ea typeface="DM Sans Medium" pitchFamily="34" charset="-122"/>
                <a:cs typeface="DM Sans Medium" pitchFamily="34" charset="-120"/>
              </a:rPr>
              <a:t>Equilibrium &amp; Schedule</a:t>
            </a:r>
            <a:endParaRPr lang="en-US" sz="1400" dirty="0"/>
          </a:p>
        </p:txBody>
      </p:sp>
      <p:sp>
        <p:nvSpPr>
          <p:cNvPr id="8" name="Text 5"/>
          <p:cNvSpPr/>
          <p:nvPr/>
        </p:nvSpPr>
        <p:spPr>
          <a:xfrm>
            <a:off x="496119" y="3957565"/>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algorithm processes the Data Flow Graph (DFG) </a:t>
            </a:r>
            <a:r>
              <a:rPr lang="en-US" sz="950" b="1" dirty="0">
                <a:solidFill>
                  <a:srgbClr val="161613"/>
                </a:solidFill>
                <a:latin typeface="Inter" pitchFamily="34" charset="0"/>
                <a:ea typeface="Inter" pitchFamily="34" charset="-122"/>
                <a:cs typeface="Inter" pitchFamily="34" charset="-120"/>
              </a:rPr>
              <a:t>level by level</a:t>
            </a:r>
            <a:r>
              <a:rPr lang="en-US" sz="950" dirty="0">
                <a:solidFill>
                  <a:srgbClr val="161613"/>
                </a:solidFill>
                <a:latin typeface="Inter" pitchFamily="34" charset="0"/>
                <a:ea typeface="Inter" pitchFamily="34" charset="-122"/>
                <a:cs typeface="Inter" pitchFamily="34" charset="-120"/>
              </a:rPr>
              <a:t>. Only operations whose predecessors have already been scheduled are considered "ready" and enter the bidding round. This ensures data dependencies are respected while minimizing switching activity at each step through the auction mechanism.</a:t>
            </a:r>
            <a:endParaRPr lang="en-US" sz="950" dirty="0"/>
          </a:p>
        </p:txBody>
      </p:sp>
      <p:sp>
        <p:nvSpPr>
          <p:cNvPr id="12" name="TextBox 11">
            <a:extLst>
              <a:ext uri="{FF2B5EF4-FFF2-40B4-BE49-F238E27FC236}">
                <a16:creationId xmlns:a16="http://schemas.microsoft.com/office/drawing/2014/main" id="{89CBC1ED-1765-6893-8ED1-4D7D46709B79}"/>
              </a:ext>
            </a:extLst>
          </p:cNvPr>
          <p:cNvSpPr txBox="1"/>
          <p:nvPr/>
        </p:nvSpPr>
        <p:spPr>
          <a:xfrm>
            <a:off x="7279112" y="1648420"/>
            <a:ext cx="4572000" cy="923330"/>
          </a:xfrm>
          <a:prstGeom prst="rect">
            <a:avLst/>
          </a:prstGeom>
          <a:noFill/>
        </p:spPr>
        <p:txBody>
          <a:bodyPr wrap="square">
            <a:spAutoFit/>
          </a:bodyPr>
          <a:lstStyle/>
          <a:p>
            <a:r>
              <a:rPr lang="en-DE" dirty="0"/>
              <a:t>X = A + B</a:t>
            </a:r>
          </a:p>
          <a:p>
            <a:r>
              <a:rPr lang="en-DE" dirty="0"/>
              <a:t>Y = C + D</a:t>
            </a:r>
          </a:p>
          <a:p>
            <a:r>
              <a:rPr lang="en-DE" dirty="0"/>
              <a:t>Z = X * Y</a:t>
            </a:r>
          </a:p>
        </p:txBody>
      </p:sp>
      <p:pic>
        <p:nvPicPr>
          <p:cNvPr id="13" name="Picture 12">
            <a:extLst>
              <a:ext uri="{FF2B5EF4-FFF2-40B4-BE49-F238E27FC236}">
                <a16:creationId xmlns:a16="http://schemas.microsoft.com/office/drawing/2014/main" id="{AF4CD2C5-8485-B706-032B-CC8914B0F9F9}"/>
              </a:ext>
            </a:extLst>
          </p:cNvPr>
          <p:cNvPicPr>
            <a:picLocks noChangeAspect="1"/>
          </p:cNvPicPr>
          <p:nvPr/>
        </p:nvPicPr>
        <p:blipFill>
          <a:blip r:embed="rId4"/>
          <a:stretch>
            <a:fillRect/>
          </a:stretch>
        </p:blipFill>
        <p:spPr>
          <a:xfrm>
            <a:off x="7279112" y="4409959"/>
            <a:ext cx="1754978" cy="6525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1091580"/>
            <a:ext cx="6177632" cy="387548"/>
          </a:xfrm>
          <a:prstGeom prst="rect">
            <a:avLst/>
          </a:prstGeom>
          <a:noFill/>
          <a:ln/>
        </p:spPr>
        <p:txBody>
          <a:bodyPr wrap="none" lIns="0" tIns="0" rIns="0" bIns="0" rtlCol="0" anchor="t"/>
          <a:lstStyle/>
          <a:p>
            <a:pPr marL="0" indent="0" algn="l">
              <a:lnSpc>
                <a:spcPct val="104000"/>
              </a:lnSpc>
              <a:buNone/>
            </a:pPr>
            <a:r>
              <a:rPr lang="en-US" sz="2400">
                <a:solidFill>
                  <a:srgbClr val="161613"/>
                </a:solidFill>
                <a:latin typeface="DM Sans Medium" pitchFamily="34" charset="0"/>
                <a:ea typeface="DM Sans Medium" pitchFamily="34" charset="-122"/>
                <a:cs typeface="DM Sans Medium" pitchFamily="34" charset="-120"/>
              </a:rPr>
              <a:t>Three Key Power Reduction Techniques</a:t>
            </a:r>
            <a:endParaRPr lang="en-US" sz="2400" dirty="0"/>
          </a:p>
        </p:txBody>
      </p:sp>
      <p:pic>
        <p:nvPicPr>
          <p:cNvPr id="3" name="Image 0" descr="preencoded.png"/>
          <p:cNvPicPr>
            <a:picLocks noChangeAspect="1"/>
          </p:cNvPicPr>
          <p:nvPr/>
        </p:nvPicPr>
        <p:blipFill>
          <a:blip r:embed="rId3"/>
          <a:stretch>
            <a:fillRect/>
          </a:stretch>
        </p:blipFill>
        <p:spPr>
          <a:xfrm>
            <a:off x="496119" y="1727150"/>
            <a:ext cx="1150069" cy="710729"/>
          </a:xfrm>
          <a:prstGeom prst="rect">
            <a:avLst/>
          </a:prstGeom>
        </p:spPr>
      </p:pic>
      <p:sp>
        <p:nvSpPr>
          <p:cNvPr id="4" name="Text 1"/>
          <p:cNvSpPr/>
          <p:nvPr/>
        </p:nvSpPr>
        <p:spPr>
          <a:xfrm>
            <a:off x="496119" y="2571750"/>
            <a:ext cx="1683841"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Functional Unit Sharing</a:t>
            </a:r>
            <a:endParaRPr lang="en-US" sz="1200" dirty="0"/>
          </a:p>
        </p:txBody>
      </p:sp>
      <p:sp>
        <p:nvSpPr>
          <p:cNvPr id="5" name="Text 2"/>
          <p:cNvSpPr/>
          <p:nvPr/>
        </p:nvSpPr>
        <p:spPr>
          <a:xfrm>
            <a:off x="496118" y="2822238"/>
            <a:ext cx="2613868"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same hardware unit is reused across multiple operations with similar data patterns. Reuse reduces the number of active units and dramatically cuts switching activity by keeping input values stable between consecutive operations.</a:t>
            </a:r>
            <a:endParaRPr lang="en-US" sz="950" dirty="0"/>
          </a:p>
        </p:txBody>
      </p:sp>
      <p:pic>
        <p:nvPicPr>
          <p:cNvPr id="6" name="Image 1" descr="preencoded.png"/>
          <p:cNvPicPr>
            <a:picLocks noChangeAspect="1"/>
          </p:cNvPicPr>
          <p:nvPr/>
        </p:nvPicPr>
        <p:blipFill>
          <a:blip r:embed="rId4"/>
          <a:stretch>
            <a:fillRect/>
          </a:stretch>
        </p:blipFill>
        <p:spPr>
          <a:xfrm>
            <a:off x="3264991" y="1727150"/>
            <a:ext cx="1150069" cy="710729"/>
          </a:xfrm>
          <a:prstGeom prst="rect">
            <a:avLst/>
          </a:prstGeom>
        </p:spPr>
      </p:pic>
      <p:sp>
        <p:nvSpPr>
          <p:cNvPr id="7" name="Text 3"/>
          <p:cNvSpPr/>
          <p:nvPr/>
        </p:nvSpPr>
        <p:spPr>
          <a:xfrm>
            <a:off x="3264991" y="259288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Path Balancing</a:t>
            </a:r>
            <a:endParaRPr lang="en-US" sz="1200" dirty="0"/>
          </a:p>
        </p:txBody>
      </p:sp>
      <p:sp>
        <p:nvSpPr>
          <p:cNvPr id="8" name="Text 4"/>
          <p:cNvSpPr/>
          <p:nvPr/>
        </p:nvSpPr>
        <p:spPr>
          <a:xfrm>
            <a:off x="3264991" y="2861146"/>
            <a:ext cx="2613943"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Input signals to a functional unit are aligned to arrive simultaneously. Misaligned arrivals cause spurious transitions — the unit processes intermediate glitches before settling on the correct output, wasting power unnecessarily.</a:t>
            </a:r>
            <a:endParaRPr lang="en-US" sz="950" dirty="0"/>
          </a:p>
        </p:txBody>
      </p:sp>
      <p:pic>
        <p:nvPicPr>
          <p:cNvPr id="9" name="Image 2" descr="preencoded.png"/>
          <p:cNvPicPr>
            <a:picLocks noChangeAspect="1"/>
          </p:cNvPicPr>
          <p:nvPr/>
        </p:nvPicPr>
        <p:blipFill>
          <a:blip r:embed="rId5"/>
          <a:stretch>
            <a:fillRect/>
          </a:stretch>
        </p:blipFill>
        <p:spPr>
          <a:xfrm>
            <a:off x="6033939" y="1727150"/>
            <a:ext cx="1150069" cy="710729"/>
          </a:xfrm>
          <a:prstGeom prst="rect">
            <a:avLst/>
          </a:prstGeom>
        </p:spPr>
      </p:pic>
      <p:sp>
        <p:nvSpPr>
          <p:cNvPr id="10" name="Text 5"/>
          <p:cNvSpPr/>
          <p:nvPr/>
        </p:nvSpPr>
        <p:spPr>
          <a:xfrm>
            <a:off x="6033939" y="259288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Register Assignment</a:t>
            </a:r>
            <a:endParaRPr lang="en-US" sz="1200" dirty="0"/>
          </a:p>
        </p:txBody>
      </p:sp>
      <p:sp>
        <p:nvSpPr>
          <p:cNvPr id="11" name="Text 6"/>
          <p:cNvSpPr/>
          <p:nvPr/>
        </p:nvSpPr>
        <p:spPr>
          <a:xfrm>
            <a:off x="6033939" y="2861146"/>
            <a:ext cx="2613943"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Values stored in registers are carefully assigned to minimize the Hamming distance between successive values read from or written to the same register. Fewer bit flips per register access directly lowers dynamic power in the storage network.</a:t>
            </a:r>
            <a:endParaRPr lang="en-US" sz="950" dirty="0"/>
          </a:p>
        </p:txBody>
      </p:sp>
      <p:sp>
        <p:nvSpPr>
          <p:cNvPr id="13" name="TextBox 12">
            <a:extLst>
              <a:ext uri="{FF2B5EF4-FFF2-40B4-BE49-F238E27FC236}">
                <a16:creationId xmlns:a16="http://schemas.microsoft.com/office/drawing/2014/main" id="{F518F5D1-AEB3-9B70-CE2A-FB1E6416E02C}"/>
              </a:ext>
            </a:extLst>
          </p:cNvPr>
          <p:cNvSpPr txBox="1"/>
          <p:nvPr/>
        </p:nvSpPr>
        <p:spPr>
          <a:xfrm>
            <a:off x="192724" y="4428427"/>
            <a:ext cx="1892461" cy="646331"/>
          </a:xfrm>
          <a:prstGeom prst="rect">
            <a:avLst/>
          </a:prstGeom>
          <a:noFill/>
        </p:spPr>
        <p:txBody>
          <a:bodyPr wrap="square">
            <a:spAutoFit/>
          </a:bodyPr>
          <a:lstStyle/>
          <a:p>
            <a:r>
              <a:rPr lang="en-GB" dirty="0"/>
              <a:t>Operation 1: A + B</a:t>
            </a:r>
          </a:p>
          <a:p>
            <a:r>
              <a:rPr lang="en-GB" dirty="0"/>
              <a:t>Operation 2: A + C</a:t>
            </a:r>
            <a:endParaRPr lang="en-DE" dirty="0"/>
          </a:p>
        </p:txBody>
      </p:sp>
      <p:sp>
        <p:nvSpPr>
          <p:cNvPr id="15" name="TextBox 14">
            <a:extLst>
              <a:ext uri="{FF2B5EF4-FFF2-40B4-BE49-F238E27FC236}">
                <a16:creationId xmlns:a16="http://schemas.microsoft.com/office/drawing/2014/main" id="{641F47B7-1A93-C335-1354-125FB7098AD2}"/>
              </a:ext>
            </a:extLst>
          </p:cNvPr>
          <p:cNvSpPr txBox="1"/>
          <p:nvPr/>
        </p:nvSpPr>
        <p:spPr>
          <a:xfrm>
            <a:off x="3012505" y="4394963"/>
            <a:ext cx="4572000" cy="646331"/>
          </a:xfrm>
          <a:prstGeom prst="rect">
            <a:avLst/>
          </a:prstGeom>
          <a:noFill/>
        </p:spPr>
        <p:txBody>
          <a:bodyPr wrap="square">
            <a:spAutoFit/>
          </a:bodyPr>
          <a:lstStyle/>
          <a:p>
            <a:r>
              <a:rPr lang="en-GB" dirty="0"/>
              <a:t>X arrives in cycle 1</a:t>
            </a:r>
          </a:p>
          <a:p>
            <a:r>
              <a:rPr lang="en-GB" dirty="0"/>
              <a:t>Y arrives in cycle 3</a:t>
            </a:r>
            <a:endParaRPr lang="en-DE" dirty="0"/>
          </a:p>
        </p:txBody>
      </p:sp>
      <p:sp>
        <p:nvSpPr>
          <p:cNvPr id="17" name="TextBox 16">
            <a:extLst>
              <a:ext uri="{FF2B5EF4-FFF2-40B4-BE49-F238E27FC236}">
                <a16:creationId xmlns:a16="http://schemas.microsoft.com/office/drawing/2014/main" id="{3EBE52DB-65F4-8C50-40C6-6397B3792BAA}"/>
              </a:ext>
            </a:extLst>
          </p:cNvPr>
          <p:cNvSpPr txBox="1"/>
          <p:nvPr/>
        </p:nvSpPr>
        <p:spPr>
          <a:xfrm flipV="1">
            <a:off x="5209382" y="4394963"/>
            <a:ext cx="1406324" cy="369332"/>
          </a:xfrm>
          <a:prstGeom prst="rect">
            <a:avLst/>
          </a:prstGeom>
          <a:noFill/>
        </p:spPr>
        <p:txBody>
          <a:bodyPr wrap="square">
            <a:spAutoFit/>
          </a:bodyPr>
          <a:lstStyle/>
          <a:p>
            <a:r>
              <a:rPr lang="en-DE" dirty="0"/>
              <a:t>0000</a:t>
            </a:r>
          </a:p>
        </p:txBody>
      </p:sp>
      <p:sp>
        <p:nvSpPr>
          <p:cNvPr id="19" name="TextBox 18">
            <a:extLst>
              <a:ext uri="{FF2B5EF4-FFF2-40B4-BE49-F238E27FC236}">
                <a16:creationId xmlns:a16="http://schemas.microsoft.com/office/drawing/2014/main" id="{B2B15D55-5821-8901-2ABD-F1A95333FE3A}"/>
              </a:ext>
            </a:extLst>
          </p:cNvPr>
          <p:cNvSpPr txBox="1"/>
          <p:nvPr/>
        </p:nvSpPr>
        <p:spPr>
          <a:xfrm>
            <a:off x="5985472" y="4679560"/>
            <a:ext cx="4572000" cy="369332"/>
          </a:xfrm>
          <a:prstGeom prst="rect">
            <a:avLst/>
          </a:prstGeom>
          <a:noFill/>
        </p:spPr>
        <p:txBody>
          <a:bodyPr wrap="square">
            <a:spAutoFit/>
          </a:bodyPr>
          <a:lstStyle/>
          <a:p>
            <a:r>
              <a:rPr lang="en-DE" dirty="0"/>
              <a:t>0001</a:t>
            </a:r>
          </a:p>
        </p:txBody>
      </p:sp>
      <p:sp>
        <p:nvSpPr>
          <p:cNvPr id="21" name="TextBox 20">
            <a:extLst>
              <a:ext uri="{FF2B5EF4-FFF2-40B4-BE49-F238E27FC236}">
                <a16:creationId xmlns:a16="http://schemas.microsoft.com/office/drawing/2014/main" id="{E4059589-6AD6-0CA9-43A9-9116DD9EB646}"/>
              </a:ext>
            </a:extLst>
          </p:cNvPr>
          <p:cNvSpPr txBox="1"/>
          <p:nvPr/>
        </p:nvSpPr>
        <p:spPr>
          <a:xfrm>
            <a:off x="192724" y="4026649"/>
            <a:ext cx="5278054" cy="369332"/>
          </a:xfrm>
          <a:prstGeom prst="rect">
            <a:avLst/>
          </a:prstGeom>
          <a:noFill/>
        </p:spPr>
        <p:txBody>
          <a:bodyPr wrap="square">
            <a:spAutoFit/>
          </a:bodyPr>
          <a:lstStyle/>
          <a:p>
            <a:r>
              <a:rPr lang="en-GB" dirty="0"/>
              <a:t>Simple example:</a:t>
            </a:r>
            <a:endParaRPr lang="en-DE" dirty="0"/>
          </a:p>
        </p:txBody>
      </p:sp>
      <p:pic>
        <p:nvPicPr>
          <p:cNvPr id="22" name="Picture 21">
            <a:extLst>
              <a:ext uri="{FF2B5EF4-FFF2-40B4-BE49-F238E27FC236}">
                <a16:creationId xmlns:a16="http://schemas.microsoft.com/office/drawing/2014/main" id="{CFF72F53-0CD0-3824-3777-916BB77D40E9}"/>
              </a:ext>
            </a:extLst>
          </p:cNvPr>
          <p:cNvPicPr>
            <a:picLocks noChangeAspect="1"/>
          </p:cNvPicPr>
          <p:nvPr/>
        </p:nvPicPr>
        <p:blipFill>
          <a:blip r:embed="rId6"/>
          <a:stretch>
            <a:fillRect/>
          </a:stretch>
        </p:blipFill>
        <p:spPr>
          <a:xfrm>
            <a:off x="7316010" y="4300443"/>
            <a:ext cx="1754978" cy="835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653355"/>
            <a:ext cx="4187205"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Mathematical Foundation</a:t>
            </a:r>
            <a:endParaRPr lang="en-US" sz="2400" dirty="0"/>
          </a:p>
        </p:txBody>
      </p:sp>
      <p:sp>
        <p:nvSpPr>
          <p:cNvPr id="3" name="Text 1"/>
          <p:cNvSpPr/>
          <p:nvPr/>
        </p:nvSpPr>
        <p:spPr>
          <a:xfrm>
            <a:off x="496119" y="1288926"/>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binding cost model quantifies how much switching power a specific operation-to-unit assignment incurs, accounting for input commonality with neighboring operations:</a:t>
            </a:r>
            <a:endParaRPr lang="en-US" sz="950" dirty="0"/>
          </a:p>
        </p:txBody>
      </p:sp>
      <p:sp>
        <p:nvSpPr>
          <p:cNvPr id="4" name="Shape 2"/>
          <p:cNvSpPr/>
          <p:nvPr/>
        </p:nvSpPr>
        <p:spPr>
          <a:xfrm>
            <a:off x="406822" y="1825377"/>
            <a:ext cx="4103191" cy="2664693"/>
          </a:xfrm>
          <a:prstGeom prst="roundRect">
            <a:avLst>
              <a:gd name="adj" fmla="val 698"/>
            </a:avLst>
          </a:prstGeom>
          <a:solidFill>
            <a:srgbClr val="28282F"/>
          </a:solidFill>
          <a:ln/>
        </p:spPr>
        <p:txBody>
          <a:bodyPr/>
          <a:lstStyle/>
          <a:p>
            <a:endParaRPr lang="en-DE"/>
          </a:p>
        </p:txBody>
      </p:sp>
      <p:sp>
        <p:nvSpPr>
          <p:cNvPr id="5" name="Text 3"/>
          <p:cNvSpPr/>
          <p:nvPr/>
        </p:nvSpPr>
        <p:spPr>
          <a:xfrm>
            <a:off x="530796" y="1949351"/>
            <a:ext cx="2062162"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DM Sans Medium" pitchFamily="34" charset="0"/>
                <a:ea typeface="DM Sans Medium" pitchFamily="34" charset="-122"/>
                <a:cs typeface="DM Sans Medium" pitchFamily="34" charset="-120"/>
              </a:rPr>
              <a:t>Binding Cost Function</a:t>
            </a:r>
            <a:endParaRPr lang="en-US" sz="1200" dirty="0"/>
          </a:p>
        </p:txBody>
      </p:sp>
      <p:sp>
        <p:nvSpPr>
          <p:cNvPr id="6" name="Text 4"/>
          <p:cNvSpPr/>
          <p:nvPr/>
        </p:nvSpPr>
        <p:spPr>
          <a:xfrm>
            <a:off x="530796" y="2300139"/>
            <a:ext cx="4312444" cy="216843"/>
          </a:xfrm>
          <a:prstGeom prst="rect">
            <a:avLst/>
          </a:prstGeom>
          <a:noFill/>
          <a:ln/>
        </p:spPr>
        <p:txBody>
          <a:bodyPr wrap="none" lIns="0" tIns="0" rIns="0" bIns="0" rtlCol="0" anchor="t"/>
          <a:lstStyle/>
          <a:p>
            <a:pPr marL="0" indent="0" algn="l">
              <a:lnSpc>
                <a:spcPct val="133000"/>
              </a:lnSpc>
              <a:buNone/>
            </a:pPr>
            <a:endParaRPr lang="en-US" sz="1050" dirty="0"/>
          </a:p>
        </p:txBody>
      </p:sp>
      <p:pic>
        <p:nvPicPr>
          <p:cNvPr id="7" name="Image 0" descr="preencoded.png"/>
          <p:cNvPicPr>
            <a:picLocks noChangeAspect="1"/>
          </p:cNvPicPr>
          <p:nvPr/>
        </p:nvPicPr>
        <p:blipFill>
          <a:blip r:embed="rId3"/>
          <a:stretch>
            <a:fillRect/>
          </a:stretch>
        </p:blipFill>
        <p:spPr>
          <a:xfrm>
            <a:off x="530796" y="2300139"/>
            <a:ext cx="3855244" cy="216843"/>
          </a:xfrm>
          <a:prstGeom prst="rect">
            <a:avLst/>
          </a:prstGeom>
        </p:spPr>
      </p:pic>
      <p:sp>
        <p:nvSpPr>
          <p:cNvPr id="8" name="Text 5"/>
          <p:cNvSpPr/>
          <p:nvPr/>
        </p:nvSpPr>
        <p:spPr>
          <a:xfrm>
            <a:off x="530796" y="2673921"/>
            <a:ext cx="3855244" cy="905470"/>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FFFFFF"/>
                </a:solidFill>
                <a:latin typeface="Inter" pitchFamily="34" charset="0"/>
                <a:ea typeface="Inter" pitchFamily="34" charset="-122"/>
                <a:cs typeface="Inter" pitchFamily="34" charset="-120"/>
              </a:rPr>
              <a:t>P_sw</a:t>
            </a:r>
            <a:r>
              <a:rPr lang="en-US" sz="950" dirty="0">
                <a:solidFill>
                  <a:srgbClr val="FFFFFF"/>
                </a:solidFill>
                <a:latin typeface="Inter" pitchFamily="34" charset="0"/>
                <a:ea typeface="Inter" pitchFamily="34" charset="-122"/>
                <a:cs typeface="Inter" pitchFamily="34" charset="-120"/>
              </a:rPr>
              <a:t> — Switching power of the functional unit when executing operation </a:t>
            </a:r>
            <a:r>
              <a:rPr lang="en-US" sz="950" i="1" dirty="0">
                <a:solidFill>
                  <a:srgbClr val="FFFFFF"/>
                </a:solidFill>
                <a:latin typeface="Inter" pitchFamily="34" charset="0"/>
                <a:ea typeface="Inter" pitchFamily="34" charset="-122"/>
                <a:cs typeface="Inter" pitchFamily="34" charset="-120"/>
              </a:rPr>
              <a:t>o</a:t>
            </a:r>
            <a:endParaRPr lang="en-US" sz="950" dirty="0"/>
          </a:p>
          <a:p>
            <a:pPr marL="0" indent="0" algn="l">
              <a:lnSpc>
                <a:spcPct val="133000"/>
              </a:lnSpc>
              <a:buNone/>
            </a:pPr>
            <a:r>
              <a:rPr lang="en-US" sz="950" b="1" dirty="0">
                <a:solidFill>
                  <a:srgbClr val="FFFFFF"/>
                </a:solidFill>
                <a:latin typeface="Inter" pitchFamily="34" charset="0"/>
                <a:ea typeface="Inter" pitchFamily="34" charset="-122"/>
                <a:cs typeface="Inter" pitchFamily="34" charset="-120"/>
              </a:rPr>
              <a:t>P_inp</a:t>
            </a:r>
            <a:r>
              <a:rPr lang="en-US" sz="950" dirty="0">
                <a:solidFill>
                  <a:srgbClr val="FFFFFF"/>
                </a:solidFill>
                <a:latin typeface="Inter" pitchFamily="34" charset="0"/>
                <a:ea typeface="Inter" pitchFamily="34" charset="-122"/>
                <a:cs typeface="Inter" pitchFamily="34" charset="-120"/>
              </a:rPr>
              <a:t> — Power reduction gained from common or neighborhood inputs shared with adjacent operations</a:t>
            </a:r>
            <a:endParaRPr lang="en-US" sz="950" dirty="0"/>
          </a:p>
        </p:txBody>
      </p:sp>
      <p:sp>
        <p:nvSpPr>
          <p:cNvPr id="9" name="Text 6"/>
          <p:cNvSpPr/>
          <p:nvPr/>
        </p:nvSpPr>
        <p:spPr>
          <a:xfrm>
            <a:off x="4728046" y="1949351"/>
            <a:ext cx="2652713"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Global Optimization Objective</a:t>
            </a:r>
            <a:endParaRPr lang="en-US" sz="1200" dirty="0"/>
          </a:p>
        </p:txBody>
      </p:sp>
      <p:sp>
        <p:nvSpPr>
          <p:cNvPr id="10" name="Text 7"/>
          <p:cNvSpPr/>
          <p:nvPr/>
        </p:nvSpPr>
        <p:spPr>
          <a:xfrm>
            <a:off x="4728046" y="2300139"/>
            <a:ext cx="4381798" cy="278011"/>
          </a:xfrm>
          <a:prstGeom prst="rect">
            <a:avLst/>
          </a:prstGeom>
          <a:noFill/>
          <a:ln/>
        </p:spPr>
        <p:txBody>
          <a:bodyPr wrap="none" lIns="0" tIns="0" rIns="0" bIns="0" rtlCol="0" anchor="t"/>
          <a:lstStyle/>
          <a:p>
            <a:pPr marL="0" indent="0" algn="l">
              <a:lnSpc>
                <a:spcPct val="133000"/>
              </a:lnSpc>
              <a:buNone/>
            </a:pPr>
            <a:endParaRPr lang="en-US" sz="1050" dirty="0"/>
          </a:p>
        </p:txBody>
      </p:sp>
      <p:pic>
        <p:nvPicPr>
          <p:cNvPr id="11" name="Image 1" descr="preencoded.png"/>
          <p:cNvPicPr>
            <a:picLocks noChangeAspect="1"/>
          </p:cNvPicPr>
          <p:nvPr/>
        </p:nvPicPr>
        <p:blipFill>
          <a:blip r:embed="rId4"/>
          <a:stretch>
            <a:fillRect/>
          </a:stretch>
        </p:blipFill>
        <p:spPr>
          <a:xfrm>
            <a:off x="4728046" y="2300139"/>
            <a:ext cx="3924598" cy="278011"/>
          </a:xfrm>
          <a:prstGeom prst="rect">
            <a:avLst/>
          </a:prstGeom>
        </p:spPr>
      </p:pic>
      <p:sp>
        <p:nvSpPr>
          <p:cNvPr id="12" name="Text 8"/>
          <p:cNvSpPr/>
          <p:nvPr/>
        </p:nvSpPr>
        <p:spPr>
          <a:xfrm>
            <a:off x="4728046" y="2735089"/>
            <a:ext cx="392459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Inter" pitchFamily="34" charset="0"/>
                <a:ea typeface="Inter" pitchFamily="34" charset="-122"/>
                <a:cs typeface="Inter" pitchFamily="34" charset="-120"/>
              </a:rPr>
              <a:t>The algorithm searches across all feasible binding assignments </a:t>
            </a:r>
            <a:r>
              <a:rPr lang="en-US" sz="950" b="1" dirty="0">
                <a:solidFill>
                  <a:srgbClr val="161613"/>
                </a:solidFill>
                <a:latin typeface="Inter" pitchFamily="34" charset="0"/>
                <a:ea typeface="Inter" pitchFamily="34" charset="-122"/>
                <a:cs typeface="Inter" pitchFamily="34" charset="-120"/>
              </a:rPr>
              <a:t>A</a:t>
            </a:r>
            <a:r>
              <a:rPr lang="en-US" sz="950" dirty="0">
                <a:solidFill>
                  <a:srgbClr val="161613"/>
                </a:solidFill>
                <a:latin typeface="Inter" pitchFamily="34" charset="0"/>
                <a:ea typeface="Inter" pitchFamily="34" charset="-122"/>
                <a:cs typeface="Inter" pitchFamily="34" charset="-120"/>
              </a:rPr>
              <a:t> and selects </a:t>
            </a:r>
            <a:r>
              <a:rPr lang="en-US" sz="950" b="1" dirty="0">
                <a:solidFill>
                  <a:srgbClr val="161613"/>
                </a:solidFill>
                <a:latin typeface="Inter" pitchFamily="34" charset="0"/>
                <a:ea typeface="Inter" pitchFamily="34" charset="-122"/>
                <a:cs typeface="Inter" pitchFamily="34" charset="-120"/>
              </a:rPr>
              <a:t>A*</a:t>
            </a:r>
            <a:r>
              <a:rPr lang="en-US" sz="950" dirty="0">
                <a:solidFill>
                  <a:srgbClr val="161613"/>
                </a:solidFill>
                <a:latin typeface="Inter" pitchFamily="34" charset="0"/>
                <a:ea typeface="Inter" pitchFamily="34" charset="-122"/>
                <a:cs typeface="Inter" pitchFamily="34" charset="-120"/>
              </a:rPr>
              <a:t> — the assignment that achieves the minimum total binding cost across all scheduled operations.</a:t>
            </a:r>
            <a:endParaRPr lang="en-US" sz="950" dirty="0"/>
          </a:p>
        </p:txBody>
      </p:sp>
      <p:sp>
        <p:nvSpPr>
          <p:cNvPr id="13" name="Shape 9"/>
          <p:cNvSpPr/>
          <p:nvPr/>
        </p:nvSpPr>
        <p:spPr>
          <a:xfrm>
            <a:off x="1004924" y="5727065"/>
            <a:ext cx="3924598" cy="880542"/>
          </a:xfrm>
          <a:prstGeom prst="roundRect">
            <a:avLst>
              <a:gd name="adj" fmla="val 2113"/>
            </a:avLst>
          </a:prstGeom>
          <a:solidFill>
            <a:srgbClr val="B6D6FC"/>
          </a:solidFill>
          <a:ln/>
        </p:spPr>
        <p:txBody>
          <a:bodyPr/>
          <a:lstStyle/>
          <a:p>
            <a:endParaRPr lang="en-DE"/>
          </a:p>
        </p:txBody>
      </p:sp>
      <p:pic>
        <p:nvPicPr>
          <p:cNvPr id="14" name="Image 2" descr="preencoded.png"/>
          <p:cNvPicPr>
            <a:picLocks noChangeAspect="1"/>
          </p:cNvPicPr>
          <p:nvPr/>
        </p:nvPicPr>
        <p:blipFill>
          <a:blip r:embed="rId5"/>
          <a:stretch>
            <a:fillRect/>
          </a:stretch>
        </p:blipFill>
        <p:spPr>
          <a:xfrm>
            <a:off x="4852020" y="3659312"/>
            <a:ext cx="155004" cy="123974"/>
          </a:xfrm>
          <a:prstGeom prst="rect">
            <a:avLst/>
          </a:prstGeom>
        </p:spPr>
      </p:pic>
      <p:sp>
        <p:nvSpPr>
          <p:cNvPr id="15" name="Text 10"/>
          <p:cNvSpPr/>
          <p:nvPr/>
        </p:nvSpPr>
        <p:spPr>
          <a:xfrm>
            <a:off x="5130998" y="3612579"/>
            <a:ext cx="33976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In practice, the Nash equilibrium auction converges to A* efficiently without enumerating all possible assignments — unlike brute-force or ILP approaches.</a:t>
            </a:r>
            <a:endParaRPr lang="en-US" sz="950" dirty="0"/>
          </a:p>
        </p:txBody>
      </p:sp>
      <p:pic>
        <p:nvPicPr>
          <p:cNvPr id="16" name="Picture 15">
            <a:extLst>
              <a:ext uri="{FF2B5EF4-FFF2-40B4-BE49-F238E27FC236}">
                <a16:creationId xmlns:a16="http://schemas.microsoft.com/office/drawing/2014/main" id="{A875DFC2-576E-07D4-81A1-18A9F8B60417}"/>
              </a:ext>
            </a:extLst>
          </p:cNvPr>
          <p:cNvPicPr>
            <a:picLocks noChangeAspect="1"/>
          </p:cNvPicPr>
          <p:nvPr/>
        </p:nvPicPr>
        <p:blipFill>
          <a:blip r:embed="rId6"/>
          <a:stretch>
            <a:fillRect/>
          </a:stretch>
        </p:blipFill>
        <p:spPr>
          <a:xfrm>
            <a:off x="7389022" y="4207966"/>
            <a:ext cx="1754978" cy="8353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343198"/>
            <a:ext cx="3170709" cy="339179"/>
          </a:xfrm>
          <a:prstGeom prst="rect">
            <a:avLst/>
          </a:prstGeom>
          <a:noFill/>
          <a:ln/>
        </p:spPr>
        <p:txBody>
          <a:bodyPr wrap="none" lIns="0" tIns="0" rIns="0" bIns="0" rtlCol="0" anchor="t"/>
          <a:lstStyle/>
          <a:p>
            <a:pPr marL="0" indent="0" algn="l">
              <a:lnSpc>
                <a:spcPct val="104000"/>
              </a:lnSpc>
              <a:buNone/>
            </a:pPr>
            <a:r>
              <a:rPr lang="en-US" sz="2100" dirty="0">
                <a:solidFill>
                  <a:srgbClr val="161613"/>
                </a:solidFill>
                <a:latin typeface="DM Sans Medium" pitchFamily="34" charset="0"/>
                <a:ea typeface="DM Sans Medium" pitchFamily="34" charset="-122"/>
                <a:cs typeface="DM Sans Medium" pitchFamily="34" charset="-120"/>
              </a:rPr>
              <a:t>Experimental Setup</a:t>
            </a:r>
            <a:endParaRPr lang="en-US" sz="2100" dirty="0"/>
          </a:p>
        </p:txBody>
      </p:sp>
      <p:sp>
        <p:nvSpPr>
          <p:cNvPr id="3" name="Text 1"/>
          <p:cNvSpPr/>
          <p:nvPr/>
        </p:nvSpPr>
        <p:spPr>
          <a:xfrm>
            <a:off x="496119" y="919758"/>
            <a:ext cx="18139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Benchmark Circuits</a:t>
            </a:r>
            <a:endParaRPr lang="en-US" sz="1050" dirty="0"/>
          </a:p>
        </p:txBody>
      </p:sp>
      <p:sp>
        <p:nvSpPr>
          <p:cNvPr id="4" name="Text 2"/>
          <p:cNvSpPr/>
          <p:nvPr/>
        </p:nvSpPr>
        <p:spPr>
          <a:xfrm>
            <a:off x="496119" y="1196057"/>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DM Sans Light" pitchFamily="34" charset="0"/>
                <a:ea typeface="DM Sans Light" pitchFamily="34" charset="-122"/>
                <a:cs typeface="DM Sans Light" pitchFamily="34" charset="-120"/>
              </a:rPr>
              <a:t>01</a:t>
            </a:r>
            <a:endParaRPr lang="en-US" sz="850" dirty="0"/>
          </a:p>
        </p:txBody>
      </p:sp>
      <p:sp>
        <p:nvSpPr>
          <p:cNvPr id="5" name="Shape 3"/>
          <p:cNvSpPr/>
          <p:nvPr/>
        </p:nvSpPr>
        <p:spPr>
          <a:xfrm>
            <a:off x="496119" y="1366168"/>
            <a:ext cx="3943499" cy="14288"/>
          </a:xfrm>
          <a:prstGeom prst="rect">
            <a:avLst/>
          </a:prstGeom>
          <a:solidFill>
            <a:srgbClr val="28282F"/>
          </a:solidFill>
          <a:ln/>
        </p:spPr>
        <p:txBody>
          <a:bodyPr/>
          <a:lstStyle/>
          <a:p>
            <a:endParaRPr lang="en-DE"/>
          </a:p>
        </p:txBody>
      </p:sp>
      <p:sp>
        <p:nvSpPr>
          <p:cNvPr id="6" name="Text 4"/>
          <p:cNvSpPr/>
          <p:nvPr/>
        </p:nvSpPr>
        <p:spPr>
          <a:xfrm>
            <a:off x="496119" y="1448991"/>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Differential Equation</a:t>
            </a:r>
            <a:endParaRPr lang="en-US" sz="1050" dirty="0"/>
          </a:p>
        </p:txBody>
      </p:sp>
      <p:sp>
        <p:nvSpPr>
          <p:cNvPr id="7" name="Text 5"/>
          <p:cNvSpPr/>
          <p:nvPr/>
        </p:nvSpPr>
        <p:spPr>
          <a:xfrm>
            <a:off x="496119" y="1794793"/>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DM Sans Light" pitchFamily="34" charset="0"/>
                <a:ea typeface="DM Sans Light" pitchFamily="34" charset="-122"/>
                <a:cs typeface="DM Sans Light" pitchFamily="34" charset="-120"/>
              </a:rPr>
              <a:t>02</a:t>
            </a:r>
            <a:endParaRPr lang="en-US" sz="850" dirty="0"/>
          </a:p>
        </p:txBody>
      </p:sp>
      <p:sp>
        <p:nvSpPr>
          <p:cNvPr id="8" name="Shape 6"/>
          <p:cNvSpPr/>
          <p:nvPr/>
        </p:nvSpPr>
        <p:spPr>
          <a:xfrm>
            <a:off x="496119" y="1964903"/>
            <a:ext cx="3943499" cy="14288"/>
          </a:xfrm>
          <a:prstGeom prst="rect">
            <a:avLst/>
          </a:prstGeom>
          <a:solidFill>
            <a:srgbClr val="28282F"/>
          </a:solidFill>
          <a:ln/>
        </p:spPr>
        <p:txBody>
          <a:bodyPr/>
          <a:lstStyle/>
          <a:p>
            <a:endParaRPr lang="en-DE"/>
          </a:p>
        </p:txBody>
      </p:sp>
      <p:sp>
        <p:nvSpPr>
          <p:cNvPr id="9" name="Text 7"/>
          <p:cNvSpPr/>
          <p:nvPr/>
        </p:nvSpPr>
        <p:spPr>
          <a:xfrm>
            <a:off x="496119" y="2047726"/>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FIR Filter</a:t>
            </a:r>
            <a:endParaRPr lang="en-US" sz="1050" dirty="0"/>
          </a:p>
        </p:txBody>
      </p:sp>
      <p:sp>
        <p:nvSpPr>
          <p:cNvPr id="10" name="Text 8"/>
          <p:cNvSpPr/>
          <p:nvPr/>
        </p:nvSpPr>
        <p:spPr>
          <a:xfrm>
            <a:off x="496119" y="2393528"/>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DM Sans Light" pitchFamily="34" charset="0"/>
                <a:ea typeface="DM Sans Light" pitchFamily="34" charset="-122"/>
                <a:cs typeface="DM Sans Light" pitchFamily="34" charset="-120"/>
              </a:rPr>
              <a:t>03</a:t>
            </a:r>
            <a:endParaRPr lang="en-US" sz="850" dirty="0"/>
          </a:p>
        </p:txBody>
      </p:sp>
      <p:sp>
        <p:nvSpPr>
          <p:cNvPr id="11" name="Shape 9"/>
          <p:cNvSpPr/>
          <p:nvPr/>
        </p:nvSpPr>
        <p:spPr>
          <a:xfrm>
            <a:off x="496119" y="2563639"/>
            <a:ext cx="3943499" cy="14288"/>
          </a:xfrm>
          <a:prstGeom prst="rect">
            <a:avLst/>
          </a:prstGeom>
          <a:solidFill>
            <a:srgbClr val="28282F"/>
          </a:solidFill>
          <a:ln/>
        </p:spPr>
        <p:txBody>
          <a:bodyPr/>
          <a:lstStyle/>
          <a:p>
            <a:endParaRPr lang="en-DE"/>
          </a:p>
        </p:txBody>
      </p:sp>
      <p:sp>
        <p:nvSpPr>
          <p:cNvPr id="12" name="Text 10"/>
          <p:cNvSpPr/>
          <p:nvPr/>
        </p:nvSpPr>
        <p:spPr>
          <a:xfrm>
            <a:off x="496119" y="2646462"/>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IIR Filter</a:t>
            </a:r>
            <a:endParaRPr lang="en-US" sz="1050" dirty="0"/>
          </a:p>
        </p:txBody>
      </p:sp>
      <p:sp>
        <p:nvSpPr>
          <p:cNvPr id="13" name="Text 11"/>
          <p:cNvSpPr/>
          <p:nvPr/>
        </p:nvSpPr>
        <p:spPr>
          <a:xfrm>
            <a:off x="496119" y="2992264"/>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DM Sans Light" pitchFamily="34" charset="0"/>
                <a:ea typeface="DM Sans Light" pitchFamily="34" charset="-122"/>
                <a:cs typeface="DM Sans Light" pitchFamily="34" charset="-120"/>
              </a:rPr>
              <a:t>04</a:t>
            </a:r>
            <a:endParaRPr lang="en-US" sz="850" dirty="0"/>
          </a:p>
        </p:txBody>
      </p:sp>
      <p:sp>
        <p:nvSpPr>
          <p:cNvPr id="14" name="Shape 12"/>
          <p:cNvSpPr/>
          <p:nvPr/>
        </p:nvSpPr>
        <p:spPr>
          <a:xfrm>
            <a:off x="508311" y="3174566"/>
            <a:ext cx="3943499" cy="14288"/>
          </a:xfrm>
          <a:prstGeom prst="rect">
            <a:avLst/>
          </a:prstGeom>
          <a:solidFill>
            <a:srgbClr val="28282F"/>
          </a:solidFill>
          <a:ln/>
        </p:spPr>
        <p:txBody>
          <a:bodyPr/>
          <a:lstStyle/>
          <a:p>
            <a:endParaRPr lang="en-DE"/>
          </a:p>
        </p:txBody>
      </p:sp>
      <p:sp>
        <p:nvSpPr>
          <p:cNvPr id="15" name="Text 13"/>
          <p:cNvSpPr/>
          <p:nvPr/>
        </p:nvSpPr>
        <p:spPr>
          <a:xfrm>
            <a:off x="496119" y="3245197"/>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Lattice Filter</a:t>
            </a:r>
            <a:endParaRPr lang="en-US" sz="1050" dirty="0"/>
          </a:p>
        </p:txBody>
      </p:sp>
      <p:sp>
        <p:nvSpPr>
          <p:cNvPr id="16" name="Text 14"/>
          <p:cNvSpPr/>
          <p:nvPr/>
        </p:nvSpPr>
        <p:spPr>
          <a:xfrm>
            <a:off x="496119" y="3590999"/>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DM Sans Light" pitchFamily="34" charset="0"/>
                <a:ea typeface="DM Sans Light" pitchFamily="34" charset="-122"/>
                <a:cs typeface="DM Sans Light" pitchFamily="34" charset="-120"/>
              </a:rPr>
              <a:t>05</a:t>
            </a:r>
            <a:endParaRPr lang="en-US" sz="850" dirty="0"/>
          </a:p>
        </p:txBody>
      </p:sp>
      <p:sp>
        <p:nvSpPr>
          <p:cNvPr id="17" name="Shape 15"/>
          <p:cNvSpPr/>
          <p:nvPr/>
        </p:nvSpPr>
        <p:spPr>
          <a:xfrm>
            <a:off x="496119" y="3761110"/>
            <a:ext cx="3943499" cy="14288"/>
          </a:xfrm>
          <a:prstGeom prst="rect">
            <a:avLst/>
          </a:prstGeom>
          <a:solidFill>
            <a:srgbClr val="28282F"/>
          </a:solidFill>
          <a:ln/>
        </p:spPr>
        <p:txBody>
          <a:bodyPr/>
          <a:lstStyle/>
          <a:p>
            <a:endParaRPr lang="en-DE"/>
          </a:p>
        </p:txBody>
      </p:sp>
      <p:sp>
        <p:nvSpPr>
          <p:cNvPr id="18" name="Text 16"/>
          <p:cNvSpPr/>
          <p:nvPr/>
        </p:nvSpPr>
        <p:spPr>
          <a:xfrm>
            <a:off x="496119" y="3843933"/>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Elliptic Wave Filter</a:t>
            </a:r>
            <a:endParaRPr lang="en-US" sz="1050" dirty="0"/>
          </a:p>
        </p:txBody>
      </p:sp>
      <p:sp>
        <p:nvSpPr>
          <p:cNvPr id="19" name="Text 17"/>
          <p:cNvSpPr/>
          <p:nvPr/>
        </p:nvSpPr>
        <p:spPr>
          <a:xfrm>
            <a:off x="496119" y="4189735"/>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DM Sans Light" pitchFamily="34" charset="0"/>
                <a:ea typeface="DM Sans Light" pitchFamily="34" charset="-122"/>
                <a:cs typeface="DM Sans Light" pitchFamily="34" charset="-120"/>
              </a:rPr>
              <a:t>06</a:t>
            </a:r>
            <a:endParaRPr lang="en-US" sz="850" dirty="0"/>
          </a:p>
        </p:txBody>
      </p:sp>
      <p:sp>
        <p:nvSpPr>
          <p:cNvPr id="20" name="Shape 18"/>
          <p:cNvSpPr/>
          <p:nvPr/>
        </p:nvSpPr>
        <p:spPr>
          <a:xfrm>
            <a:off x="496119" y="4359846"/>
            <a:ext cx="3943499" cy="14288"/>
          </a:xfrm>
          <a:prstGeom prst="rect">
            <a:avLst/>
          </a:prstGeom>
          <a:solidFill>
            <a:srgbClr val="28282F"/>
          </a:solidFill>
          <a:ln/>
        </p:spPr>
        <p:txBody>
          <a:bodyPr/>
          <a:lstStyle/>
          <a:p>
            <a:endParaRPr lang="en-DE"/>
          </a:p>
        </p:txBody>
      </p:sp>
      <p:sp>
        <p:nvSpPr>
          <p:cNvPr id="21" name="Text 19"/>
          <p:cNvSpPr/>
          <p:nvPr/>
        </p:nvSpPr>
        <p:spPr>
          <a:xfrm>
            <a:off x="496119" y="4442668"/>
            <a:ext cx="1736973"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WAVE &amp; Noise Cancel Filter</a:t>
            </a:r>
            <a:endParaRPr lang="en-US" sz="1050" dirty="0"/>
          </a:p>
        </p:txBody>
      </p:sp>
      <p:sp>
        <p:nvSpPr>
          <p:cNvPr id="22" name="Text 20"/>
          <p:cNvSpPr/>
          <p:nvPr/>
        </p:nvSpPr>
        <p:spPr>
          <a:xfrm>
            <a:off x="4709145" y="919758"/>
            <a:ext cx="1895326"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Simulation Parameters</a:t>
            </a:r>
            <a:endParaRPr lang="en-US" sz="1050" dirty="0"/>
          </a:p>
        </p:txBody>
      </p:sp>
      <p:sp>
        <p:nvSpPr>
          <p:cNvPr id="23" name="Text 21"/>
          <p:cNvSpPr/>
          <p:nvPr/>
        </p:nvSpPr>
        <p:spPr>
          <a:xfrm>
            <a:off x="4709145" y="1184225"/>
            <a:ext cx="3943499" cy="750838"/>
          </a:xfrm>
          <a:prstGeom prst="rect">
            <a:avLst/>
          </a:prstGeom>
          <a:noFill/>
          <a:ln/>
        </p:spPr>
        <p:txBody>
          <a:bodyPr wrap="square" lIns="0" tIns="0" rIns="0" bIns="0" rtlCol="0" anchor="t">
            <a:normAutofit/>
          </a:bodyPr>
          <a:lstStyle/>
          <a:p>
            <a:pPr marL="342900" indent="-342900" algn="l">
              <a:lnSpc>
                <a:spcPct val="125000"/>
              </a:lnSpc>
              <a:buSzPct val="100000"/>
              <a:buChar char="•"/>
            </a:pPr>
            <a:r>
              <a:rPr lang="en-US" sz="850" b="1" dirty="0">
                <a:solidFill>
                  <a:srgbClr val="161613"/>
                </a:solidFill>
                <a:latin typeface="Inter" pitchFamily="34" charset="0"/>
                <a:ea typeface="Inter" pitchFamily="34" charset="-122"/>
                <a:cs typeface="Inter" pitchFamily="34" charset="-120"/>
              </a:rPr>
              <a:t>100,000</a:t>
            </a:r>
            <a:r>
              <a:rPr lang="en-US" sz="850" dirty="0">
                <a:solidFill>
                  <a:srgbClr val="161613"/>
                </a:solidFill>
                <a:latin typeface="Inter" pitchFamily="34" charset="0"/>
                <a:ea typeface="Inter" pitchFamily="34" charset="-122"/>
                <a:cs typeface="Inter" pitchFamily="34" charset="-120"/>
              </a:rPr>
              <a:t> input vectors per benchmark for statistical accuracy</a:t>
            </a:r>
            <a:endParaRPr lang="en-US" sz="850" dirty="0"/>
          </a:p>
          <a:p>
            <a:pPr marL="342900" indent="-342900" algn="l">
              <a:lnSpc>
                <a:spcPct val="125000"/>
              </a:lnSpc>
              <a:buSzPct val="100000"/>
              <a:buChar char="•"/>
            </a:pPr>
            <a:r>
              <a:rPr lang="en-US" sz="850" b="1" dirty="0">
                <a:solidFill>
                  <a:srgbClr val="161613"/>
                </a:solidFill>
                <a:latin typeface="Inter" pitchFamily="34" charset="0"/>
                <a:ea typeface="Inter" pitchFamily="34" charset="-122"/>
                <a:cs typeface="Inter" pitchFamily="34" charset="-120"/>
              </a:rPr>
              <a:t>16-bit two's complement</a:t>
            </a:r>
            <a:r>
              <a:rPr lang="en-US" sz="850" dirty="0">
                <a:solidFill>
                  <a:srgbClr val="161613"/>
                </a:solidFill>
                <a:latin typeface="Inter" pitchFamily="34" charset="0"/>
                <a:ea typeface="Inter" pitchFamily="34" charset="-122"/>
                <a:cs typeface="Inter" pitchFamily="34" charset="-120"/>
              </a:rPr>
              <a:t> random integers as stimuli</a:t>
            </a:r>
            <a:endParaRPr lang="en-US" sz="850" dirty="0"/>
          </a:p>
          <a:p>
            <a:pPr marL="342900" indent="-342900" algn="l">
              <a:lnSpc>
                <a:spcPct val="125000"/>
              </a:lnSpc>
              <a:buSzPct val="100000"/>
              <a:buChar char="•"/>
            </a:pPr>
            <a:r>
              <a:rPr lang="en-US" sz="850" dirty="0">
                <a:solidFill>
                  <a:srgbClr val="161613"/>
                </a:solidFill>
                <a:latin typeface="Inter" pitchFamily="34" charset="0"/>
                <a:ea typeface="Inter" pitchFamily="34" charset="-122"/>
                <a:cs typeface="Inter" pitchFamily="34" charset="-120"/>
              </a:rPr>
              <a:t>Power measured using post-synthesis gate-level simulation</a:t>
            </a:r>
            <a:endParaRPr lang="en-US" sz="850" dirty="0"/>
          </a:p>
          <a:p>
            <a:pPr marL="342900" indent="-342900" algn="l">
              <a:lnSpc>
                <a:spcPct val="125000"/>
              </a:lnSpc>
              <a:buSzPct val="100000"/>
              <a:buChar char="•"/>
            </a:pPr>
            <a:r>
              <a:rPr lang="en-US" sz="850" dirty="0">
                <a:solidFill>
                  <a:srgbClr val="161613"/>
                </a:solidFill>
                <a:latin typeface="Inter" pitchFamily="34" charset="0"/>
                <a:ea typeface="Inter" pitchFamily="34" charset="-122"/>
                <a:cs typeface="Inter" pitchFamily="34" charset="-120"/>
              </a:rPr>
              <a:t>Compared against ILP-based scheduling and LP-based binding</a:t>
            </a:r>
            <a:endParaRPr lang="en-US" sz="850" dirty="0"/>
          </a:p>
        </p:txBody>
      </p:sp>
      <p:sp>
        <p:nvSpPr>
          <p:cNvPr id="24" name="Shape 22"/>
          <p:cNvSpPr/>
          <p:nvPr/>
        </p:nvSpPr>
        <p:spPr>
          <a:xfrm>
            <a:off x="4709145" y="2041847"/>
            <a:ext cx="3943499" cy="713482"/>
          </a:xfrm>
          <a:prstGeom prst="roundRect">
            <a:avLst>
              <a:gd name="adj" fmla="val 2282"/>
            </a:avLst>
          </a:prstGeom>
          <a:solidFill>
            <a:srgbClr val="B6D6FC"/>
          </a:solidFill>
          <a:ln/>
        </p:spPr>
        <p:txBody>
          <a:bodyPr/>
          <a:lstStyle/>
          <a:p>
            <a:endParaRPr lang="en-DE"/>
          </a:p>
        </p:txBody>
      </p:sp>
      <p:pic>
        <p:nvPicPr>
          <p:cNvPr id="25" name="Image 0" descr="preencoded.png"/>
          <p:cNvPicPr>
            <a:picLocks noChangeAspect="1"/>
          </p:cNvPicPr>
          <p:nvPr/>
        </p:nvPicPr>
        <p:blipFill>
          <a:blip r:embed="rId3"/>
          <a:stretch>
            <a:fillRect/>
          </a:stretch>
        </p:blipFill>
        <p:spPr>
          <a:xfrm>
            <a:off x="4817641" y="2201540"/>
            <a:ext cx="135657" cy="108496"/>
          </a:xfrm>
          <a:prstGeom prst="rect">
            <a:avLst/>
          </a:prstGeom>
        </p:spPr>
      </p:pic>
      <p:sp>
        <p:nvSpPr>
          <p:cNvPr id="26" name="Text 23"/>
          <p:cNvSpPr/>
          <p:nvPr/>
        </p:nvSpPr>
        <p:spPr>
          <a:xfrm>
            <a:off x="5061793" y="2154362"/>
            <a:ext cx="3482355" cy="488454"/>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000000"/>
                </a:solidFill>
                <a:latin typeface="Inter" pitchFamily="34" charset="0"/>
                <a:ea typeface="Inter" pitchFamily="34" charset="-122"/>
                <a:cs typeface="Inter" pitchFamily="34" charset="-120"/>
              </a:rPr>
              <a:t>Standard DSP benchmarks were chosen because they represent real-world compute-intensive applications where power efficiency is critical, such as signal processing in IoT and mobile devices.</a:t>
            </a:r>
            <a:endParaRPr lang="en-US" sz="850" dirty="0"/>
          </a:p>
        </p:txBody>
      </p:sp>
      <p:pic>
        <p:nvPicPr>
          <p:cNvPr id="27" name="Picture 26">
            <a:extLst>
              <a:ext uri="{FF2B5EF4-FFF2-40B4-BE49-F238E27FC236}">
                <a16:creationId xmlns:a16="http://schemas.microsoft.com/office/drawing/2014/main" id="{B38C588F-AAA1-5E92-9EF7-119992CFFCF9}"/>
              </a:ext>
            </a:extLst>
          </p:cNvPr>
          <p:cNvPicPr>
            <a:picLocks noChangeAspect="1"/>
          </p:cNvPicPr>
          <p:nvPr/>
        </p:nvPicPr>
        <p:blipFill>
          <a:blip r:embed="rId4"/>
          <a:stretch>
            <a:fillRect/>
          </a:stretch>
        </p:blipFill>
        <p:spPr>
          <a:xfrm>
            <a:off x="7389022" y="4277083"/>
            <a:ext cx="1754978" cy="8353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360090"/>
            <a:ext cx="3219152" cy="345281"/>
          </a:xfrm>
          <a:prstGeom prst="rect">
            <a:avLst/>
          </a:prstGeom>
          <a:noFill/>
          <a:ln/>
        </p:spPr>
        <p:txBody>
          <a:bodyPr wrap="none" lIns="0" tIns="0" rIns="0" bIns="0" rtlCol="0" anchor="t"/>
          <a:lstStyle/>
          <a:p>
            <a:pPr marL="0" indent="0" algn="l">
              <a:lnSpc>
                <a:spcPct val="104000"/>
              </a:lnSpc>
              <a:buNone/>
            </a:pPr>
            <a:r>
              <a:rPr lang="en-US" sz="2150" dirty="0">
                <a:solidFill>
                  <a:srgbClr val="161613"/>
                </a:solidFill>
                <a:latin typeface="DM Sans Medium" pitchFamily="34" charset="0"/>
                <a:ea typeface="DM Sans Medium" pitchFamily="34" charset="-122"/>
                <a:cs typeface="DM Sans Medium" pitchFamily="34" charset="-120"/>
              </a:rPr>
              <a:t>Experimental Results</a:t>
            </a:r>
            <a:endParaRPr lang="en-US" sz="2150" dirty="0"/>
          </a:p>
        </p:txBody>
      </p:sp>
      <p:pic>
        <p:nvPicPr>
          <p:cNvPr id="3" name="Image 0" descr="preencoded.png"/>
          <p:cNvPicPr>
            <a:picLocks noChangeAspect="1"/>
          </p:cNvPicPr>
          <p:nvPr/>
        </p:nvPicPr>
        <p:blipFill>
          <a:blip r:embed="rId3"/>
          <a:stretch>
            <a:fillRect/>
          </a:stretch>
        </p:blipFill>
        <p:spPr>
          <a:xfrm>
            <a:off x="496119" y="963588"/>
            <a:ext cx="4362152" cy="2993752"/>
          </a:xfrm>
          <a:prstGeom prst="rect">
            <a:avLst/>
          </a:prstGeom>
        </p:spPr>
      </p:pic>
      <p:sp>
        <p:nvSpPr>
          <p:cNvPr id="4" name="Text 1"/>
          <p:cNvSpPr/>
          <p:nvPr/>
        </p:nvSpPr>
        <p:spPr>
          <a:xfrm>
            <a:off x="5132561" y="951309"/>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Key Findings</a:t>
            </a:r>
            <a:endParaRPr lang="en-US" sz="10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8274" y="1234604"/>
            <a:ext cx="3534296" cy="854720"/>
          </a:xfrm>
          <a:prstGeom prst="rect">
            <a:avLst/>
          </a:prstGeom>
        </p:spPr>
      </p:pic>
      <p:sp>
        <p:nvSpPr>
          <p:cNvPr id="6" name="Text 2"/>
          <p:cNvSpPr/>
          <p:nvPr/>
        </p:nvSpPr>
        <p:spPr>
          <a:xfrm>
            <a:off x="5300142" y="1359322"/>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6.3% — Scheduling</a:t>
            </a:r>
            <a:endParaRPr lang="en-US" sz="1050" dirty="0"/>
          </a:p>
        </p:txBody>
      </p:sp>
      <p:sp>
        <p:nvSpPr>
          <p:cNvPr id="7" name="Text 3"/>
          <p:cNvSpPr/>
          <p:nvPr/>
        </p:nvSpPr>
        <p:spPr>
          <a:xfrm>
            <a:off x="5300142" y="1630338"/>
            <a:ext cx="3227710"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Inter" pitchFamily="34" charset="0"/>
                <a:ea typeface="Inter" pitchFamily="34" charset="-122"/>
                <a:cs typeface="Inter" pitchFamily="34" charset="-120"/>
              </a:rPr>
              <a:t>Game-theoretic scheduling outperforms classical ILP-based scheduling on power.</a:t>
            </a:r>
            <a:endParaRPr lang="en-US" sz="8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8274" y="2187699"/>
            <a:ext cx="3534296" cy="854720"/>
          </a:xfrm>
          <a:prstGeom prst="rect">
            <a:avLst/>
          </a:prstGeom>
        </p:spPr>
      </p:pic>
      <p:sp>
        <p:nvSpPr>
          <p:cNvPr id="9" name="Text 4"/>
          <p:cNvSpPr/>
          <p:nvPr/>
        </p:nvSpPr>
        <p:spPr>
          <a:xfrm>
            <a:off x="5300142" y="2312417"/>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13.9% — Binding</a:t>
            </a:r>
            <a:endParaRPr lang="en-US" sz="1050" dirty="0"/>
          </a:p>
        </p:txBody>
      </p:sp>
      <p:sp>
        <p:nvSpPr>
          <p:cNvPr id="10" name="Text 5"/>
          <p:cNvSpPr/>
          <p:nvPr/>
        </p:nvSpPr>
        <p:spPr>
          <a:xfrm>
            <a:off x="5300142" y="2583433"/>
            <a:ext cx="3227710"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Inter" pitchFamily="34" charset="0"/>
                <a:ea typeface="Inter" pitchFamily="34" charset="-122"/>
                <a:cs typeface="Inter" pitchFamily="34" charset="-120"/>
              </a:rPr>
              <a:t>Auction-based binding yields the largest individual improvement vs. LP binding.</a:t>
            </a:r>
            <a:endParaRPr lang="en-US" sz="8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8274" y="3140794"/>
            <a:ext cx="3534296" cy="854720"/>
          </a:xfrm>
          <a:prstGeom prst="rect">
            <a:avLst/>
          </a:prstGeom>
        </p:spPr>
      </p:pic>
      <p:sp>
        <p:nvSpPr>
          <p:cNvPr id="12" name="Text 6"/>
          <p:cNvSpPr/>
          <p:nvPr/>
        </p:nvSpPr>
        <p:spPr>
          <a:xfrm>
            <a:off x="5300142" y="3265512"/>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11.8% — Combined</a:t>
            </a:r>
            <a:endParaRPr lang="en-US" sz="1050" dirty="0"/>
          </a:p>
        </p:txBody>
      </p:sp>
      <p:sp>
        <p:nvSpPr>
          <p:cNvPr id="13" name="Text 7"/>
          <p:cNvSpPr/>
          <p:nvPr/>
        </p:nvSpPr>
        <p:spPr>
          <a:xfrm>
            <a:off x="5300142" y="3536528"/>
            <a:ext cx="3227710"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161613"/>
                </a:solidFill>
                <a:latin typeface="Inter" pitchFamily="34" charset="0"/>
                <a:ea typeface="Inter" pitchFamily="34" charset="-122"/>
                <a:cs typeface="Inter" pitchFamily="34" charset="-120"/>
              </a:rPr>
              <a:t>Joint scheduling + binding delivers strong end-to-end power savings.</a:t>
            </a:r>
            <a:endParaRPr lang="en-US" sz="850" dirty="0"/>
          </a:p>
        </p:txBody>
      </p:sp>
      <p:sp>
        <p:nvSpPr>
          <p:cNvPr id="14" name="Shape 8"/>
          <p:cNvSpPr/>
          <p:nvPr/>
        </p:nvSpPr>
        <p:spPr>
          <a:xfrm>
            <a:off x="5132561" y="4106168"/>
            <a:ext cx="3520008" cy="566589"/>
          </a:xfrm>
          <a:prstGeom prst="roundRect">
            <a:avLst>
              <a:gd name="adj" fmla="val 2925"/>
            </a:avLst>
          </a:prstGeom>
          <a:solidFill>
            <a:srgbClr val="B6FCB8"/>
          </a:solidFill>
          <a:ln/>
        </p:spPr>
        <p:txBody>
          <a:bodyPr/>
          <a:lstStyle/>
          <a:p>
            <a:endParaRPr lang="en-DE"/>
          </a:p>
        </p:txBody>
      </p:sp>
      <p:pic>
        <p:nvPicPr>
          <p:cNvPr id="15" name="Image 4" descr="preencoded.png"/>
          <p:cNvPicPr>
            <a:picLocks noChangeAspect="1"/>
          </p:cNvPicPr>
          <p:nvPr/>
        </p:nvPicPr>
        <p:blipFill>
          <a:blip r:embed="rId5"/>
          <a:stretch>
            <a:fillRect/>
          </a:stretch>
        </p:blipFill>
        <p:spPr>
          <a:xfrm>
            <a:off x="5242992" y="4266605"/>
            <a:ext cx="138038" cy="110430"/>
          </a:xfrm>
          <a:prstGeom prst="rect">
            <a:avLst/>
          </a:prstGeom>
        </p:spPr>
      </p:pic>
      <p:sp>
        <p:nvSpPr>
          <p:cNvPr id="16" name="Text 9"/>
          <p:cNvSpPr/>
          <p:nvPr/>
        </p:nvSpPr>
        <p:spPr>
          <a:xfrm>
            <a:off x="5491460" y="4222328"/>
            <a:ext cx="3050679"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000000"/>
                </a:solidFill>
                <a:latin typeface="Inter" pitchFamily="34" charset="0"/>
                <a:ea typeface="Inter" pitchFamily="34" charset="-122"/>
                <a:cs typeface="Inter" pitchFamily="34" charset="-120"/>
              </a:rPr>
              <a:t>Chip area did not increase. Runtime remained comparable to traditional methods.</a:t>
            </a:r>
            <a:endParaRPr lang="en-US" sz="850" dirty="0"/>
          </a:p>
        </p:txBody>
      </p:sp>
      <p:pic>
        <p:nvPicPr>
          <p:cNvPr id="17" name="Picture 16">
            <a:extLst>
              <a:ext uri="{FF2B5EF4-FFF2-40B4-BE49-F238E27FC236}">
                <a16:creationId xmlns:a16="http://schemas.microsoft.com/office/drawing/2014/main" id="{D0777296-8936-3CA1-9FE6-5A21EEFF26AB}"/>
              </a:ext>
            </a:extLst>
          </p:cNvPr>
          <p:cNvPicPr>
            <a:picLocks noChangeAspect="1"/>
          </p:cNvPicPr>
          <p:nvPr/>
        </p:nvPicPr>
        <p:blipFill>
          <a:blip r:embed="rId6"/>
          <a:stretch>
            <a:fillRect/>
          </a:stretch>
        </p:blipFill>
        <p:spPr>
          <a:xfrm>
            <a:off x="0" y="4308130"/>
            <a:ext cx="1754978" cy="8353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489049"/>
            <a:ext cx="3999979" cy="375493"/>
          </a:xfrm>
          <a:prstGeom prst="rect">
            <a:avLst/>
          </a:prstGeom>
          <a:noFill/>
          <a:ln/>
        </p:spPr>
        <p:txBody>
          <a:bodyPr wrap="none" lIns="0" tIns="0" rIns="0" bIns="0" rtlCol="0" anchor="t"/>
          <a:lstStyle/>
          <a:p>
            <a:pPr marL="0" indent="0" algn="l">
              <a:lnSpc>
                <a:spcPct val="104000"/>
              </a:lnSpc>
              <a:buNone/>
            </a:pPr>
            <a:r>
              <a:rPr lang="en-US" sz="2350" dirty="0">
                <a:solidFill>
                  <a:srgbClr val="161613"/>
                </a:solidFill>
                <a:latin typeface="DM Sans Medium" pitchFamily="34" charset="0"/>
                <a:ea typeface="DM Sans Medium" pitchFamily="34" charset="-122"/>
                <a:cs typeface="DM Sans Medium" pitchFamily="34" charset="-120"/>
              </a:rPr>
              <a:t>Conclusion &amp; References</a:t>
            </a:r>
            <a:endParaRPr lang="en-US" sz="2350" dirty="0"/>
          </a:p>
        </p:txBody>
      </p:sp>
      <p:sp>
        <p:nvSpPr>
          <p:cNvPr id="3" name="Text 1"/>
          <p:cNvSpPr/>
          <p:nvPr/>
        </p:nvSpPr>
        <p:spPr>
          <a:xfrm>
            <a:off x="496119" y="1155502"/>
            <a:ext cx="1959322"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Summary</a:t>
            </a:r>
            <a:endParaRPr lang="en-US" sz="1150" dirty="0"/>
          </a:p>
        </p:txBody>
      </p:sp>
      <p:sp>
        <p:nvSpPr>
          <p:cNvPr id="4" name="Text 2"/>
          <p:cNvSpPr/>
          <p:nvPr/>
        </p:nvSpPr>
        <p:spPr>
          <a:xfrm>
            <a:off x="496119" y="1459632"/>
            <a:ext cx="3929286" cy="2095872"/>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900" dirty="0">
                <a:solidFill>
                  <a:srgbClr val="161613"/>
                </a:solidFill>
                <a:latin typeface="Inter" pitchFamily="34" charset="0"/>
                <a:ea typeface="Inter" pitchFamily="34" charset="-122"/>
                <a:cs typeface="Inter" pitchFamily="34" charset="-120"/>
              </a:rPr>
              <a:t>HLS automates the translation of high-level code into optimized hardware</a:t>
            </a:r>
            <a:endParaRPr lang="en-US" sz="900" dirty="0"/>
          </a:p>
          <a:p>
            <a:pPr marL="342900" indent="-342900" algn="l">
              <a:lnSpc>
                <a:spcPct val="131000"/>
              </a:lnSpc>
              <a:buSzPct val="100000"/>
              <a:buChar char="•"/>
            </a:pPr>
            <a:r>
              <a:rPr lang="en-US" sz="900" dirty="0">
                <a:solidFill>
                  <a:srgbClr val="161613"/>
                </a:solidFill>
                <a:latin typeface="Inter" pitchFamily="34" charset="0"/>
                <a:ea typeface="Inter" pitchFamily="34" charset="-122"/>
                <a:cs typeface="Inter" pitchFamily="34" charset="-120"/>
              </a:rPr>
              <a:t>Scheduling and binding are the dominant levers for power control</a:t>
            </a:r>
            <a:endParaRPr lang="en-US" sz="900" dirty="0"/>
          </a:p>
          <a:p>
            <a:pPr marL="342900" indent="-342900" algn="l">
              <a:lnSpc>
                <a:spcPct val="131000"/>
              </a:lnSpc>
              <a:buSzPct val="100000"/>
              <a:buChar char="•"/>
            </a:pPr>
            <a:r>
              <a:rPr lang="en-US" sz="900" dirty="0">
                <a:solidFill>
                  <a:srgbClr val="161613"/>
                </a:solidFill>
                <a:latin typeface="Inter" pitchFamily="34" charset="0"/>
                <a:ea typeface="Inter" pitchFamily="34" charset="-122"/>
                <a:cs typeface="Inter" pitchFamily="34" charset="-120"/>
              </a:rPr>
              <a:t>Game theory models functional units as rational, power-minimizing players</a:t>
            </a:r>
            <a:endParaRPr lang="en-US" sz="900" dirty="0"/>
          </a:p>
          <a:p>
            <a:pPr marL="342900" indent="-342900" algn="l">
              <a:lnSpc>
                <a:spcPct val="131000"/>
              </a:lnSpc>
              <a:buSzPct val="100000"/>
              <a:buChar char="•"/>
            </a:pPr>
            <a:r>
              <a:rPr lang="en-US" sz="900" dirty="0">
                <a:solidFill>
                  <a:srgbClr val="161613"/>
                </a:solidFill>
                <a:latin typeface="Inter" pitchFamily="34" charset="0"/>
                <a:ea typeface="Inter" pitchFamily="34" charset="-122"/>
                <a:cs typeface="Inter" pitchFamily="34" charset="-120"/>
              </a:rPr>
              <a:t>Nash equilibrium produces a stable, provably efficient assignment</a:t>
            </a:r>
            <a:endParaRPr lang="en-US" sz="900" dirty="0"/>
          </a:p>
          <a:p>
            <a:pPr marL="342900" indent="-342900" algn="l">
              <a:lnSpc>
                <a:spcPct val="131000"/>
              </a:lnSpc>
              <a:buSzPct val="100000"/>
              <a:buChar char="•"/>
            </a:pPr>
            <a:r>
              <a:rPr lang="en-US" sz="900" dirty="0">
                <a:solidFill>
                  <a:srgbClr val="161613"/>
                </a:solidFill>
                <a:latin typeface="Inter" pitchFamily="34" charset="0"/>
                <a:ea typeface="Inter" pitchFamily="34" charset="-122"/>
                <a:cs typeface="Inter" pitchFamily="34" charset="-120"/>
              </a:rPr>
              <a:t>Results show </a:t>
            </a:r>
            <a:r>
              <a:rPr lang="en-US" sz="900" b="1" dirty="0">
                <a:solidFill>
                  <a:srgbClr val="161613"/>
                </a:solidFill>
                <a:latin typeface="Inter" pitchFamily="34" charset="0"/>
                <a:ea typeface="Inter" pitchFamily="34" charset="-122"/>
                <a:cs typeface="Inter" pitchFamily="34" charset="-120"/>
              </a:rPr>
              <a:t>up to 13.9%</a:t>
            </a:r>
            <a:r>
              <a:rPr lang="en-US" sz="900" dirty="0">
                <a:solidFill>
                  <a:srgbClr val="161613"/>
                </a:solidFill>
                <a:latin typeface="Inter" pitchFamily="34" charset="0"/>
                <a:ea typeface="Inter" pitchFamily="34" charset="-122"/>
                <a:cs typeface="Inter" pitchFamily="34" charset="-120"/>
              </a:rPr>
              <a:t> power reduction with no area penalty</a:t>
            </a:r>
            <a:endParaRPr lang="en-US" sz="900" dirty="0"/>
          </a:p>
          <a:p>
            <a:pPr marL="342900" indent="-342900" algn="l">
              <a:lnSpc>
                <a:spcPct val="131000"/>
              </a:lnSpc>
              <a:buSzPct val="100000"/>
              <a:buChar char="•"/>
            </a:pPr>
            <a:r>
              <a:rPr lang="en-US" sz="900" dirty="0">
                <a:solidFill>
                  <a:srgbClr val="161613"/>
                </a:solidFill>
                <a:latin typeface="Inter" pitchFamily="34" charset="0"/>
                <a:ea typeface="Inter" pitchFamily="34" charset="-122"/>
                <a:cs typeface="Inter" pitchFamily="34" charset="-120"/>
              </a:rPr>
              <a:t>Limitation: computational complexity grows with circuit size; slight latency increase observed in some benchmarks</a:t>
            </a:r>
            <a:endParaRPr lang="en-US" sz="900" dirty="0"/>
          </a:p>
        </p:txBody>
      </p:sp>
      <p:sp>
        <p:nvSpPr>
          <p:cNvPr id="5" name="Shape 3"/>
          <p:cNvSpPr/>
          <p:nvPr/>
        </p:nvSpPr>
        <p:spPr>
          <a:xfrm>
            <a:off x="496119" y="3686398"/>
            <a:ext cx="3929286" cy="837084"/>
          </a:xfrm>
          <a:prstGeom prst="roundRect">
            <a:avLst>
              <a:gd name="adj" fmla="val 2153"/>
            </a:avLst>
          </a:prstGeom>
          <a:solidFill>
            <a:srgbClr val="D6D6DC"/>
          </a:solidFill>
          <a:ln/>
        </p:spPr>
        <p:txBody>
          <a:bodyPr/>
          <a:lstStyle/>
          <a:p>
            <a:endParaRPr lang="en-DE"/>
          </a:p>
        </p:txBody>
      </p:sp>
      <p:pic>
        <p:nvPicPr>
          <p:cNvPr id="6" name="Image 0" descr="preencoded.png"/>
          <p:cNvPicPr>
            <a:picLocks noChangeAspect="1"/>
          </p:cNvPicPr>
          <p:nvPr/>
        </p:nvPicPr>
        <p:blipFill>
          <a:blip r:embed="rId3"/>
          <a:stretch>
            <a:fillRect/>
          </a:stretch>
        </p:blipFill>
        <p:spPr>
          <a:xfrm>
            <a:off x="616223" y="3864694"/>
            <a:ext cx="150168" cy="120104"/>
          </a:xfrm>
          <a:prstGeom prst="rect">
            <a:avLst/>
          </a:prstGeom>
        </p:spPr>
      </p:pic>
      <p:sp>
        <p:nvSpPr>
          <p:cNvPr id="7" name="Text 4"/>
          <p:cNvSpPr/>
          <p:nvPr/>
        </p:nvSpPr>
        <p:spPr>
          <a:xfrm>
            <a:off x="886495" y="3821088"/>
            <a:ext cx="3418805" cy="567705"/>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000000"/>
                </a:solidFill>
                <a:latin typeface="Inter" pitchFamily="34" charset="0"/>
                <a:ea typeface="Inter" pitchFamily="34" charset="-122"/>
                <a:cs typeface="Inter" pitchFamily="34" charset="-120"/>
              </a:rPr>
              <a:t>This approach is especially valuable for low-power embedded systems, IoT sensors, wearables, and mobile SoCs where every milliwatt matters.</a:t>
            </a:r>
            <a:endParaRPr lang="en-US" sz="900" dirty="0"/>
          </a:p>
        </p:txBody>
      </p:sp>
      <p:sp>
        <p:nvSpPr>
          <p:cNvPr id="8" name="Text 5"/>
          <p:cNvSpPr/>
          <p:nvPr/>
        </p:nvSpPr>
        <p:spPr>
          <a:xfrm>
            <a:off x="4723358" y="1155502"/>
            <a:ext cx="1959322"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References</a:t>
            </a:r>
            <a:endParaRPr lang="en-US" sz="11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071" y="1459855"/>
            <a:ext cx="3943573" cy="900410"/>
          </a:xfrm>
          <a:prstGeom prst="rect">
            <a:avLst/>
          </a:prstGeom>
        </p:spPr>
      </p:pic>
      <p:sp>
        <p:nvSpPr>
          <p:cNvPr id="10" name="Text 6"/>
          <p:cNvSpPr/>
          <p:nvPr/>
        </p:nvSpPr>
        <p:spPr>
          <a:xfrm>
            <a:off x="4872038" y="1474143"/>
            <a:ext cx="2476723"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[1] Murugavel &amp; Ranganathan, 2003</a:t>
            </a:r>
            <a:endParaRPr lang="en-US" sz="1150" dirty="0"/>
          </a:p>
        </p:txBody>
      </p:sp>
      <p:sp>
        <p:nvSpPr>
          <p:cNvPr id="11" name="Text 7"/>
          <p:cNvSpPr/>
          <p:nvPr/>
        </p:nvSpPr>
        <p:spPr>
          <a:xfrm>
            <a:off x="4872038" y="1778273"/>
            <a:ext cx="3780606" cy="567705"/>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161613"/>
                </a:solidFill>
                <a:latin typeface="Inter" pitchFamily="34" charset="0"/>
                <a:ea typeface="Inter" pitchFamily="34" charset="-122"/>
                <a:cs typeface="Inter" pitchFamily="34" charset="-120"/>
              </a:rPr>
              <a:t>A. K. Murugavel and N. Ranganathan, "A Game Theoretic Approach for Power Optimization During Behavioral Synthesis," </a:t>
            </a:r>
            <a:r>
              <a:rPr lang="en-US" sz="900" i="1" dirty="0">
                <a:solidFill>
                  <a:srgbClr val="161613"/>
                </a:solidFill>
                <a:latin typeface="Inter" pitchFamily="34" charset="0"/>
                <a:ea typeface="Inter" pitchFamily="34" charset="-122"/>
                <a:cs typeface="Inter" pitchFamily="34" charset="-120"/>
              </a:rPr>
              <a:t>IEEE Trans. VLSI Systems</a:t>
            </a:r>
            <a:r>
              <a:rPr lang="en-US" sz="900" dirty="0">
                <a:solidFill>
                  <a:srgbClr val="161613"/>
                </a:solidFill>
                <a:latin typeface="Inter" pitchFamily="34" charset="0"/>
                <a:ea typeface="Inter" pitchFamily="34" charset="-122"/>
                <a:cs typeface="Inter" pitchFamily="34" charset="-120"/>
              </a:rPr>
              <a:t>, vol. 11, no. 6, pp. 1031–1043, Dec. 2003.</a:t>
            </a:r>
            <a:endParaRPr lang="en-US" sz="9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9071" y="2564457"/>
            <a:ext cx="3943573" cy="711175"/>
          </a:xfrm>
          <a:prstGeom prst="rect">
            <a:avLst/>
          </a:prstGeom>
        </p:spPr>
      </p:pic>
      <p:sp>
        <p:nvSpPr>
          <p:cNvPr id="13" name="Text 8"/>
          <p:cNvSpPr/>
          <p:nvPr/>
        </p:nvSpPr>
        <p:spPr>
          <a:xfrm>
            <a:off x="4872038" y="2578745"/>
            <a:ext cx="1699915"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[2] Sumon Boiddo, HSHL</a:t>
            </a:r>
            <a:endParaRPr lang="en-US" sz="1150" dirty="0"/>
          </a:p>
        </p:txBody>
      </p:sp>
      <p:sp>
        <p:nvSpPr>
          <p:cNvPr id="14" name="Text 9"/>
          <p:cNvSpPr/>
          <p:nvPr/>
        </p:nvSpPr>
        <p:spPr>
          <a:xfrm>
            <a:off x="4872038" y="2882875"/>
            <a:ext cx="3780606"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161613"/>
                </a:solidFill>
                <a:latin typeface="Inter" pitchFamily="34" charset="0"/>
                <a:ea typeface="Inter" pitchFamily="34" charset="-122"/>
                <a:cs typeface="Inter" pitchFamily="34" charset="-120"/>
              </a:rPr>
              <a:t>S. Boiddo, "High-Level Synthesis with Game Theoretic Scheduling," Seminar Paper, Hochschule Hamm-Lippstadt</a:t>
            </a:r>
            <a:endParaRPr lang="en-US" sz="900" dirty="0"/>
          </a:p>
        </p:txBody>
      </p:sp>
      <p:pic>
        <p:nvPicPr>
          <p:cNvPr id="15" name="Picture 14">
            <a:extLst>
              <a:ext uri="{FF2B5EF4-FFF2-40B4-BE49-F238E27FC236}">
                <a16:creationId xmlns:a16="http://schemas.microsoft.com/office/drawing/2014/main" id="{19B61A17-8C4E-158F-A56F-176698C1722F}"/>
              </a:ext>
            </a:extLst>
          </p:cNvPr>
          <p:cNvPicPr>
            <a:picLocks noChangeAspect="1"/>
          </p:cNvPicPr>
          <p:nvPr/>
        </p:nvPicPr>
        <p:blipFill>
          <a:blip r:embed="rId6"/>
          <a:stretch>
            <a:fillRect/>
          </a:stretch>
        </p:blipFill>
        <p:spPr>
          <a:xfrm>
            <a:off x="7348761" y="4308130"/>
            <a:ext cx="1754978" cy="8353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429000" y="0"/>
            <a:ext cx="5715000" cy="5143500"/>
          </a:xfrm>
          <a:prstGeom prst="rect">
            <a:avLst/>
          </a:prstGeom>
        </p:spPr>
      </p:pic>
      <p:sp>
        <p:nvSpPr>
          <p:cNvPr id="3" name="Text 0"/>
          <p:cNvSpPr/>
          <p:nvPr/>
        </p:nvSpPr>
        <p:spPr>
          <a:xfrm>
            <a:off x="496119" y="2184202"/>
            <a:ext cx="2436763" cy="775097"/>
          </a:xfrm>
          <a:prstGeom prst="rect">
            <a:avLst/>
          </a:prstGeom>
          <a:noFill/>
          <a:ln/>
        </p:spPr>
        <p:txBody>
          <a:bodyPr wrap="square" lIns="0" tIns="0" rIns="0" bIns="0" rtlCol="0" anchor="t">
            <a:normAutofit/>
          </a:bodyPr>
          <a:lstStyle/>
          <a:p>
            <a:pPr marL="0" indent="0" algn="ctr">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Thank You for Your Attention </a:t>
            </a:r>
            <a:endParaRPr lang="en-US" sz="2400" dirty="0"/>
          </a:p>
        </p:txBody>
      </p:sp>
      <p:pic>
        <p:nvPicPr>
          <p:cNvPr id="4" name="Picture 3">
            <a:extLst>
              <a:ext uri="{FF2B5EF4-FFF2-40B4-BE49-F238E27FC236}">
                <a16:creationId xmlns:a16="http://schemas.microsoft.com/office/drawing/2014/main" id="{B85C67EF-4104-7F5B-E77D-17AE83443994}"/>
              </a:ext>
            </a:extLst>
          </p:cNvPr>
          <p:cNvPicPr>
            <a:picLocks noChangeAspect="1"/>
          </p:cNvPicPr>
          <p:nvPr/>
        </p:nvPicPr>
        <p:blipFill>
          <a:blip r:embed="rId4"/>
          <a:stretch>
            <a:fillRect/>
          </a:stretch>
        </p:blipFill>
        <p:spPr>
          <a:xfrm>
            <a:off x="7389022" y="4308130"/>
            <a:ext cx="1754978" cy="8353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4938</TotalTime>
  <Words>1465</Words>
  <Application>Microsoft Office PowerPoint</Application>
  <PresentationFormat>On-screen Show (16:9)</PresentationFormat>
  <Paragraphs>166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DM Sans Medium</vt:lpstr>
      <vt:lpstr>DM Sans Light</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Sumon Boiddo</dc:creator>
  <cp:lastModifiedBy>sumonboiddo439@outlook.com</cp:lastModifiedBy>
  <cp:revision>2</cp:revision>
  <dcterms:created xsi:type="dcterms:W3CDTF">2026-06-17T15:14:02Z</dcterms:created>
  <dcterms:modified xsi:type="dcterms:W3CDTF">2026-06-21T22:06:09Z</dcterms:modified>
</cp:coreProperties>
</file>