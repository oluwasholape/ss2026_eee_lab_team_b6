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00A896">
              <a:alpha val="18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00A896">
              <a:alpha val="12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TECHNICAL PAPER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Sharing and Binding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within High-Level Synthesis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4114800" cy="36576"/>
          </a:xfrm>
          <a:prstGeom prst="rect">
            <a:avLst/>
          </a:prstGeom>
          <a:solidFill>
            <a:srgbClr val="F4C842"/>
          </a:solidFill>
          <a:ln w="12700">
            <a:solidFill>
              <a:srgbClr val="F4C8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926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Oluwasholape Oyemade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Electronic Engineering  ·  Hochschule Hamm-Lippstadt  ·  Lippstadt, Germany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1A3A4A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995928"/>
            <a:ext cx="192024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Sharing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651760" y="397764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1A3A4A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3995928"/>
            <a:ext cx="192024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 Algorithms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397764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1A3A4A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3995928"/>
            <a:ext cx="192024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Coloring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0" y="397764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1A3A4A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3995928"/>
            <a:ext cx="192024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Generation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High-Level Synthesis?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600200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HLS transforms a </a:t>
            </a:r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description</a:t>
            </a:r>
            <a:pPr indent="0" marL="0">
              <a:buNone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into a hardware implementation at </a:t>
            </a:r>
            <a:pPr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Transfer Level (RTL)</a:t>
            </a:r>
            <a:pPr indent="0" marL="0">
              <a:buNone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Designers work at an algorithmic level — HLS handles registers, multiplexers, and control logic.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29260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Sharing &amp; Binding?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3337560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reduces hardware area by reusing functional units and registers.
</a:t>
            </a:r>
            <a:pPr indent="0" marL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 is the assignment process that realizes sharing in the datapath.
</a:t>
            </a:r>
            <a:pPr indent="0" marL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2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they determine whether the final RTL is area-efficient or parallel.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46320" y="1051560"/>
            <a:ext cx="3840480" cy="1005840"/>
          </a:xfrm>
          <a:prstGeom prst="roundRect">
            <a:avLst>
              <a:gd name="adj" fmla="val 9091"/>
            </a:avLst>
          </a:prstGeom>
          <a:solidFill>
            <a:srgbClr val="1A3A4A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11556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SCHEDULING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152704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 operations execute?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2286000"/>
            <a:ext cx="3840480" cy="1005840"/>
          </a:xfrm>
          <a:prstGeom prst="roundRect">
            <a:avLst>
              <a:gd name="adj" fmla="val 9091"/>
            </a:avLst>
          </a:prstGeom>
          <a:solidFill>
            <a:srgbClr val="1A3A4A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235000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ALLOCATION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276148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resource types are available?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3520440"/>
            <a:ext cx="3840480" cy="1005840"/>
          </a:xfrm>
          <a:prstGeom prst="roundRect">
            <a:avLst>
              <a:gd name="adj" fmla="val 9091"/>
            </a:avLst>
          </a:prstGeom>
          <a:solidFill>
            <a:srgbClr val="00A896"/>
          </a:solidFill>
          <a:ln w="19050">
            <a:solidFill>
              <a:srgbClr val="F4C8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358444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BINDING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3995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operation uses which instance?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40690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of this paper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Mathematical Foundations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50392"/>
            <a:ext cx="32004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1A3A4A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Data-Flow Graph (DFG)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= (V, E)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operation nodes (arithmetic, logical, memory)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= dependency edges (data flows)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4023360" cy="1645920"/>
          </a:xfrm>
          <a:prstGeom prst="roundRect">
            <a:avLst>
              <a:gd name="adj" fmla="val 5556"/>
            </a:avLst>
          </a:prstGeom>
          <a:solidFill>
            <a:srgbClr val="1A3A4A"/>
          </a:solidFill>
          <a:ln w="12700">
            <a:solidFill>
              <a:srgbClr val="F4C8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188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 Function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55448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B: O → R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Assigns each operation to 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concrete hardware resource instance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926080"/>
            <a:ext cx="8412480" cy="1417320"/>
          </a:xfrm>
          <a:prstGeom prst="roundRect">
            <a:avLst>
              <a:gd name="adj" fmla="val 7742"/>
            </a:avLst>
          </a:prstGeom>
          <a:solidFill>
            <a:srgbClr val="0A2A1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0175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Condition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3375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operations op_i and op_j may share the same resource instance if and only if: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60720" y="3035808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C8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T(op_i) ∩ T(op_j) = ∅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760720" y="367588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8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(execution intervals are disjoint)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Sharing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0789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reuse of hardware units across compatible operations to reduce area and improve utilization.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65760" y="1627632"/>
            <a:ext cx="3977640" cy="2651760"/>
          </a:xfrm>
          <a:prstGeom prst="roundRect">
            <a:avLst>
              <a:gd name="adj" fmla="val 4138"/>
            </a:avLst>
          </a:prstGeom>
          <a:solidFill>
            <a:srgbClr val="0D1B2A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7373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Functional Unit Sharing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2920" y="2176272"/>
            <a:ext cx="3657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additions do not require three adders.
</a:t>
            </a:r>
            <a:pPr indent="0" marL="0">
              <a:buNone/>
            </a:pPr>
            <a:r>
              <a:rPr lang="en-US" sz="1200" dirty="0">
                <a:solidFill>
                  <a:srgbClr val="A8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additions execute in different clock cycles, a </a:t>
            </a:r>
            <a:pPr indent="0" marL="0">
              <a:buNone/>
            </a:pPr>
            <a:r>
              <a:rPr lang="en-US" sz="1200" b="1" dirty="0">
                <a:solidFill>
                  <a:srgbClr val="F4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adder</a:t>
            </a:r>
            <a:pPr indent="0" marL="0">
              <a:buNone/>
            </a:pPr>
            <a:r>
              <a:rPr lang="en-US" sz="1200" dirty="0">
                <a:solidFill>
                  <a:srgbClr val="A8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handles all of them.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</a:t>
            </a:r>
            <a:pPr indent="0" marL="0">
              <a:buNone/>
            </a:pPr>
            <a:r>
              <a:rPr lang="en-US" sz="1200" dirty="0">
                <a:solidFill>
                  <a:srgbClr val="A8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multiplexers to select operands + controller activation logic.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1627632"/>
            <a:ext cx="3977640" cy="2651760"/>
          </a:xfrm>
          <a:prstGeom prst="roundRect">
            <a:avLst>
              <a:gd name="adj" fmla="val 4138"/>
            </a:avLst>
          </a:prstGeom>
          <a:solidFill>
            <a:srgbClr val="0D1B2A"/>
          </a:solidFill>
          <a:ln w="19050">
            <a:solidFill>
              <a:srgbClr val="F4C8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7373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Register Sharing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937760" y="2176272"/>
            <a:ext cx="3657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with </a:t>
            </a:r>
            <a:pPr indent="0" marL="0">
              <a:buNone/>
            </a:pPr>
            <a:r>
              <a:rPr lang="en-US" sz="1200" b="1" dirty="0">
                <a:solidFill>
                  <a:srgbClr val="F4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non-overlapping lifetimes</a:t>
            </a:r>
            <a:pPr indent="0" marL="0">
              <a:buNone/>
            </a:pPr>
            <a:r>
              <a:rPr lang="en-US" sz="1200" dirty="0">
                <a:solidFill>
                  <a:srgbClr val="A8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share one physical register.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
</a:t>
            </a:r>
            <a:pPr indent="0" marL="0">
              <a:buNone/>
            </a:pPr>
            <a:r>
              <a:rPr lang="en-US" sz="1200" dirty="0">
                <a:solidFill>
                  <a:srgbClr val="A8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x: produced cycle 1 → used cycle 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y: produced cycle 4 → used cycle 6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Lifetimes disjoint →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register suffices.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446227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Sharing reduces both arithmetic units AND storage — but poor register binding can increase multiplexing and routing cost.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Binding — The Mechanism of Sharing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E0F4F1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15568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 specifies on which resource type and on which resource instance a task is implemented. It is the synthesis task that directly realizes sharing in the generated architecture. (Teich &amp; Haubelt)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6576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Can Binding Occur?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2423160"/>
            <a:ext cx="2697480" cy="1051560"/>
          </a:xfrm>
          <a:prstGeom prst="roundRect">
            <a:avLst>
              <a:gd name="adj" fmla="val 8696"/>
            </a:avLst>
          </a:prstGeom>
          <a:solidFill>
            <a:srgbClr val="1A3A4A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49631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Scheduling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2871216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 constraints guide the scheduler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2423160"/>
            <a:ext cx="2697480" cy="1051560"/>
          </a:xfrm>
          <a:prstGeom prst="roundRect">
            <a:avLst>
              <a:gd name="adj" fmla="val 8696"/>
            </a:avLst>
          </a:prstGeom>
          <a:solidFill>
            <a:srgbClr val="1A3A4A"/>
          </a:solidFill>
          <a:ln w="19050">
            <a:solidFill>
              <a:srgbClr val="F4C8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37560" y="249631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Scheduling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337560" y="2871216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Intervals known → interval graph + LEFTEDGE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2423160"/>
            <a:ext cx="2697480" cy="1051560"/>
          </a:xfrm>
          <a:prstGeom prst="roundRect">
            <a:avLst>
              <a:gd name="adj" fmla="val 8696"/>
            </a:avLst>
          </a:prstGeom>
          <a:solidFill>
            <a:srgbClr val="1A3A4A"/>
          </a:solidFill>
          <a:ln w="19050">
            <a:solidFill>
              <a:srgbClr val="A8C0C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249631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8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with Scheduling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217920" y="2871216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optimization, higher complexity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834640" y="35204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4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Focus of this paper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388620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Levels of Binding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65760" y="425196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0D1B2A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31596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Resource-Type Binding  —  Multiplier? ALU? Memory?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425196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0D1B2A"/>
          </a:solidFill>
          <a:ln w="12700">
            <a:solidFill>
              <a:srgbClr val="F4C8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431596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Resource-Instance Binding  —  Multiplier 1 or 2?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4709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4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occurs here ↑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Graph-Theoretic Binding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36576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4023360" cy="1828800"/>
          </a:xfrm>
          <a:prstGeom prst="roundRect">
            <a:avLst>
              <a:gd name="adj" fmla="val 5000"/>
            </a:avLst>
          </a:prstGeom>
          <a:solidFill>
            <a:srgbClr val="1A3A4A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7899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 Graph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490472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Vertices: </a:t>
            </a:r>
            <a:pPr indent="0" marL="0">
              <a:buNone/>
            </a:pPr>
            <a:r>
              <a:rPr lang="en-US" sz="1200" dirty="0">
                <a:solidFill>
                  <a:srgbClr val="A8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Edge: </a:t>
            </a:r>
            <a:pPr indent="0" marL="0">
              <a:buNone/>
            </a:pPr>
            <a:r>
              <a:rPr lang="en-US" sz="1200" dirty="0">
                <a:solidFill>
                  <a:srgbClr val="A8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ops may share a resource
</a:t>
            </a:r>
            <a:pPr indent="0" marL="0">
              <a:buNone/>
            </a:pPr>
            <a:r>
              <a:rPr lang="en-US" sz="1200" dirty="0">
                <a:solidFill>
                  <a:srgbClr val="A8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binding → partition into minimum number of </a:t>
            </a:r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023360" cy="1828800"/>
          </a:xfrm>
          <a:prstGeom prst="roundRect">
            <a:avLst>
              <a:gd name="adj" fmla="val 5000"/>
            </a:avLst>
          </a:prstGeom>
          <a:solidFill>
            <a:srgbClr val="1A3A4A"/>
          </a:solidFill>
          <a:ln w="19050">
            <a:solidFill>
              <a:srgbClr val="F4C8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07899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Graph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92040" y="1490472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Vertices: </a:t>
            </a:r>
            <a:pPr indent="0" marL="0">
              <a:buNone/>
            </a:pPr>
            <a:r>
              <a:rPr lang="en-US" sz="1200" dirty="0">
                <a:solidFill>
                  <a:srgbClr val="A8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Edge: </a:t>
            </a:r>
            <a:pPr indent="0" marL="0">
              <a:buNone/>
            </a:pPr>
            <a:r>
              <a:rPr lang="en-US" sz="1200" dirty="0">
                <a:solidFill>
                  <a:srgbClr val="A8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ops CANNOT share a resource
</a:t>
            </a:r>
            <a:pPr indent="0" marL="0">
              <a:buNone/>
            </a:pPr>
            <a:r>
              <a:rPr lang="en-US" sz="1200" dirty="0">
                <a:solidFill>
                  <a:srgbClr val="A8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binding → </a:t>
            </a:r>
            <a:pPr indent="0" marL="0">
              <a:buNone/>
            </a:pPr>
            <a:r>
              <a:rPr lang="en-US" sz="1200" b="1" dirty="0">
                <a:solidFill>
                  <a:srgbClr val="F4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coloring</a:t>
            </a:r>
            <a:pPr indent="0" marL="0">
              <a:buNone/>
            </a:pPr>
            <a:r>
              <a:rPr lang="en-US" sz="1200" dirty="0">
                <a:solidFill>
                  <a:srgbClr val="A8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(each color = one resource instance)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999232"/>
            <a:ext cx="8412480" cy="1417320"/>
          </a:xfrm>
          <a:prstGeom prst="roundRect">
            <a:avLst>
              <a:gd name="adj" fmla="val 7742"/>
            </a:avLst>
          </a:prstGeom>
          <a:solidFill>
            <a:srgbClr val="0A2A1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090672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Scheduling → Interval Graph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49300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operation has interval  I_i = [l_i, r_i).  Two operations conflict ⟺ their intervals overlap.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385876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conflict graph of non-overlapping intervals forms an interval graph → colorable in polynomial time.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455371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4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 types: weak ·  schedule ·  strong   (this paper focuses on schedule compatibility)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LEFTEDGE Algorithm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297680" cy="3429000"/>
          </a:xfrm>
          <a:prstGeom prst="roundRect">
            <a:avLst>
              <a:gd name="adj" fmla="val 2667"/>
            </a:avLst>
          </a:prstGeom>
          <a:solidFill>
            <a:srgbClr val="0D1B2A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4300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536192"/>
            <a:ext cx="3977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LEFTEDGE(intervals):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sort intervals by start time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 = 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intervals not empty: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color = color + 1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each interval I in order: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start(I) &gt;= r: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assign color to I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 = finish(I)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remove I from intervals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colors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0" y="105156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&amp; Significance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029200" y="1536192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0F4F1"/>
          </a:solidFill>
          <a:ln w="63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66360" y="15819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Exact for interval graphs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66360" y="1828800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optimal (minimum) coloring.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0" y="2286000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0F4F1"/>
          </a:solidFill>
          <a:ln w="63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66360" y="2331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O(|V| log |V|) runtime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66360" y="2578608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Dominated by sorting step — highly efficient.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0" y="3035808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0F4F1"/>
          </a:solidFill>
          <a:ln w="63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166360" y="308152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  Design-time only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66360" y="3328416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runs during synthesis, not at runtime.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0" y="3785616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0F4F1"/>
          </a:solidFill>
          <a:ln w="63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166360" y="383133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Color = Resource instance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66360" y="4078224"/>
            <a:ext cx="3474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color → operations share one physical unit.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0" y="4590288"/>
            <a:ext cx="3749040" cy="384048"/>
          </a:xfrm>
          <a:prstGeom prst="roundRect">
            <a:avLst>
              <a:gd name="adj" fmla="val 19048"/>
            </a:avLst>
          </a:prstGeom>
          <a:solidFill>
            <a:srgbClr val="0D1B2A"/>
          </a:solidFill>
          <a:ln w="12700">
            <a:solidFill>
              <a:srgbClr val="F4C8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462686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4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 example: 5 ops → 2 resource instances (colors)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LEFTEDGE — Worked Example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4572000" cy="36576"/>
          </a:xfrm>
          <a:prstGeom prst="rect">
            <a:avLst/>
          </a:prstGeom>
          <a:solidFill>
            <a:srgbClr val="F4C842"/>
          </a:solidFill>
          <a:ln w="12700">
            <a:solidFill>
              <a:srgbClr val="F4C8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multiplication operations to bind onto minimum multiplier instances: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38404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38988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0" y="138988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0" y="138988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0" y="138988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Overlaps with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0" y="138988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755648"/>
            <a:ext cx="8229600" cy="457200"/>
          </a:xfrm>
          <a:prstGeom prst="rect">
            <a:avLst/>
          </a:prstGeom>
          <a:solidFill>
            <a:srgbClr val="0A2030"/>
          </a:solidFill>
          <a:ln w="6350">
            <a:solidFill>
              <a:srgbClr val="1A3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180136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86000" y="180136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[1, 3)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180136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180136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75120" y="1828800"/>
            <a:ext cx="914400" cy="310896"/>
          </a:xfrm>
          <a:prstGeom prst="roundRect">
            <a:avLst>
              <a:gd name="adj" fmla="val 17647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183794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231136"/>
            <a:ext cx="8229600" cy="457200"/>
          </a:xfrm>
          <a:prstGeom prst="rect">
            <a:avLst/>
          </a:prstGeom>
          <a:solidFill>
            <a:srgbClr val="0D2535"/>
          </a:solidFill>
          <a:ln w="6350">
            <a:solidFill>
              <a:srgbClr val="1A3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227685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286000" y="227685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[2, 6)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74720" y="2276856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0" y="2276856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Mul1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675120" y="2304288"/>
            <a:ext cx="914400" cy="310896"/>
          </a:xfrm>
          <a:prstGeom prst="roundRect">
            <a:avLst>
              <a:gd name="adj" fmla="val 17647"/>
            </a:avLst>
          </a:prstGeom>
          <a:solidFill>
            <a:srgbClr val="F4C842"/>
          </a:solidFill>
          <a:ln w="12700">
            <a:solidFill>
              <a:srgbClr val="F4C8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231343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2706624"/>
            <a:ext cx="8229600" cy="457200"/>
          </a:xfrm>
          <a:prstGeom prst="rect">
            <a:avLst/>
          </a:prstGeom>
          <a:solidFill>
            <a:srgbClr val="0A2030"/>
          </a:solidFill>
          <a:ln w="6350">
            <a:solidFill>
              <a:srgbClr val="1A3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0" y="275234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286000" y="275234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[3, 5)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74720" y="2752344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0" y="2752344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675120" y="2779776"/>
            <a:ext cx="914400" cy="310896"/>
          </a:xfrm>
          <a:prstGeom prst="roundRect">
            <a:avLst>
              <a:gd name="adj" fmla="val 17647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0" y="278892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1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3182112"/>
            <a:ext cx="8229600" cy="457200"/>
          </a:xfrm>
          <a:prstGeom prst="rect">
            <a:avLst/>
          </a:prstGeom>
          <a:solidFill>
            <a:srgbClr val="0D2535"/>
          </a:solidFill>
          <a:ln w="6350">
            <a:solidFill>
              <a:srgbClr val="1A3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97280" y="322783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286000" y="322783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[5, 7)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474720" y="322783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29200" y="322783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Mul2, Mul3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675120" y="3255264"/>
            <a:ext cx="914400" cy="310896"/>
          </a:xfrm>
          <a:prstGeom prst="roundRect">
            <a:avLst>
              <a:gd name="adj" fmla="val 17647"/>
            </a:avLst>
          </a:prstGeom>
          <a:solidFill>
            <a:srgbClr val="F4C842"/>
          </a:solidFill>
          <a:ln w="12700">
            <a:solidFill>
              <a:srgbClr val="F4C84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75120" y="326440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2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solidFill>
            <a:srgbClr val="0A2030"/>
          </a:solidFill>
          <a:ln w="6350">
            <a:solidFill>
              <a:srgbClr val="1A3A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97280" y="370332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Mul4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286000" y="370332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[6, 8)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474720" y="370332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Multiplier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029200" y="370332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Mul5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675120" y="3730752"/>
            <a:ext cx="914400" cy="310896"/>
          </a:xfrm>
          <a:prstGeom prst="roundRect">
            <a:avLst>
              <a:gd name="adj" fmla="val 17647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75120" y="3739896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1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57200" y="425196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1A3A4A"/>
          </a:solidFill>
          <a:ln w="19050">
            <a:solidFill>
              <a:srgbClr val="F4C84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4325112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5 multiplications → 2 multiplier instances   |   Color 1 = Multiplier 1  ·  Color 2 = Multiplier 2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Runtime &amp; Hardware Overhead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of Sharing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572768"/>
            <a:ext cx="3977640" cy="658368"/>
          </a:xfrm>
          <a:prstGeom prst="roundRect">
            <a:avLst>
              <a:gd name="adj" fmla="val 11111"/>
            </a:avLst>
          </a:prstGeom>
          <a:solidFill>
            <a:srgbClr val="E0F4F1"/>
          </a:solidFill>
          <a:ln w="63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6184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 Area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1874520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adders, multipliers, registers instantiated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350008"/>
            <a:ext cx="3977640" cy="658368"/>
          </a:xfrm>
          <a:prstGeom prst="roundRect">
            <a:avLst>
              <a:gd name="adj" fmla="val 11111"/>
            </a:avLst>
          </a:prstGeom>
          <a:solidFill>
            <a:srgbClr val="E0F4F1"/>
          </a:solidFill>
          <a:ln w="63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395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 Utilization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2651760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resource instance used by multiple operations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127248"/>
            <a:ext cx="3977640" cy="658368"/>
          </a:xfrm>
          <a:prstGeom prst="roundRect">
            <a:avLst>
              <a:gd name="adj" fmla="val 11111"/>
            </a:avLst>
          </a:prstGeom>
          <a:solidFill>
            <a:srgbClr val="E0F4F1"/>
          </a:solidFill>
          <a:ln w="63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31729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Equivalent Behavior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2920" y="3429000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is functionally identical to unshared version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904488"/>
            <a:ext cx="3977640" cy="658368"/>
          </a:xfrm>
          <a:prstGeom prst="roundRect">
            <a:avLst>
              <a:gd name="adj" fmla="val 11111"/>
            </a:avLst>
          </a:prstGeom>
          <a:solidFill>
            <a:srgbClr val="E0F4F1"/>
          </a:solidFill>
          <a:ln w="63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39502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O(|V|log|V|)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4206240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LEFTEDGE runtime — fast at design time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109728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Overhead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800600" y="1572768"/>
            <a:ext cx="3977640" cy="658368"/>
          </a:xfrm>
          <a:prstGeom prst="roundRect">
            <a:avLst>
              <a:gd name="adj" fmla="val 11111"/>
            </a:avLst>
          </a:prstGeom>
          <a:solidFill>
            <a:srgbClr val="FFF8E8"/>
          </a:solidFill>
          <a:ln w="6350">
            <a:solidFill>
              <a:srgbClr val="F4C8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37760" y="16184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⊕ Multiplexers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937760" y="1874520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to route correct operands to shared units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2350008"/>
            <a:ext cx="3977640" cy="658368"/>
          </a:xfrm>
          <a:prstGeom prst="roundRect">
            <a:avLst>
              <a:gd name="adj" fmla="val 11111"/>
            </a:avLst>
          </a:prstGeom>
          <a:solidFill>
            <a:srgbClr val="FFF8E8"/>
          </a:solidFill>
          <a:ln w="6350">
            <a:solidFill>
              <a:srgbClr val="F4C8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37760" y="2395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⊕ Control Logic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937760" y="2651760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activates resources per clock cycle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3127248"/>
            <a:ext cx="3977640" cy="658368"/>
          </a:xfrm>
          <a:prstGeom prst="roundRect">
            <a:avLst>
              <a:gd name="adj" fmla="val 11111"/>
            </a:avLst>
          </a:prstGeom>
          <a:solidFill>
            <a:srgbClr val="FFF8E8"/>
          </a:solidFill>
          <a:ln w="6350">
            <a:solidFill>
              <a:srgbClr val="F4C8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37760" y="31729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⊕ Routing Complexity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937760" y="3429000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interconnects possible with heavy sharing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00600" y="3904488"/>
            <a:ext cx="3977640" cy="658368"/>
          </a:xfrm>
          <a:prstGeom prst="roundRect">
            <a:avLst>
              <a:gd name="adj" fmla="val 11111"/>
            </a:avLst>
          </a:prstGeom>
          <a:solidFill>
            <a:srgbClr val="FFF8E8"/>
          </a:solidFill>
          <a:ln w="6350">
            <a:solidFill>
              <a:srgbClr val="F4C8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937760" y="39502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⊕ Latency Trade-off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937760" y="4206240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Serialized ops → longer schedule possible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4681728"/>
            <a:ext cx="8412480" cy="347472"/>
          </a:xfrm>
          <a:prstGeom prst="roundRect">
            <a:avLst>
              <a:gd name="adj" fmla="val 21053"/>
            </a:avLst>
          </a:prstGeom>
          <a:solidFill>
            <a:srgbClr val="0D1B2A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7183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is a design tradeoff — always evaluate area, latency, and control complexity together.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Application: FIR Filter Example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36576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1A3A4A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24128"/>
            <a:ext cx="8046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C8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y[n] = Σ  h_i · x[n−i]   for i = 0 to 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8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Parallel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4023360" cy="2103120"/>
          </a:xfrm>
          <a:prstGeom prst="roundRect">
            <a:avLst>
              <a:gd name="adj" fmla="val 4348"/>
            </a:avLst>
          </a:prstGeom>
          <a:solidFill>
            <a:srgbClr val="0A2030"/>
          </a:solidFill>
          <a:ln w="12700">
            <a:solidFill>
              <a:srgbClr val="A8C0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267712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A8C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Mul1 → Multiplier 1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A8C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Mul2 → Multiplier 2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A8C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Mul3 → Multiplier 3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A8C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Mul4 → Multiplier 4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8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multipliers  ·  high throughput  ·  max area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0" y="27432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4C8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vs.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663440" y="173736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Binding (Shared)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2148840"/>
            <a:ext cx="4023360" cy="2103120"/>
          </a:xfrm>
          <a:prstGeom prst="roundRect">
            <a:avLst>
              <a:gd name="adj" fmla="val 4348"/>
            </a:avLst>
          </a:prstGeom>
          <a:solidFill>
            <a:srgbClr val="0A2A1F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23317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Mul1, Mul2 → Multiplier 1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Mul3, Mul4 → Multiplier 2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00600" y="34747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Requires: muxes to select operands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controller logic per cycle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663440" y="42976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multipliers  ·  50% area saving  ·  serialized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RTL Realization — Effect of Binding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07899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 decisions directly shape the generated RTL netlist — altering functional units, multiplexers, registers, and control logic.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4023360" cy="1463040"/>
          </a:xfrm>
          <a:prstGeom prst="roundRect">
            <a:avLst>
              <a:gd name="adj" fmla="val 7500"/>
            </a:avLst>
          </a:prstGeom>
          <a:solidFill>
            <a:srgbClr val="00A896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71907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Functional Units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2920" y="210312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0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multipliers/adders instantiated. Each handles multiple operations across time-multiplexed cycles.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1600200"/>
            <a:ext cx="4023360" cy="1463040"/>
          </a:xfrm>
          <a:prstGeom prst="roundRect">
            <a:avLst>
              <a:gd name="adj" fmla="val 7500"/>
            </a:avLst>
          </a:prstGeom>
          <a:solidFill>
            <a:srgbClr val="0D1B2A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71907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Multiplexers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892040" y="210312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to route correct operands to each shared unit. Number of mux inputs = number of operations sharing that unit.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3246120"/>
            <a:ext cx="4023360" cy="1463040"/>
          </a:xfrm>
          <a:prstGeom prst="roundRect">
            <a:avLst>
              <a:gd name="adj" fmla="val 7500"/>
            </a:avLst>
          </a:prstGeom>
          <a:solidFill>
            <a:srgbClr val="1A5A8A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336499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374904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0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intermediate values between cycles. Register binding reduces storage elements but may affect routing.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54880" y="3246120"/>
            <a:ext cx="4023360" cy="1463040"/>
          </a:xfrm>
          <a:prstGeom prst="roundRect">
            <a:avLst>
              <a:gd name="adj" fmla="val 7500"/>
            </a:avLst>
          </a:prstGeom>
          <a:solidFill>
            <a:srgbClr val="6A1A4A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92040" y="336499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Logic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892040" y="374904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0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 or controller activates the correct operation and selects operands each clock cycle based on the schedule.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65760" y="482803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 binding → different RTL cost even for the same behavioral algorithm.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Tradeoffs &amp; Limitations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41148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4023360" cy="2926080"/>
          </a:xfrm>
          <a:prstGeom prst="roundRect">
            <a:avLst>
              <a:gd name="adj" fmla="val 3750"/>
            </a:avLst>
          </a:prstGeom>
          <a:solidFill>
            <a:srgbClr val="1A3A4A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972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Where Sharing Works Well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572768"/>
            <a:ext cx="3749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A8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Area-constrained designs (embedded, IoT, low-cost FPGA)
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A8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throughput requirements allow serialization
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A8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are already spread over many clock cycles
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A8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intervals are fixed → LEFTEDGE is directly applicable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023360" cy="2926080"/>
          </a:xfrm>
          <a:prstGeom prst="roundRect">
            <a:avLst>
              <a:gd name="adj" fmla="val 3750"/>
            </a:avLst>
          </a:prstGeom>
          <a:solidFill>
            <a:srgbClr val="1A3A4A"/>
          </a:solidFill>
          <a:ln w="19050">
            <a:solidFill>
              <a:srgbClr val="F4C8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0972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Limitations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92040" y="1572768"/>
            <a:ext cx="3749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A8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suitable for high-parallelism or strict low-latency designs
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A8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operations cannot share a non-pipelined resource
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A8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resource count ≠ globally optimal timing/power/routing
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A8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Interconnect and multiplexer depth not captured by interval model alone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4096512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0A2A1F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16966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Design-Space Implication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4622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sharing → fewer resources, less parallelism.  Less sharing → more parallelism, higher area cost.  HLS tools explore multiple schedule-binding pairs to find the best area-performance tradeoff.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840480" cy="3840480"/>
          </a:xfrm>
          <a:prstGeom prst="ellipse">
            <a:avLst/>
          </a:prstGeom>
          <a:solidFill>
            <a:srgbClr val="00A896">
              <a:alpha val="15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657600"/>
            <a:ext cx="3200400" cy="3200400"/>
          </a:xfrm>
          <a:prstGeom prst="ellipse">
            <a:avLst/>
          </a:prstGeom>
          <a:solidFill>
            <a:srgbClr val="00A896">
              <a:alpha val="12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Sharing and Binding in HLS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4572000" cy="36576"/>
          </a:xfrm>
          <a:prstGeom prst="rect">
            <a:avLst/>
          </a:prstGeom>
          <a:solidFill>
            <a:srgbClr val="F4C842"/>
          </a:solidFill>
          <a:ln w="12700">
            <a:solidFill>
              <a:srgbClr val="F4C8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72768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1A3A4A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609344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1618488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sharing reuses functional units and registers across compatible operations, reducing hardware area.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221992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1A3A4A"/>
          </a:solidFill>
          <a:ln w="12700">
            <a:solidFill>
              <a:srgbClr val="F4C8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2258568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2267712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 is the synthesis mechanism that assigns operations to resource instances, realizing sharing in the datapath.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871216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1A3A4A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2907792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2916936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Binding-after-scheduling yields an interval graph, solvable exactly and efficiently with LEFTEDGE in O(|V|log|V|).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1A3A4A"/>
          </a:solidFill>
          <a:ln w="12700">
            <a:solidFill>
              <a:srgbClr val="F4C8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557016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356616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 example demonstrates a 50% multiplier reduction, but introduces muxes, registers, and control overhead.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169664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1A3A4A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4206240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88720" y="4215384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HLS balances resource savings against latency, throughput, and implementation complexity.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Hochschule Hamm-Lippstadt · IEEE Format · Based on Teich &amp; Haubelt (2007)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Sharing and Binding within High-Level Synthesis</dc:title>
  <dc:subject>PptxGenJS Presentation</dc:subject>
  <dc:creator>PptxGenJS</dc:creator>
  <cp:lastModifiedBy>PptxGenJS</cp:lastModifiedBy>
  <cp:revision>1</cp:revision>
  <dcterms:created xsi:type="dcterms:W3CDTF">2026-06-21T17:22:34Z</dcterms:created>
  <dcterms:modified xsi:type="dcterms:W3CDTF">2026-06-21T17:22:34Z</dcterms:modified>
</cp:coreProperties>
</file>