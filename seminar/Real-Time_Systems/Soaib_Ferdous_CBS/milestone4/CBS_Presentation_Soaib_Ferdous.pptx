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85" d="100"/>
          <a:sy n="85" d="100"/>
        </p:scale>
        <p:origin x="499"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864002" y="1438813"/>
            <a:ext cx="10027213" cy="1470025"/>
          </a:xfrm>
        </p:spPr>
        <p:txBody>
          <a:bodyPr>
            <a:normAutofit/>
          </a:bodyPr>
          <a:lstStyle>
            <a:lvl1pPr algn="l">
              <a:defRPr sz="4000" b="1" i="0">
                <a:latin typeface="Source Sans Pro"/>
                <a:cs typeface="Source Sans Pro"/>
              </a:defRPr>
            </a:lvl1pPr>
          </a:lstStyle>
          <a:p>
            <a:r>
              <a:rPr lang="en-US"/>
              <a:t>Click to edit Master title style</a:t>
            </a:r>
            <a:endParaRPr lang="de-DE" dirty="0"/>
          </a:p>
        </p:txBody>
      </p:sp>
      <p:sp>
        <p:nvSpPr>
          <p:cNvPr id="3" name="Untertitel 2"/>
          <p:cNvSpPr>
            <a:spLocks noGrp="1"/>
          </p:cNvSpPr>
          <p:nvPr>
            <p:ph type="subTitle" idx="1"/>
          </p:nvPr>
        </p:nvSpPr>
        <p:spPr>
          <a:xfrm>
            <a:off x="864002" y="3176700"/>
            <a:ext cx="10027213" cy="2254848"/>
          </a:xfrm>
        </p:spPr>
        <p:txBody>
          <a:bodyPr/>
          <a:lstStyle>
            <a:lvl1pPr marL="0" indent="0" algn="l">
              <a:buNone/>
              <a:defRPr b="0" i="0">
                <a:solidFill>
                  <a:schemeClr val="tx1"/>
                </a:solidFill>
                <a:latin typeface="Source Sans Pro"/>
                <a:cs typeface="Source Sans Pro"/>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de-DE" dirty="0"/>
          </a:p>
        </p:txBody>
      </p:sp>
      <p:sp>
        <p:nvSpPr>
          <p:cNvPr id="7" name="Datumsplatzhalter 3"/>
          <p:cNvSpPr>
            <a:spLocks noGrp="1"/>
          </p:cNvSpPr>
          <p:nvPr>
            <p:ph type="dt" sz="half" idx="2"/>
          </p:nvPr>
        </p:nvSpPr>
        <p:spPr>
          <a:xfrm>
            <a:off x="864000" y="6492816"/>
            <a:ext cx="2844800" cy="111954"/>
          </a:xfrm>
          <a:prstGeom prst="rect">
            <a:avLst/>
          </a:prstGeom>
        </p:spPr>
        <p:txBody>
          <a:bodyPr vert="horz" lIns="0" tIns="0" rIns="0" bIns="0" rtlCol="0" anchor="ctr"/>
          <a:lstStyle>
            <a:lvl1pPr algn="l">
              <a:defRPr sz="700" b="0" i="0">
                <a:solidFill>
                  <a:schemeClr val="tx1"/>
                </a:solidFill>
                <a:latin typeface="Source Sans Pro"/>
                <a:cs typeface="Source Sans Pro"/>
              </a:defRPr>
            </a:lvl1pPr>
          </a:lstStyle>
          <a:p>
            <a:fld id="{65671D92-7CEF-47A0-BCBA-17945E08BD7F}" type="datetimeFigureOut">
              <a:rPr lang="de-DE" smtClean="0"/>
              <a:t>29.06.2026</a:t>
            </a:fld>
            <a:endParaRPr lang="de-DE"/>
          </a:p>
        </p:txBody>
      </p:sp>
      <p:sp>
        <p:nvSpPr>
          <p:cNvPr id="8" name="Foliennummernplatzhalter 5"/>
          <p:cNvSpPr>
            <a:spLocks noGrp="1"/>
          </p:cNvSpPr>
          <p:nvPr>
            <p:ph type="sldNum" sz="quarter" idx="4"/>
          </p:nvPr>
        </p:nvSpPr>
        <p:spPr>
          <a:xfrm>
            <a:off x="8531200" y="6493481"/>
            <a:ext cx="2844800" cy="111290"/>
          </a:xfrm>
          <a:prstGeom prst="rect">
            <a:avLst/>
          </a:prstGeom>
        </p:spPr>
        <p:txBody>
          <a:bodyPr vert="horz" lIns="0" tIns="0" rIns="0" bIns="0" rtlCol="0" anchor="ctr"/>
          <a:lstStyle>
            <a:lvl1pPr algn="r">
              <a:defRPr sz="700" b="1" i="0">
                <a:solidFill>
                  <a:schemeClr val="tx1"/>
                </a:solidFill>
                <a:latin typeface="Source Sans Pro"/>
                <a:cs typeface="Source Sans Pro"/>
              </a:defRPr>
            </a:lvl1pPr>
          </a:lstStyle>
          <a:p>
            <a:fld id="{427882D2-76ED-40F5-9AA8-D6B4E564DC54}" type="slidenum">
              <a:rPr lang="de-DE" smtClean="0"/>
              <a:t>‹#›</a:t>
            </a:fld>
            <a:endParaRPr lang="de-DE"/>
          </a:p>
        </p:txBody>
      </p:sp>
      <p:sp>
        <p:nvSpPr>
          <p:cNvPr id="6" name="Fußzeilenplatzhalter 4"/>
          <p:cNvSpPr>
            <a:spLocks noGrp="1"/>
          </p:cNvSpPr>
          <p:nvPr>
            <p:ph type="ftr" sz="quarter" idx="3"/>
          </p:nvPr>
        </p:nvSpPr>
        <p:spPr>
          <a:xfrm>
            <a:off x="4038600" y="6493481"/>
            <a:ext cx="4114800" cy="111290"/>
          </a:xfrm>
          <a:prstGeom prst="rect">
            <a:avLst/>
          </a:prstGeom>
        </p:spPr>
        <p:txBody>
          <a:bodyPr vert="horz" lIns="0" tIns="0" rIns="0" bIns="0" rtlCol="0" anchor="ctr"/>
          <a:lstStyle>
            <a:lvl1pPr algn="ctr">
              <a:defRPr lang="de-DE" sz="700" b="0" i="0">
                <a:latin typeface="Source Sans Pro"/>
                <a:cs typeface="Source Sans Pro"/>
              </a:defRPr>
            </a:lvl1pPr>
          </a:lstStyle>
          <a:p>
            <a:endParaRPr lang="de-DE"/>
          </a:p>
        </p:txBody>
      </p:sp>
    </p:spTree>
    <p:extLst>
      <p:ext uri="{BB962C8B-B14F-4D97-AF65-F5344CB8AC3E}">
        <p14:creationId xmlns:p14="http://schemas.microsoft.com/office/powerpoint/2010/main" val="4003319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Inhaltsplatzhalt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Datumsplatzhalter 3"/>
          <p:cNvSpPr>
            <a:spLocks noGrp="1"/>
          </p:cNvSpPr>
          <p:nvPr>
            <p:ph type="dt" sz="half" idx="2"/>
          </p:nvPr>
        </p:nvSpPr>
        <p:spPr>
          <a:xfrm>
            <a:off x="864000" y="6492816"/>
            <a:ext cx="2844800" cy="111954"/>
          </a:xfrm>
          <a:prstGeom prst="rect">
            <a:avLst/>
          </a:prstGeom>
        </p:spPr>
        <p:txBody>
          <a:bodyPr vert="horz" lIns="0" tIns="0" rIns="0" bIns="0" rtlCol="0" anchor="ctr"/>
          <a:lstStyle>
            <a:lvl1pPr algn="l">
              <a:defRPr sz="700" b="0" i="0">
                <a:solidFill>
                  <a:schemeClr val="tx1"/>
                </a:solidFill>
                <a:latin typeface="Source Sans Pro"/>
                <a:cs typeface="Source Sans Pro"/>
              </a:defRPr>
            </a:lvl1pPr>
          </a:lstStyle>
          <a:p>
            <a:fld id="{65671D92-7CEF-47A0-BCBA-17945E08BD7F}" type="datetimeFigureOut">
              <a:rPr lang="de-DE" smtClean="0"/>
              <a:t>29.06.2026</a:t>
            </a:fld>
            <a:endParaRPr lang="de-DE"/>
          </a:p>
        </p:txBody>
      </p:sp>
      <p:sp>
        <p:nvSpPr>
          <p:cNvPr id="8" name="Foliennummernplatzhalter 5"/>
          <p:cNvSpPr>
            <a:spLocks noGrp="1"/>
          </p:cNvSpPr>
          <p:nvPr>
            <p:ph type="sldNum" sz="quarter" idx="4"/>
          </p:nvPr>
        </p:nvSpPr>
        <p:spPr>
          <a:xfrm>
            <a:off x="8531200" y="6493481"/>
            <a:ext cx="2844800" cy="111290"/>
          </a:xfrm>
          <a:prstGeom prst="rect">
            <a:avLst/>
          </a:prstGeom>
        </p:spPr>
        <p:txBody>
          <a:bodyPr vert="horz" lIns="0" tIns="0" rIns="0" bIns="0" rtlCol="0" anchor="ctr"/>
          <a:lstStyle>
            <a:lvl1pPr algn="r">
              <a:defRPr sz="700" b="1" i="0">
                <a:solidFill>
                  <a:schemeClr val="tx1"/>
                </a:solidFill>
                <a:latin typeface="Source Sans Pro"/>
                <a:cs typeface="Source Sans Pro"/>
              </a:defRPr>
            </a:lvl1pPr>
          </a:lstStyle>
          <a:p>
            <a:fld id="{427882D2-76ED-40F5-9AA8-D6B4E564DC54}" type="slidenum">
              <a:rPr lang="de-DE" smtClean="0"/>
              <a:t>‹#›</a:t>
            </a:fld>
            <a:endParaRPr lang="de-DE"/>
          </a:p>
        </p:txBody>
      </p:sp>
      <p:sp>
        <p:nvSpPr>
          <p:cNvPr id="6" name="Fußzeilenplatzhalter 4"/>
          <p:cNvSpPr>
            <a:spLocks noGrp="1"/>
          </p:cNvSpPr>
          <p:nvPr>
            <p:ph type="ftr" sz="quarter" idx="3"/>
          </p:nvPr>
        </p:nvSpPr>
        <p:spPr>
          <a:xfrm>
            <a:off x="4038600" y="6493481"/>
            <a:ext cx="4114800" cy="111290"/>
          </a:xfrm>
          <a:prstGeom prst="rect">
            <a:avLst/>
          </a:prstGeom>
        </p:spPr>
        <p:txBody>
          <a:bodyPr vert="horz" lIns="0" tIns="0" rIns="0" bIns="0" rtlCol="0" anchor="ctr"/>
          <a:lstStyle>
            <a:lvl1pPr algn="ctr">
              <a:defRPr lang="de-DE" sz="700" b="0" i="0">
                <a:latin typeface="Source Sans Pro"/>
                <a:cs typeface="Source Sans Pro"/>
              </a:defRPr>
            </a:lvl1pPr>
          </a:lstStyle>
          <a:p>
            <a:endParaRPr lang="de-DE"/>
          </a:p>
        </p:txBody>
      </p:sp>
    </p:spTree>
    <p:extLst>
      <p:ext uri="{BB962C8B-B14F-4D97-AF65-F5344CB8AC3E}">
        <p14:creationId xmlns:p14="http://schemas.microsoft.com/office/powerpoint/2010/main" val="1883199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de-DE"/>
          </a:p>
        </p:txBody>
      </p:sp>
      <p:sp>
        <p:nvSpPr>
          <p:cNvPr id="3" name="Textplatzhalt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umsplatzhalter 3"/>
          <p:cNvSpPr>
            <a:spLocks noGrp="1"/>
          </p:cNvSpPr>
          <p:nvPr>
            <p:ph type="dt" sz="half" idx="10"/>
          </p:nvPr>
        </p:nvSpPr>
        <p:spPr/>
        <p:txBody>
          <a:bodyPr/>
          <a:lstStyle/>
          <a:p>
            <a:fld id="{65671D92-7CEF-47A0-BCBA-17945E08BD7F}" type="datetimeFigureOut">
              <a:rPr lang="de-DE" smtClean="0"/>
              <a:t>29.06.2026</a:t>
            </a:fld>
            <a:endParaRPr lang="de-DE"/>
          </a:p>
        </p:txBody>
      </p:sp>
      <p:sp>
        <p:nvSpPr>
          <p:cNvPr id="6" name="Foliennummernplatzhalter 5"/>
          <p:cNvSpPr>
            <a:spLocks noGrp="1"/>
          </p:cNvSpPr>
          <p:nvPr>
            <p:ph type="sldNum" sz="quarter" idx="12"/>
          </p:nvPr>
        </p:nvSpPr>
        <p:spPr/>
        <p:txBody>
          <a:bodyPr/>
          <a:lstStyle/>
          <a:p>
            <a:fld id="{427882D2-76ED-40F5-9AA8-D6B4E564DC54}" type="slidenum">
              <a:rPr lang="de-DE" smtClean="0"/>
              <a:t>‹#›</a:t>
            </a:fld>
            <a:endParaRPr lang="de-DE"/>
          </a:p>
        </p:txBody>
      </p:sp>
      <p:sp>
        <p:nvSpPr>
          <p:cNvPr id="7" name="Fußzeilenplatzhalter 4"/>
          <p:cNvSpPr>
            <a:spLocks noGrp="1"/>
          </p:cNvSpPr>
          <p:nvPr>
            <p:ph type="ftr" sz="quarter" idx="3"/>
          </p:nvPr>
        </p:nvSpPr>
        <p:spPr>
          <a:xfrm>
            <a:off x="4038600" y="6493481"/>
            <a:ext cx="4114800" cy="111290"/>
          </a:xfrm>
          <a:prstGeom prst="rect">
            <a:avLst/>
          </a:prstGeom>
        </p:spPr>
        <p:txBody>
          <a:bodyPr vert="horz" lIns="0" tIns="0" rIns="0" bIns="0" rtlCol="0" anchor="ctr"/>
          <a:lstStyle>
            <a:lvl1pPr algn="ctr">
              <a:defRPr lang="de-DE" sz="700" b="0" i="0">
                <a:latin typeface="Source Sans Pro"/>
                <a:cs typeface="Source Sans Pro"/>
              </a:defRPr>
            </a:lvl1pPr>
          </a:lstStyle>
          <a:p>
            <a:endParaRPr lang="de-DE"/>
          </a:p>
        </p:txBody>
      </p:sp>
    </p:spTree>
    <p:extLst>
      <p:ext uri="{BB962C8B-B14F-4D97-AF65-F5344CB8AC3E}">
        <p14:creationId xmlns:p14="http://schemas.microsoft.com/office/powerpoint/2010/main" val="2876070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Inhaltsplatzhalter 2"/>
          <p:cNvSpPr>
            <a:spLocks noGrp="1"/>
          </p:cNvSpPr>
          <p:nvPr>
            <p:ph sz="half" idx="1"/>
          </p:nvPr>
        </p:nvSpPr>
        <p:spPr>
          <a:xfrm>
            <a:off x="864000" y="2020711"/>
            <a:ext cx="5130400" cy="410545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Inhaltsplatzhalter 3"/>
          <p:cNvSpPr>
            <a:spLocks noGrp="1"/>
          </p:cNvSpPr>
          <p:nvPr>
            <p:ph sz="half" idx="2"/>
          </p:nvPr>
        </p:nvSpPr>
        <p:spPr>
          <a:xfrm>
            <a:off x="6197600" y="2020711"/>
            <a:ext cx="4900309" cy="410545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Datumsplatzhalter 4"/>
          <p:cNvSpPr>
            <a:spLocks noGrp="1"/>
          </p:cNvSpPr>
          <p:nvPr>
            <p:ph type="dt" sz="half" idx="10"/>
          </p:nvPr>
        </p:nvSpPr>
        <p:spPr/>
        <p:txBody>
          <a:bodyPr/>
          <a:lstStyle/>
          <a:p>
            <a:fld id="{65671D92-7CEF-47A0-BCBA-17945E08BD7F}" type="datetimeFigureOut">
              <a:rPr lang="de-DE" smtClean="0"/>
              <a:t>29.06.2026</a:t>
            </a:fld>
            <a:endParaRPr lang="de-DE"/>
          </a:p>
        </p:txBody>
      </p:sp>
      <p:sp>
        <p:nvSpPr>
          <p:cNvPr id="7" name="Foliennummernplatzhalter 6"/>
          <p:cNvSpPr>
            <a:spLocks noGrp="1"/>
          </p:cNvSpPr>
          <p:nvPr>
            <p:ph type="sldNum" sz="quarter" idx="12"/>
          </p:nvPr>
        </p:nvSpPr>
        <p:spPr/>
        <p:txBody>
          <a:bodyPr/>
          <a:lstStyle/>
          <a:p>
            <a:fld id="{427882D2-76ED-40F5-9AA8-D6B4E564DC54}" type="slidenum">
              <a:rPr lang="de-DE" smtClean="0"/>
              <a:t>‹#›</a:t>
            </a:fld>
            <a:endParaRPr lang="de-DE"/>
          </a:p>
        </p:txBody>
      </p:sp>
      <p:sp>
        <p:nvSpPr>
          <p:cNvPr id="8" name="Fußzeilenplatzhalter 4"/>
          <p:cNvSpPr>
            <a:spLocks noGrp="1"/>
          </p:cNvSpPr>
          <p:nvPr>
            <p:ph type="ftr" sz="quarter" idx="3"/>
          </p:nvPr>
        </p:nvSpPr>
        <p:spPr>
          <a:xfrm>
            <a:off x="4038600" y="6493481"/>
            <a:ext cx="4114800" cy="111290"/>
          </a:xfrm>
          <a:prstGeom prst="rect">
            <a:avLst/>
          </a:prstGeom>
        </p:spPr>
        <p:txBody>
          <a:bodyPr vert="horz" lIns="0" tIns="0" rIns="0" bIns="0" rtlCol="0" anchor="ctr"/>
          <a:lstStyle>
            <a:lvl1pPr algn="ctr">
              <a:defRPr lang="de-DE" sz="700" b="0" i="0">
                <a:latin typeface="Source Sans Pro"/>
                <a:cs typeface="Source Sans Pro"/>
              </a:defRPr>
            </a:lvl1pPr>
          </a:lstStyle>
          <a:p>
            <a:endParaRPr lang="de-DE"/>
          </a:p>
        </p:txBody>
      </p:sp>
    </p:spTree>
    <p:extLst>
      <p:ext uri="{BB962C8B-B14F-4D97-AF65-F5344CB8AC3E}">
        <p14:creationId xmlns:p14="http://schemas.microsoft.com/office/powerpoint/2010/main" val="3862517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Datumsplatzhalter 2"/>
          <p:cNvSpPr>
            <a:spLocks noGrp="1"/>
          </p:cNvSpPr>
          <p:nvPr>
            <p:ph type="dt" sz="half" idx="10"/>
          </p:nvPr>
        </p:nvSpPr>
        <p:spPr/>
        <p:txBody>
          <a:bodyPr/>
          <a:lstStyle/>
          <a:p>
            <a:fld id="{65671D92-7CEF-47A0-BCBA-17945E08BD7F}" type="datetimeFigureOut">
              <a:rPr lang="de-DE" smtClean="0"/>
              <a:t>29.06.2026</a:t>
            </a:fld>
            <a:endParaRPr lang="de-DE"/>
          </a:p>
        </p:txBody>
      </p:sp>
      <p:sp>
        <p:nvSpPr>
          <p:cNvPr id="5" name="Foliennummernplatzhalter 4"/>
          <p:cNvSpPr>
            <a:spLocks noGrp="1"/>
          </p:cNvSpPr>
          <p:nvPr>
            <p:ph type="sldNum" sz="quarter" idx="12"/>
          </p:nvPr>
        </p:nvSpPr>
        <p:spPr/>
        <p:txBody>
          <a:bodyPr/>
          <a:lstStyle/>
          <a:p>
            <a:fld id="{427882D2-76ED-40F5-9AA8-D6B4E564DC54}" type="slidenum">
              <a:rPr lang="de-DE" smtClean="0"/>
              <a:t>‹#›</a:t>
            </a:fld>
            <a:endParaRPr lang="de-DE"/>
          </a:p>
        </p:txBody>
      </p:sp>
      <p:sp>
        <p:nvSpPr>
          <p:cNvPr id="6" name="Fußzeilenplatzhalter 4"/>
          <p:cNvSpPr>
            <a:spLocks noGrp="1"/>
          </p:cNvSpPr>
          <p:nvPr>
            <p:ph type="ftr" sz="quarter" idx="3"/>
          </p:nvPr>
        </p:nvSpPr>
        <p:spPr>
          <a:xfrm>
            <a:off x="4038600" y="6493481"/>
            <a:ext cx="4114800" cy="111290"/>
          </a:xfrm>
          <a:prstGeom prst="rect">
            <a:avLst/>
          </a:prstGeom>
        </p:spPr>
        <p:txBody>
          <a:bodyPr vert="horz" lIns="0" tIns="0" rIns="0" bIns="0" rtlCol="0" anchor="ctr"/>
          <a:lstStyle>
            <a:lvl1pPr algn="ctr">
              <a:defRPr lang="de-DE" sz="700" b="0" i="0">
                <a:latin typeface="Source Sans Pro"/>
                <a:cs typeface="Source Sans Pro"/>
              </a:defRPr>
            </a:lvl1pPr>
          </a:lstStyle>
          <a:p>
            <a:endParaRPr lang="de-DE"/>
          </a:p>
        </p:txBody>
      </p:sp>
    </p:spTree>
    <p:extLst>
      <p:ext uri="{BB962C8B-B14F-4D97-AF65-F5344CB8AC3E}">
        <p14:creationId xmlns:p14="http://schemas.microsoft.com/office/powerpoint/2010/main" val="139993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65671D92-7CEF-47A0-BCBA-17945E08BD7F}" type="datetimeFigureOut">
              <a:rPr lang="de-DE" smtClean="0"/>
              <a:t>29.06.2026</a:t>
            </a:fld>
            <a:endParaRPr lang="de-DE"/>
          </a:p>
        </p:txBody>
      </p:sp>
      <p:sp>
        <p:nvSpPr>
          <p:cNvPr id="4" name="Foliennummernplatzhalter 3"/>
          <p:cNvSpPr>
            <a:spLocks noGrp="1"/>
          </p:cNvSpPr>
          <p:nvPr>
            <p:ph type="sldNum" sz="quarter" idx="12"/>
          </p:nvPr>
        </p:nvSpPr>
        <p:spPr/>
        <p:txBody>
          <a:bodyPr/>
          <a:lstStyle/>
          <a:p>
            <a:fld id="{427882D2-76ED-40F5-9AA8-D6B4E564DC54}" type="slidenum">
              <a:rPr lang="de-DE" smtClean="0"/>
              <a:t>‹#›</a:t>
            </a:fld>
            <a:endParaRPr lang="de-DE"/>
          </a:p>
        </p:txBody>
      </p:sp>
      <p:sp>
        <p:nvSpPr>
          <p:cNvPr id="5" name="Fußzeilenplatzhalter 4"/>
          <p:cNvSpPr>
            <a:spLocks noGrp="1"/>
          </p:cNvSpPr>
          <p:nvPr>
            <p:ph type="ftr" sz="quarter" idx="3"/>
          </p:nvPr>
        </p:nvSpPr>
        <p:spPr>
          <a:xfrm>
            <a:off x="4038600" y="6493481"/>
            <a:ext cx="4114800" cy="111290"/>
          </a:xfrm>
          <a:prstGeom prst="rect">
            <a:avLst/>
          </a:prstGeom>
        </p:spPr>
        <p:txBody>
          <a:bodyPr vert="horz" lIns="0" tIns="0" rIns="0" bIns="0" rtlCol="0" anchor="ctr"/>
          <a:lstStyle>
            <a:lvl1pPr algn="ctr">
              <a:defRPr lang="de-DE" sz="700" b="0" i="0">
                <a:latin typeface="Source Sans Pro"/>
                <a:cs typeface="Source Sans Pro"/>
              </a:defRPr>
            </a:lvl1pPr>
          </a:lstStyle>
          <a:p>
            <a:endParaRPr lang="de-DE"/>
          </a:p>
        </p:txBody>
      </p:sp>
    </p:spTree>
    <p:extLst>
      <p:ext uri="{BB962C8B-B14F-4D97-AF65-F5344CB8AC3E}">
        <p14:creationId xmlns:p14="http://schemas.microsoft.com/office/powerpoint/2010/main" val="4076266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609601" y="699910"/>
            <a:ext cx="4011084" cy="735189"/>
          </a:xfrm>
        </p:spPr>
        <p:txBody>
          <a:bodyPr anchor="b"/>
          <a:lstStyle>
            <a:lvl1pPr algn="l">
              <a:defRPr sz="2000" b="1"/>
            </a:lvl1pPr>
          </a:lstStyle>
          <a:p>
            <a:r>
              <a:rPr lang="en-US"/>
              <a:t>Click to edit Master title style</a:t>
            </a:r>
            <a:endParaRPr lang="de-DE"/>
          </a:p>
        </p:txBody>
      </p:sp>
      <p:sp>
        <p:nvSpPr>
          <p:cNvPr id="3" name="Inhaltsplatzhalter 2"/>
          <p:cNvSpPr>
            <a:spLocks noGrp="1"/>
          </p:cNvSpPr>
          <p:nvPr>
            <p:ph idx="1"/>
          </p:nvPr>
        </p:nvSpPr>
        <p:spPr>
          <a:xfrm>
            <a:off x="4766734" y="699911"/>
            <a:ext cx="6499578" cy="542625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Textplatzhalter 3"/>
          <p:cNvSpPr>
            <a:spLocks noGrp="1"/>
          </p:cNvSpPr>
          <p:nvPr>
            <p:ph type="body" sz="half" idx="2"/>
          </p:nvPr>
        </p:nvSpPr>
        <p:spPr>
          <a:xfrm>
            <a:off x="609601" y="1580444"/>
            <a:ext cx="4011084" cy="454572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umsplatzhalter 4"/>
          <p:cNvSpPr>
            <a:spLocks noGrp="1"/>
          </p:cNvSpPr>
          <p:nvPr>
            <p:ph type="dt" sz="half" idx="10"/>
          </p:nvPr>
        </p:nvSpPr>
        <p:spPr/>
        <p:txBody>
          <a:bodyPr/>
          <a:lstStyle/>
          <a:p>
            <a:fld id="{65671D92-7CEF-47A0-BCBA-17945E08BD7F}" type="datetimeFigureOut">
              <a:rPr lang="de-DE" smtClean="0"/>
              <a:t>29.06.2026</a:t>
            </a:fld>
            <a:endParaRPr lang="de-DE"/>
          </a:p>
        </p:txBody>
      </p:sp>
      <p:sp>
        <p:nvSpPr>
          <p:cNvPr id="7" name="Foliennummernplatzhalter 6"/>
          <p:cNvSpPr>
            <a:spLocks noGrp="1"/>
          </p:cNvSpPr>
          <p:nvPr>
            <p:ph type="sldNum" sz="quarter" idx="12"/>
          </p:nvPr>
        </p:nvSpPr>
        <p:spPr/>
        <p:txBody>
          <a:bodyPr/>
          <a:lstStyle/>
          <a:p>
            <a:fld id="{427882D2-76ED-40F5-9AA8-D6B4E564DC54}" type="slidenum">
              <a:rPr lang="de-DE" smtClean="0"/>
              <a:t>‹#›</a:t>
            </a:fld>
            <a:endParaRPr lang="de-DE"/>
          </a:p>
        </p:txBody>
      </p:sp>
      <p:sp>
        <p:nvSpPr>
          <p:cNvPr id="8" name="Fußzeilenplatzhalter 4"/>
          <p:cNvSpPr>
            <a:spLocks noGrp="1"/>
          </p:cNvSpPr>
          <p:nvPr>
            <p:ph type="ftr" sz="quarter" idx="3"/>
          </p:nvPr>
        </p:nvSpPr>
        <p:spPr>
          <a:xfrm>
            <a:off x="4038600" y="6493481"/>
            <a:ext cx="4114800" cy="111290"/>
          </a:xfrm>
          <a:prstGeom prst="rect">
            <a:avLst/>
          </a:prstGeom>
        </p:spPr>
        <p:txBody>
          <a:bodyPr vert="horz" lIns="0" tIns="0" rIns="0" bIns="0" rtlCol="0" anchor="ctr"/>
          <a:lstStyle>
            <a:lvl1pPr algn="ctr">
              <a:defRPr lang="de-DE" sz="700" b="0" i="0">
                <a:latin typeface="Source Sans Pro"/>
                <a:cs typeface="Source Sans Pro"/>
              </a:defRPr>
            </a:lvl1pPr>
          </a:lstStyle>
          <a:p>
            <a:endParaRPr lang="de-DE"/>
          </a:p>
        </p:txBody>
      </p:sp>
    </p:spTree>
    <p:extLst>
      <p:ext uri="{BB962C8B-B14F-4D97-AF65-F5344CB8AC3E}">
        <p14:creationId xmlns:p14="http://schemas.microsoft.com/office/powerpoint/2010/main" val="20367019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gi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hteck 7"/>
          <p:cNvSpPr/>
          <p:nvPr/>
        </p:nvSpPr>
        <p:spPr>
          <a:xfrm>
            <a:off x="0" y="648000"/>
            <a:ext cx="11376000" cy="5670000"/>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1800"/>
          </a:p>
        </p:txBody>
      </p:sp>
      <p:sp>
        <p:nvSpPr>
          <p:cNvPr id="2" name="Titelplatzhalter 1"/>
          <p:cNvSpPr>
            <a:spLocks noGrp="1"/>
          </p:cNvSpPr>
          <p:nvPr>
            <p:ph type="title"/>
          </p:nvPr>
        </p:nvSpPr>
        <p:spPr>
          <a:xfrm>
            <a:off x="864000" y="745650"/>
            <a:ext cx="10233909" cy="1143000"/>
          </a:xfrm>
          <a:prstGeom prst="rect">
            <a:avLst/>
          </a:prstGeom>
        </p:spPr>
        <p:txBody>
          <a:bodyPr vert="horz" lIns="91440" tIns="45720" rIns="91440" bIns="45720" rtlCol="0" anchor="ctr">
            <a:normAutofit/>
          </a:bodyPr>
          <a:lstStyle/>
          <a:p>
            <a:r>
              <a:rPr lang="de-DE" dirty="0"/>
              <a:t>Mastertitelformat bearbeiten</a:t>
            </a:r>
          </a:p>
        </p:txBody>
      </p:sp>
      <p:sp>
        <p:nvSpPr>
          <p:cNvPr id="3" name="Textplatzhalter 2"/>
          <p:cNvSpPr>
            <a:spLocks noGrp="1"/>
          </p:cNvSpPr>
          <p:nvPr>
            <p:ph type="body" idx="1"/>
          </p:nvPr>
        </p:nvSpPr>
        <p:spPr>
          <a:xfrm>
            <a:off x="864000" y="2021181"/>
            <a:ext cx="10233909" cy="4104983"/>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2"/>
          </p:nvPr>
        </p:nvSpPr>
        <p:spPr>
          <a:xfrm>
            <a:off x="864000" y="6492816"/>
            <a:ext cx="2844800" cy="111954"/>
          </a:xfrm>
          <a:prstGeom prst="rect">
            <a:avLst/>
          </a:prstGeom>
        </p:spPr>
        <p:txBody>
          <a:bodyPr vert="horz" lIns="0" tIns="0" rIns="0" bIns="0" rtlCol="0" anchor="ctr"/>
          <a:lstStyle>
            <a:lvl1pPr>
              <a:defRPr lang="de-DE" sz="700" b="0" i="0" smtClean="0">
                <a:latin typeface="Source Sans Pro"/>
                <a:cs typeface="Source Sans Pro"/>
              </a:defRPr>
            </a:lvl1pPr>
          </a:lstStyle>
          <a:p>
            <a:fld id="{65671D92-7CEF-47A0-BCBA-17945E08BD7F}" type="datetimeFigureOut">
              <a:rPr lang="de-DE" smtClean="0"/>
              <a:t>29.06.2026</a:t>
            </a:fld>
            <a:endParaRPr lang="de-DE"/>
          </a:p>
        </p:txBody>
      </p:sp>
      <p:sp>
        <p:nvSpPr>
          <p:cNvPr id="6" name="Foliennummernplatzhalter 5"/>
          <p:cNvSpPr>
            <a:spLocks noGrp="1"/>
          </p:cNvSpPr>
          <p:nvPr>
            <p:ph type="sldNum" sz="quarter" idx="4"/>
          </p:nvPr>
        </p:nvSpPr>
        <p:spPr>
          <a:xfrm>
            <a:off x="8531200" y="6493481"/>
            <a:ext cx="2844800" cy="111290"/>
          </a:xfrm>
          <a:prstGeom prst="rect">
            <a:avLst/>
          </a:prstGeom>
        </p:spPr>
        <p:txBody>
          <a:bodyPr vert="horz" lIns="0" tIns="0" rIns="0" bIns="0" rtlCol="0" anchor="ctr"/>
          <a:lstStyle>
            <a:lvl1pPr algn="r">
              <a:defRPr sz="700" b="1" i="0">
                <a:solidFill>
                  <a:schemeClr val="tx1"/>
                </a:solidFill>
                <a:latin typeface="Source Sans Pro"/>
                <a:cs typeface="Source Sans Pro"/>
              </a:defRPr>
            </a:lvl1pPr>
          </a:lstStyle>
          <a:p>
            <a:fld id="{427882D2-76ED-40F5-9AA8-D6B4E564DC54}" type="slidenum">
              <a:rPr lang="de-DE" smtClean="0"/>
              <a:t>‹#›</a:t>
            </a:fld>
            <a:endParaRPr lang="de-DE"/>
          </a:p>
        </p:txBody>
      </p:sp>
      <p:sp>
        <p:nvSpPr>
          <p:cNvPr id="5" name="Fußzeilenplatzhalter 4"/>
          <p:cNvSpPr>
            <a:spLocks noGrp="1"/>
          </p:cNvSpPr>
          <p:nvPr>
            <p:ph type="ftr" sz="quarter" idx="3"/>
          </p:nvPr>
        </p:nvSpPr>
        <p:spPr>
          <a:xfrm>
            <a:off x="4038600" y="6493481"/>
            <a:ext cx="4114800" cy="111290"/>
          </a:xfrm>
          <a:prstGeom prst="rect">
            <a:avLst/>
          </a:prstGeom>
        </p:spPr>
        <p:txBody>
          <a:bodyPr vert="horz" lIns="0" tIns="0" rIns="0" bIns="0" rtlCol="0" anchor="ctr"/>
          <a:lstStyle>
            <a:lvl1pPr algn="ctr">
              <a:defRPr lang="de-DE" sz="700" b="0" i="0">
                <a:latin typeface="Source Sans Pro"/>
                <a:cs typeface="Source Sans Pro"/>
              </a:defRPr>
            </a:lvl1pPr>
          </a:lstStyle>
          <a:p>
            <a:endParaRPr lang="de-DE"/>
          </a:p>
        </p:txBody>
      </p:sp>
      <p:pic>
        <p:nvPicPr>
          <p:cNvPr id="9" name="Bild 6" descr="HSHL_Logo_horizontal_RGB_Sequenz_Animation.gif"/>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972000" y="247172"/>
            <a:ext cx="1404000" cy="208725"/>
          </a:xfrm>
          <a:prstGeom prst="rect">
            <a:avLst/>
          </a:prstGeom>
        </p:spPr>
      </p:pic>
    </p:spTree>
    <p:extLst>
      <p:ext uri="{BB962C8B-B14F-4D97-AF65-F5344CB8AC3E}">
        <p14:creationId xmlns:p14="http://schemas.microsoft.com/office/powerpoint/2010/main" val="32147779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txStyles>
    <p:titleStyle>
      <a:lvl1pPr algn="l" defTabSz="457200" rtl="0" eaLnBrk="1" latinLnBrk="0" hangingPunct="1">
        <a:spcBef>
          <a:spcPct val="0"/>
        </a:spcBef>
        <a:buNone/>
        <a:defRPr sz="4000" b="1" i="0" kern="1200">
          <a:solidFill>
            <a:schemeClr val="tx1"/>
          </a:solidFill>
          <a:latin typeface="Source Sans Pro"/>
          <a:ea typeface="+mj-ea"/>
          <a:cs typeface="Source Sans Pro"/>
        </a:defRPr>
      </a:lvl1pPr>
    </p:titleStyle>
    <p:bodyStyle>
      <a:lvl1pPr marL="342900" indent="-342900" algn="l" defTabSz="457200" rtl="0" eaLnBrk="1" latinLnBrk="0" hangingPunct="1">
        <a:spcBef>
          <a:spcPct val="20000"/>
        </a:spcBef>
        <a:buFont typeface="Arial"/>
        <a:buChar char="•"/>
        <a:defRPr sz="3200" b="0" i="0" kern="1200">
          <a:solidFill>
            <a:schemeClr val="tx1"/>
          </a:solidFill>
          <a:latin typeface="Source Sans Pro"/>
          <a:ea typeface="+mn-ea"/>
          <a:cs typeface="Source Sans Pro"/>
        </a:defRPr>
      </a:lvl1pPr>
      <a:lvl2pPr marL="742950" indent="-285750" algn="l" defTabSz="457200" rtl="0" eaLnBrk="1" latinLnBrk="0" hangingPunct="1">
        <a:spcBef>
          <a:spcPct val="20000"/>
        </a:spcBef>
        <a:buFont typeface="Arial"/>
        <a:buChar char="–"/>
        <a:defRPr sz="2800" b="0" i="0" kern="1200">
          <a:solidFill>
            <a:schemeClr val="tx1"/>
          </a:solidFill>
          <a:latin typeface="Source Sans Pro"/>
          <a:ea typeface="+mn-ea"/>
          <a:cs typeface="Source Sans Pro"/>
        </a:defRPr>
      </a:lvl2pPr>
      <a:lvl3pPr marL="1143000" indent="-228600" algn="l" defTabSz="457200" rtl="0" eaLnBrk="1" latinLnBrk="0" hangingPunct="1">
        <a:spcBef>
          <a:spcPct val="20000"/>
        </a:spcBef>
        <a:buFont typeface="Arial"/>
        <a:buChar char="•"/>
        <a:defRPr sz="2400" b="0" i="0" kern="1200">
          <a:solidFill>
            <a:schemeClr val="tx1"/>
          </a:solidFill>
          <a:latin typeface="Source Sans Pro"/>
          <a:ea typeface="+mn-ea"/>
          <a:cs typeface="Source Sans Pro"/>
        </a:defRPr>
      </a:lvl3pPr>
      <a:lvl4pPr marL="1600200" indent="-228600" algn="l" defTabSz="457200" rtl="0" eaLnBrk="1" latinLnBrk="0" hangingPunct="1">
        <a:spcBef>
          <a:spcPct val="20000"/>
        </a:spcBef>
        <a:buFont typeface="Arial"/>
        <a:buChar char="–"/>
        <a:defRPr sz="2000" b="0" i="0" kern="1200">
          <a:solidFill>
            <a:schemeClr val="tx1"/>
          </a:solidFill>
          <a:latin typeface="Source Sans Pro"/>
          <a:ea typeface="+mn-ea"/>
          <a:cs typeface="Source Sans Pro"/>
        </a:defRPr>
      </a:lvl4pPr>
      <a:lvl5pPr marL="2057400" indent="-228600" algn="l" defTabSz="457200" rtl="0" eaLnBrk="1" latinLnBrk="0" hangingPunct="1">
        <a:spcBef>
          <a:spcPct val="20000"/>
        </a:spcBef>
        <a:buFont typeface="Arial"/>
        <a:buChar char="»"/>
        <a:defRPr sz="2000" b="0" i="0" kern="1200">
          <a:solidFill>
            <a:schemeClr val="tx1"/>
          </a:solidFill>
          <a:latin typeface="Source Sans Pro"/>
          <a:ea typeface="+mn-ea"/>
          <a:cs typeface="Source Sans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864000" y="1800000"/>
            <a:ext cx="9600000" cy="2800000"/>
          </a:xfrm>
          <a:prstGeom prst="rect">
            <a:avLst/>
          </a:prstGeom>
          <a:solidFill>
            <a:srgbClr val="1B3A5C"/>
          </a:solidFill>
          <a:ln>
            <a:noFill/>
          </a:ln>
        </p:spPr>
        <p:txBody>
          <a:bodyPr rtlCol="0" anchor="ctr"/>
          <a:lstStyle/>
          <a:p>
            <a:endParaRPr lang="en-US"/>
          </a:p>
        </p:txBody>
      </p:sp>
      <p:sp>
        <p:nvSpPr>
          <p:cNvPr id="3" name="title"/>
          <p:cNvSpPr txBox="1"/>
          <p:nvPr/>
        </p:nvSpPr>
        <p:spPr>
          <a:xfrm>
            <a:off x="1100000" y="1900000"/>
            <a:ext cx="9100000" cy="1200000"/>
          </a:xfrm>
          <a:prstGeom prst="rect">
            <a:avLst/>
          </a:prstGeom>
          <a:noFill/>
        </p:spPr>
        <p:txBody>
          <a:bodyPr lIns="91440" tIns="45720" rIns="91440" bIns="45720" rtlCol="0" anchor="ctr">
            <a:noAutofit/>
          </a:bodyPr>
          <a:lstStyle/>
          <a:p>
            <a:pPr algn="ctr">
              <a:buNone/>
            </a:pPr>
            <a:r>
              <a:rPr lang="en-US" sz="3200" b="1" dirty="0">
                <a:solidFill>
                  <a:srgbClr val="FFFFFF"/>
                </a:solidFill>
                <a:latin typeface="Source Sans Pro"/>
                <a:cs typeface="Source Sans Pro"/>
              </a:rPr>
              <a:t>Constant Bandwidth Server (CBS)</a:t>
            </a:r>
          </a:p>
          <a:p>
            <a:pPr algn="ctr">
              <a:spcBef>
                <a:spcPts val="300"/>
              </a:spcBef>
              <a:buNone/>
            </a:pPr>
            <a:r>
              <a:rPr lang="en-US" sz="1600" dirty="0">
                <a:solidFill>
                  <a:srgbClr val="C0D0E0"/>
                </a:solidFill>
                <a:latin typeface="Source Sans Pro"/>
                <a:cs typeface="Source Sans Pro"/>
              </a:rPr>
              <a:t>Bandwidth Reservation for Mixed-Criticality Real-Time Systems</a:t>
            </a:r>
          </a:p>
        </p:txBody>
      </p:sp>
      <p:sp>
        <p:nvSpPr>
          <p:cNvPr id="4" name="author"/>
          <p:cNvSpPr txBox="1"/>
          <p:nvPr/>
        </p:nvSpPr>
        <p:spPr>
          <a:xfrm>
            <a:off x="1100000" y="4800000"/>
            <a:ext cx="9100000" cy="500000"/>
          </a:xfrm>
          <a:prstGeom prst="rect">
            <a:avLst/>
          </a:prstGeom>
          <a:noFill/>
        </p:spPr>
        <p:txBody>
          <a:bodyPr lIns="91440" tIns="45720" rIns="91440" bIns="45720" rtlCol="0" anchor="t">
            <a:noAutofit/>
          </a:bodyPr>
          <a:lstStyle/>
          <a:p>
            <a:pPr algn="ctr">
              <a:buNone/>
            </a:pPr>
            <a:r>
              <a:rPr lang="en-US" sz="1600" b="1" dirty="0">
                <a:solidFill>
                  <a:srgbClr val="333333"/>
                </a:solidFill>
                <a:latin typeface="Source Sans Pro"/>
                <a:cs typeface="Source Sans Pro"/>
              </a:rPr>
              <a:t>Soaib Ferdous</a:t>
            </a:r>
          </a:p>
          <a:p>
            <a:pPr algn="ctr">
              <a:spcBef>
                <a:spcPts val="200"/>
              </a:spcBef>
              <a:buNone/>
            </a:pPr>
            <a:r>
              <a:rPr lang="en-US" sz="1200" dirty="0">
                <a:solidFill>
                  <a:srgbClr val="666666"/>
                </a:solidFill>
                <a:latin typeface="Source Sans Pro"/>
                <a:cs typeface="Source Sans Pro"/>
              </a:rPr>
              <a:t>Real-Time Systems Seminar  |  SS 2026  |  HSHL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864000" y="780000"/>
            <a:ext cx="9600000" cy="900000"/>
          </a:xfrm>
          <a:prstGeom prst="rect">
            <a:avLst/>
          </a:prstGeom>
          <a:noFill/>
        </p:spPr>
        <p:txBody>
          <a:bodyPr lIns="91440" tIns="45720" rIns="91440" bIns="45720" rtlCol="0" anchor="t">
            <a:noAutofit/>
          </a:bodyPr>
          <a:lstStyle/>
          <a:p>
            <a:pPr algn="l">
              <a:buNone/>
            </a:pPr>
            <a:r>
              <a:rPr lang="en-US" sz="2800" b="1" dirty="0">
                <a:solidFill>
                  <a:srgbClr val="1B3A5C"/>
                </a:solidFill>
                <a:latin typeface="Source Sans Pro"/>
                <a:cs typeface="Source Sans Pro"/>
              </a:rPr>
              <a:t>The Problem: Mixing Hard and Soft Tasks</a:t>
            </a:r>
          </a:p>
        </p:txBody>
      </p:sp>
      <p:sp>
        <p:nvSpPr>
          <p:cNvPr id="3" name="left"/>
          <p:cNvSpPr txBox="1"/>
          <p:nvPr/>
        </p:nvSpPr>
        <p:spPr>
          <a:xfrm>
            <a:off x="864000" y="2100000"/>
            <a:ext cx="4600000" cy="3800000"/>
          </a:xfrm>
          <a:prstGeom prst="rect">
            <a:avLst/>
          </a:prstGeom>
          <a:noFill/>
        </p:spPr>
        <p:txBody>
          <a:bodyPr lIns="91440" tIns="45720" rIns="91440" bIns="45720" rtlCol="0" anchor="t">
            <a:noAutofit/>
          </a:bodyPr>
          <a:lstStyle/>
          <a:p>
            <a:pPr algn="l">
              <a:buNone/>
            </a:pPr>
            <a:r>
              <a:rPr lang="en-US" sz="1800" b="1" dirty="0">
                <a:solidFill>
                  <a:srgbClr val="1B3A5C"/>
                </a:solidFill>
                <a:latin typeface="Source Sans Pro"/>
                <a:cs typeface="Source Sans Pro"/>
              </a:rPr>
              <a:t>Hard Tasks</a:t>
            </a:r>
          </a:p>
          <a:p>
            <a:pPr marL="228600" indent="-228600" algn="l">
              <a:spcBef>
                <a:spcPts val="200"/>
              </a:spcBef>
              <a:buFont typeface="Arial"/>
              <a:buChar char="•"/>
            </a:pPr>
            <a:r>
              <a:rPr lang="en-US" sz="1400" dirty="0">
                <a:solidFill>
                  <a:srgbClr val="333333"/>
                </a:solidFill>
                <a:latin typeface="Source Sans Pro"/>
                <a:cs typeface="Source Sans Pro"/>
              </a:rPr>
              <a:t>Must meet deadlines (safety-critical)</a:t>
            </a:r>
          </a:p>
          <a:p>
            <a:pPr marL="228600" indent="-228600" algn="l">
              <a:spcBef>
                <a:spcPts val="100"/>
              </a:spcBef>
              <a:buFont typeface="Arial"/>
              <a:buChar char="•"/>
            </a:pPr>
            <a:r>
              <a:rPr lang="en-US" sz="1400" dirty="0">
                <a:solidFill>
                  <a:srgbClr val="333333"/>
                </a:solidFill>
                <a:latin typeface="Source Sans Pro"/>
                <a:cs typeface="Source Sans Pro"/>
              </a:rPr>
              <a:t>e.g., brake control, motor controller</a:t>
            </a:r>
          </a:p>
          <a:p>
            <a:pPr algn="l">
              <a:spcBef>
                <a:spcPts val="600"/>
              </a:spcBef>
              <a:buNone/>
            </a:pPr>
            <a:r>
              <a:rPr lang="en-US" sz="1800" b="1" dirty="0">
                <a:solidFill>
                  <a:srgbClr val="1B3A5C"/>
                </a:solidFill>
                <a:latin typeface="Source Sans Pro"/>
                <a:cs typeface="Source Sans Pro"/>
              </a:rPr>
              <a:t>Soft Tasks</a:t>
            </a:r>
          </a:p>
          <a:p>
            <a:pPr marL="228600" indent="-228600" algn="l">
              <a:spcBef>
                <a:spcPts val="200"/>
              </a:spcBef>
              <a:buFont typeface="Arial"/>
              <a:buChar char="•"/>
            </a:pPr>
            <a:r>
              <a:rPr lang="en-US" sz="1400" dirty="0">
                <a:solidFill>
                  <a:srgbClr val="333333"/>
                </a:solidFill>
                <a:latin typeface="Source Sans Pro"/>
                <a:cs typeface="Source Sans Pro"/>
              </a:rPr>
              <a:t>Deadline miss = degraded quality, not failure</a:t>
            </a:r>
          </a:p>
          <a:p>
            <a:pPr marL="228600" indent="-228600" algn="l">
              <a:spcBef>
                <a:spcPts val="100"/>
              </a:spcBef>
              <a:buFont typeface="Arial"/>
              <a:buChar char="•"/>
            </a:pPr>
            <a:r>
              <a:rPr lang="en-US" sz="1400" dirty="0">
                <a:solidFill>
                  <a:srgbClr val="333333"/>
                </a:solidFill>
                <a:latin typeface="Source Sans Pro"/>
                <a:cs typeface="Source Sans Pro"/>
              </a:rPr>
              <a:t>e.g., video decoder, audio processing</a:t>
            </a:r>
          </a:p>
        </p:txBody>
      </p:sp>
      <p:sp>
        <p:nvSpPr>
          <p:cNvPr id="4" name="right"/>
          <p:cNvSpPr txBox="1"/>
          <p:nvPr/>
        </p:nvSpPr>
        <p:spPr>
          <a:xfrm>
            <a:off x="5800000" y="2100000"/>
            <a:ext cx="4800000" cy="3800000"/>
          </a:xfrm>
          <a:prstGeom prst="rect">
            <a:avLst/>
          </a:prstGeom>
          <a:noFill/>
        </p:spPr>
        <p:txBody>
          <a:bodyPr lIns="91440" tIns="45720" rIns="91440" bIns="45720" rtlCol="0" anchor="t">
            <a:noAutofit/>
          </a:bodyPr>
          <a:lstStyle/>
          <a:p>
            <a:pPr algn="l">
              <a:buNone/>
            </a:pPr>
            <a:r>
              <a:rPr lang="en-US" sz="1800" b="1" dirty="0">
                <a:solidFill>
                  <a:srgbClr val="CC3333"/>
                </a:solidFill>
                <a:latin typeface="Source Sans Pro"/>
                <a:cs typeface="Source Sans Pro"/>
              </a:rPr>
              <a:t>The Danger</a:t>
            </a:r>
          </a:p>
          <a:p>
            <a:pPr algn="l">
              <a:spcBef>
                <a:spcPts val="300"/>
              </a:spcBef>
              <a:buNone/>
            </a:pPr>
            <a:r>
              <a:rPr lang="en-US" sz="1400" dirty="0">
                <a:solidFill>
                  <a:srgbClr val="333333"/>
                </a:solidFill>
                <a:latin typeface="Source Sans Pro"/>
                <a:cs typeface="Source Sans Pro"/>
              </a:rPr>
              <a:t>If soft tasks overrun (take longer than expected), they steal CPU time from hard tasks.</a:t>
            </a:r>
          </a:p>
          <a:p>
            <a:pPr algn="l">
              <a:spcBef>
                <a:spcPts val="300"/>
              </a:spcBef>
              <a:buNone/>
            </a:pPr>
            <a:r>
              <a:rPr lang="en-US" sz="1400" b="1" dirty="0">
                <a:solidFill>
                  <a:srgbClr val="CC3333"/>
                </a:solidFill>
                <a:latin typeface="Source Sans Pro"/>
                <a:cs typeface="Source Sans Pro"/>
              </a:rPr>
              <a:t>Hard deadlines get missed.</a:t>
            </a:r>
          </a:p>
          <a:p>
            <a:pPr algn="l">
              <a:spcBef>
                <a:spcPts val="600"/>
              </a:spcBef>
              <a:buNone/>
            </a:pPr>
            <a:r>
              <a:rPr lang="en-US" sz="1800" b="1" dirty="0">
                <a:solidFill>
                  <a:srgbClr val="1B3A5C"/>
                </a:solidFill>
                <a:latin typeface="Source Sans Pro"/>
                <a:cs typeface="Source Sans Pro"/>
              </a:rPr>
              <a:t>The Solution</a:t>
            </a:r>
          </a:p>
          <a:p>
            <a:pPr algn="l">
              <a:spcBef>
                <a:spcPts val="300"/>
              </a:spcBef>
              <a:buNone/>
            </a:pPr>
            <a:r>
              <a:rPr lang="en-US" sz="1400" dirty="0">
                <a:solidFill>
                  <a:srgbClr val="333333"/>
                </a:solidFill>
                <a:latin typeface="Source Sans Pro"/>
                <a:cs typeface="Source Sans Pro"/>
              </a:rPr>
              <a:t>Bandwidth reservation: assign a strict CPU ceiling to soft tasks that cannot be exceeded.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864000" y="780000"/>
            <a:ext cx="9600000" cy="900000"/>
          </a:xfrm>
          <a:prstGeom prst="rect">
            <a:avLst/>
          </a:prstGeom>
          <a:noFill/>
        </p:spPr>
        <p:txBody>
          <a:bodyPr lIns="91440" tIns="45720" rIns="91440" bIns="45720" rtlCol="0" anchor="t">
            <a:noAutofit/>
          </a:bodyPr>
          <a:lstStyle/>
          <a:p>
            <a:pPr algn="l">
              <a:buNone/>
            </a:pPr>
            <a:r>
              <a:rPr lang="en-US" sz="2800" b="1" dirty="0">
                <a:solidFill>
                  <a:srgbClr val="1B3A5C"/>
                </a:solidFill>
                <a:latin typeface="Source Sans Pro"/>
                <a:cs typeface="Source Sans Pro"/>
              </a:rPr>
              <a:t>Existing Approaches and Their Limitations</a:t>
            </a:r>
          </a:p>
        </p:txBody>
      </p:sp>
      <p:sp>
        <p:nvSpPr>
          <p:cNvPr id="3" name="dss"/>
          <p:cNvSpPr txBox="1"/>
          <p:nvPr/>
        </p:nvSpPr>
        <p:spPr>
          <a:xfrm>
            <a:off x="864000" y="2100000"/>
            <a:ext cx="4500000" cy="1600000"/>
          </a:xfrm>
          <a:prstGeom prst="rect">
            <a:avLst/>
          </a:prstGeom>
          <a:noFill/>
        </p:spPr>
        <p:txBody>
          <a:bodyPr lIns="91440" tIns="45720" rIns="91440" bIns="45720" rtlCol="0" anchor="t">
            <a:noAutofit/>
          </a:bodyPr>
          <a:lstStyle/>
          <a:p>
            <a:pPr algn="l">
              <a:buNone/>
            </a:pPr>
            <a:r>
              <a:rPr lang="en-US" sz="1600" b="1" dirty="0">
                <a:solidFill>
                  <a:srgbClr val="1B3A5C"/>
                </a:solidFill>
                <a:latin typeface="Source Sans Pro"/>
                <a:cs typeface="Source Sans Pro"/>
              </a:rPr>
              <a:t>Dynamic Sporadic Server (DSS)</a:t>
            </a:r>
          </a:p>
          <a:p>
            <a:pPr marL="228600" indent="-228600" algn="l">
              <a:spcBef>
                <a:spcPts val="200"/>
              </a:spcBef>
              <a:buFont typeface="Arial"/>
              <a:buChar char="•"/>
            </a:pPr>
            <a:r>
              <a:rPr lang="en-US" sz="1300" dirty="0">
                <a:solidFill>
                  <a:srgbClr val="333333"/>
                </a:solidFill>
                <a:latin typeface="Source Sans Pro"/>
                <a:cs typeface="Source Sans Pro"/>
              </a:rPr>
              <a:t>Uses a budget to limit CPU usage</a:t>
            </a:r>
          </a:p>
          <a:p>
            <a:pPr marL="228600" indent="-228600" algn="l">
              <a:spcBef>
                <a:spcPts val="100"/>
              </a:spcBef>
              <a:buFont typeface="Arial"/>
              <a:buChar char="•"/>
            </a:pPr>
            <a:r>
              <a:rPr lang="en-US" sz="1300" dirty="0">
                <a:solidFill>
                  <a:srgbClr val="CC3333"/>
                </a:solidFill>
                <a:latin typeface="Source Sans Pro"/>
                <a:cs typeface="Source Sans Pro"/>
              </a:rPr>
              <a:t>When budget exhausts: goes idle</a:t>
            </a:r>
          </a:p>
          <a:p>
            <a:pPr marL="228600" indent="-228600" algn="l">
              <a:spcBef>
                <a:spcPts val="100"/>
              </a:spcBef>
              <a:buFont typeface="Arial"/>
              <a:buChar char="•"/>
            </a:pPr>
            <a:r>
              <a:rPr lang="en-US" sz="1300" dirty="0">
                <a:solidFill>
                  <a:srgbClr val="CC3333"/>
                </a:solidFill>
                <a:latin typeface="Source Sans Pro"/>
                <a:cs typeface="Source Sans Pro"/>
              </a:rPr>
              <a:t>CPU sits empty even if available</a:t>
            </a:r>
          </a:p>
          <a:p>
            <a:pPr marL="228600" indent="-228600" algn="l">
              <a:spcBef>
                <a:spcPts val="100"/>
              </a:spcBef>
              <a:buFont typeface="Arial"/>
              <a:buChar char="•"/>
            </a:pPr>
            <a:r>
              <a:rPr lang="en-US" sz="1300" dirty="0">
                <a:solidFill>
                  <a:srgbClr val="CC3333"/>
                </a:solidFill>
                <a:latin typeface="Source Sans Pro"/>
                <a:cs typeface="Source Sans Pro"/>
              </a:rPr>
              <a:t>Very poor soft task responsiveness</a:t>
            </a:r>
          </a:p>
        </p:txBody>
      </p:sp>
      <p:sp>
        <p:nvSpPr>
          <p:cNvPr id="4" name="tbs"/>
          <p:cNvSpPr txBox="1"/>
          <p:nvPr/>
        </p:nvSpPr>
        <p:spPr>
          <a:xfrm>
            <a:off x="5700000" y="2100000"/>
            <a:ext cx="4900000" cy="1600000"/>
          </a:xfrm>
          <a:prstGeom prst="rect">
            <a:avLst/>
          </a:prstGeom>
          <a:noFill/>
        </p:spPr>
        <p:txBody>
          <a:bodyPr lIns="91440" tIns="45720" rIns="91440" bIns="45720" rtlCol="0" anchor="t">
            <a:noAutofit/>
          </a:bodyPr>
          <a:lstStyle/>
          <a:p>
            <a:pPr algn="l">
              <a:buNone/>
            </a:pPr>
            <a:r>
              <a:rPr lang="en-US" sz="1600" b="1" dirty="0">
                <a:solidFill>
                  <a:srgbClr val="1B3A5C"/>
                </a:solidFill>
                <a:latin typeface="Source Sans Pro"/>
                <a:cs typeface="Source Sans Pro"/>
              </a:rPr>
              <a:t>Total Bandwidth Server (TBS)</a:t>
            </a:r>
          </a:p>
          <a:p>
            <a:pPr marL="228600" indent="-228600" algn="l">
              <a:spcBef>
                <a:spcPts val="200"/>
              </a:spcBef>
              <a:buFont typeface="Arial"/>
              <a:buChar char="•"/>
            </a:pPr>
            <a:r>
              <a:rPr lang="en-US" sz="1300" dirty="0">
                <a:solidFill>
                  <a:srgbClr val="333333"/>
                </a:solidFill>
                <a:latin typeface="Source Sans Pro"/>
                <a:cs typeface="Source Sans Pro"/>
              </a:rPr>
              <a:t>Assigns deadlines using WCET knowledge</a:t>
            </a:r>
          </a:p>
          <a:p>
            <a:pPr marL="228600" indent="-228600" algn="l">
              <a:spcBef>
                <a:spcPts val="100"/>
              </a:spcBef>
              <a:buFont typeface="Arial"/>
              <a:buChar char="•"/>
            </a:pPr>
            <a:r>
              <a:rPr lang="en-US" sz="1300" dirty="0">
                <a:solidFill>
                  <a:srgbClr val="2E8B57"/>
                </a:solidFill>
                <a:latin typeface="Source Sans Pro"/>
                <a:cs typeface="Source Sans Pro"/>
              </a:rPr>
              <a:t>Work-conserving: never wastes CPU</a:t>
            </a:r>
          </a:p>
          <a:p>
            <a:pPr marL="228600" indent="-228600" algn="l">
              <a:spcBef>
                <a:spcPts val="100"/>
              </a:spcBef>
              <a:buFont typeface="Arial"/>
              <a:buChar char="•"/>
            </a:pPr>
            <a:r>
              <a:rPr lang="en-US" sz="1300" dirty="0">
                <a:solidFill>
                  <a:srgbClr val="CC3333"/>
                </a:solidFill>
                <a:latin typeface="Source Sans Pro"/>
                <a:cs typeface="Source Sans Pro"/>
              </a:rPr>
              <a:t>Requires exact WCET of every job</a:t>
            </a:r>
          </a:p>
          <a:p>
            <a:pPr marL="228600" indent="-228600" algn="l">
              <a:spcBef>
                <a:spcPts val="100"/>
              </a:spcBef>
              <a:buFont typeface="Arial"/>
              <a:buChar char="•"/>
            </a:pPr>
            <a:r>
              <a:rPr lang="en-US" sz="1300" dirty="0">
                <a:solidFill>
                  <a:srgbClr val="CC3333"/>
                </a:solidFill>
                <a:latin typeface="Source Sans Pro"/>
                <a:cs typeface="Source Sans Pro"/>
              </a:rPr>
              <a:t>If WCET unknown: hard tasks at risk</a:t>
            </a:r>
          </a:p>
        </p:txBody>
      </p:sp>
      <p:sp>
        <p:nvSpPr>
          <p:cNvPr id="5" name="gap"/>
          <p:cNvSpPr txBox="1"/>
          <p:nvPr/>
        </p:nvSpPr>
        <p:spPr>
          <a:xfrm>
            <a:off x="864000" y="4000000"/>
            <a:ext cx="9700000" cy="1200000"/>
          </a:xfrm>
          <a:prstGeom prst="rect">
            <a:avLst/>
          </a:prstGeom>
          <a:noFill/>
        </p:spPr>
        <p:txBody>
          <a:bodyPr lIns="91440" tIns="45720" rIns="91440" bIns="45720" rtlCol="0" anchor="t">
            <a:noAutofit/>
          </a:bodyPr>
          <a:lstStyle/>
          <a:p>
            <a:pPr algn="l">
              <a:spcBef>
                <a:spcPts val="200"/>
              </a:spcBef>
              <a:buNone/>
            </a:pPr>
            <a:r>
              <a:rPr lang="en-US" sz="1600" b="1" dirty="0">
                <a:solidFill>
                  <a:srgbClr val="1B3A5C"/>
                </a:solidFill>
                <a:latin typeface="Source Sans Pro"/>
                <a:cs typeface="Source Sans Pro"/>
              </a:rPr>
              <a:t>The Gap</a:t>
            </a:r>
          </a:p>
          <a:p>
            <a:pPr algn="l">
              <a:spcBef>
                <a:spcPts val="200"/>
              </a:spcBef>
              <a:buNone/>
            </a:pPr>
            <a:r>
              <a:rPr lang="en-US" sz="1300" dirty="0">
                <a:solidFill>
                  <a:srgbClr val="333333"/>
                </a:solidFill>
                <a:latin typeface="Source Sans Pro"/>
                <a:cs typeface="Source Sans Pro"/>
              </a:rPr>
              <a:t>DSS protects hard tasks but wastes CPU. TBS is responsive but breaks under unknown or variable execution times. A mechanism is needed that combines protection with performance, without requiring WCET.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864000" y="780000"/>
            <a:ext cx="9600000" cy="900000"/>
          </a:xfrm>
          <a:prstGeom prst="rect">
            <a:avLst/>
          </a:prstGeom>
          <a:noFill/>
        </p:spPr>
        <p:txBody>
          <a:bodyPr lIns="91440" tIns="45720" rIns="91440" bIns="45720" rtlCol="0" anchor="t">
            <a:noAutofit/>
          </a:bodyPr>
          <a:lstStyle/>
          <a:p>
            <a:pPr algn="l">
              <a:buNone/>
            </a:pPr>
            <a:r>
              <a:rPr lang="en-US" sz="2800" b="1" dirty="0">
                <a:solidFill>
                  <a:srgbClr val="1B3A5C"/>
                </a:solidFill>
                <a:latin typeface="Source Sans Pro"/>
                <a:cs typeface="Source Sans Pro"/>
              </a:rPr>
              <a:t>CBS Parameters and Schedulability</a:t>
            </a:r>
          </a:p>
        </p:txBody>
      </p:sp>
      <p:sp>
        <p:nvSpPr>
          <p:cNvPr id="3" name="params"/>
          <p:cNvSpPr txBox="1"/>
          <p:nvPr/>
        </p:nvSpPr>
        <p:spPr>
          <a:xfrm>
            <a:off x="864000" y="2100000"/>
            <a:ext cx="5000000" cy="2400000"/>
          </a:xfrm>
          <a:prstGeom prst="rect">
            <a:avLst/>
          </a:prstGeom>
          <a:noFill/>
        </p:spPr>
        <p:txBody>
          <a:bodyPr lIns="91440" tIns="45720" rIns="91440" bIns="45720" rtlCol="0" anchor="t">
            <a:noAutofit/>
          </a:bodyPr>
          <a:lstStyle/>
          <a:p>
            <a:pPr algn="l">
              <a:buNone/>
            </a:pPr>
            <a:r>
              <a:rPr lang="en-US" sz="1400" dirty="0">
                <a:solidFill>
                  <a:srgbClr val="333333"/>
                </a:solidFill>
                <a:latin typeface="Source Sans Pro"/>
                <a:cs typeface="Source Sans Pro"/>
              </a:rPr>
              <a:t>CBS is defined by three values:</a:t>
            </a:r>
          </a:p>
          <a:p>
            <a:pPr algn="l">
              <a:spcBef>
                <a:spcPts val="400"/>
              </a:spcBef>
              <a:buNone/>
            </a:pPr>
            <a:r>
              <a:rPr lang="en-US" sz="1600" b="1" dirty="0">
                <a:solidFill>
                  <a:srgbClr val="1B3A5C"/>
                </a:solidFill>
                <a:latin typeface="Source Sans Pro"/>
                <a:cs typeface="Source Sans Pro"/>
              </a:rPr>
              <a:t>Qs</a:t>
            </a:r>
            <a:r>
              <a:rPr lang="en-US" sz="1400" dirty="0">
                <a:solidFill>
                  <a:srgbClr val="333333"/>
                </a:solidFill>
                <a:latin typeface="Source Sans Pro"/>
                <a:cs typeface="Source Sans Pro"/>
              </a:rPr>
              <a:t> = Maximum Budget (time units)</a:t>
            </a:r>
          </a:p>
          <a:p>
            <a:pPr marL="228600" algn="l">
              <a:spcBef>
                <a:spcPts val="100"/>
              </a:spcBef>
              <a:buNone/>
            </a:pPr>
            <a:r>
              <a:rPr lang="en-US" sz="1200" dirty="0">
                <a:solidFill>
                  <a:srgbClr val="666666"/>
                </a:solidFill>
                <a:latin typeface="Source Sans Pro"/>
                <a:cs typeface="Source Sans Pro"/>
              </a:rPr>
              <a:t>How long the server can run before action is taken</a:t>
            </a:r>
          </a:p>
          <a:p>
            <a:pPr algn="l">
              <a:spcBef>
                <a:spcPts val="400"/>
              </a:spcBef>
              <a:buNone/>
            </a:pPr>
            <a:r>
              <a:rPr lang="en-US" sz="1600" b="1" dirty="0">
                <a:solidFill>
                  <a:srgbClr val="1B3A5C"/>
                </a:solidFill>
                <a:latin typeface="Source Sans Pro"/>
                <a:cs typeface="Source Sans Pro"/>
              </a:rPr>
              <a:t>Ts</a:t>
            </a:r>
            <a:r>
              <a:rPr lang="en-US" sz="1400" dirty="0">
                <a:solidFill>
                  <a:srgbClr val="333333"/>
                </a:solidFill>
                <a:latin typeface="Source Sans Pro"/>
                <a:cs typeface="Source Sans Pro"/>
              </a:rPr>
              <a:t> = Server Period (length of one server cycle)</a:t>
            </a:r>
          </a:p>
          <a:p>
            <a:pPr marL="228600" algn="l">
              <a:spcBef>
                <a:spcPts val="100"/>
              </a:spcBef>
              <a:buNone/>
            </a:pPr>
            <a:r>
              <a:rPr lang="en-US" sz="1200" dirty="0">
                <a:solidFill>
                  <a:srgbClr val="666666"/>
                </a:solidFill>
                <a:latin typeface="Source Sans Pro"/>
                <a:cs typeface="Source Sans Pro"/>
              </a:rPr>
              <a:t>Deadline increment when budget exhausts</a:t>
            </a:r>
          </a:p>
          <a:p>
            <a:pPr algn="l">
              <a:spcBef>
                <a:spcPts val="400"/>
              </a:spcBef>
              <a:buNone/>
            </a:pPr>
            <a:r>
              <a:rPr lang="en-US" sz="1600" b="1" dirty="0">
                <a:solidFill>
                  <a:srgbClr val="1B3A5C"/>
                </a:solidFill>
                <a:latin typeface="Source Sans Pro"/>
                <a:cs typeface="Source Sans Pro"/>
              </a:rPr>
              <a:t>Us = Qs / Ts</a:t>
            </a:r>
            <a:r>
              <a:rPr lang="en-US" sz="1400" dirty="0">
                <a:solidFill>
                  <a:srgbClr val="333333"/>
                </a:solidFill>
                <a:latin typeface="Source Sans Pro"/>
                <a:cs typeface="Source Sans Pro"/>
              </a:rPr>
              <a:t> = Server Bandwidth</a:t>
            </a:r>
          </a:p>
          <a:p>
            <a:pPr marL="228600" algn="l">
              <a:spcBef>
                <a:spcPts val="100"/>
              </a:spcBef>
              <a:buNone/>
            </a:pPr>
            <a:r>
              <a:rPr lang="en-US" sz="1200" dirty="0">
                <a:solidFill>
                  <a:srgbClr val="666666"/>
                </a:solidFill>
                <a:latin typeface="Source Sans Pro"/>
                <a:cs typeface="Source Sans Pro"/>
              </a:rPr>
              <a:t>Fraction of CPU permanently reserved</a:t>
            </a:r>
          </a:p>
        </p:txBody>
      </p:sp>
      <p:sp>
        <p:nvSpPr>
          <p:cNvPr id="4" name="sched_bg"/>
          <p:cNvSpPr/>
          <p:nvPr/>
        </p:nvSpPr>
        <p:spPr>
          <a:xfrm>
            <a:off x="6100000" y="2100000"/>
            <a:ext cx="4500000" cy="2400000"/>
          </a:xfrm>
          <a:prstGeom prst="rect">
            <a:avLst/>
          </a:prstGeom>
          <a:solidFill>
            <a:srgbClr val="E8EEF4"/>
          </a:solidFill>
          <a:ln>
            <a:noFill/>
          </a:ln>
        </p:spPr>
        <p:txBody>
          <a:bodyPr rtlCol="0" anchor="ctr"/>
          <a:lstStyle/>
          <a:p>
            <a:endParaRPr lang="en-US"/>
          </a:p>
        </p:txBody>
      </p:sp>
      <p:sp>
        <p:nvSpPr>
          <p:cNvPr id="5" name="sched"/>
          <p:cNvSpPr txBox="1"/>
          <p:nvPr/>
        </p:nvSpPr>
        <p:spPr>
          <a:xfrm>
            <a:off x="6200000" y="2200000"/>
            <a:ext cx="4300000" cy="2200000"/>
          </a:xfrm>
          <a:prstGeom prst="rect">
            <a:avLst/>
          </a:prstGeom>
          <a:noFill/>
        </p:spPr>
        <p:txBody>
          <a:bodyPr lIns="91440" tIns="45720" rIns="91440" bIns="45720" rtlCol="0" anchor="t">
            <a:noAutofit/>
          </a:bodyPr>
          <a:lstStyle/>
          <a:p>
            <a:pPr algn="l">
              <a:buNone/>
            </a:pPr>
            <a:r>
              <a:rPr lang="en-US" sz="1600" b="1" dirty="0">
                <a:solidFill>
                  <a:srgbClr val="1B3A5C"/>
                </a:solidFill>
                <a:latin typeface="Source Sans Pro"/>
                <a:cs typeface="Source Sans Pro"/>
              </a:rPr>
              <a:t>Schedulability Test</a:t>
            </a:r>
          </a:p>
          <a:p>
            <a:pPr algn="l">
              <a:spcBef>
                <a:spcPts val="100"/>
              </a:spcBef>
              <a:buNone/>
            </a:pPr>
            <a:r>
              <a:rPr lang="en-US" sz="1200" dirty="0">
                <a:solidFill>
                  <a:srgbClr val="666666"/>
                </a:solidFill>
                <a:latin typeface="Source Sans Pro"/>
                <a:cs typeface="Source Sans Pro"/>
              </a:rPr>
              <a:t>(Lemma 6.6 - Buttazzo)</a:t>
            </a:r>
          </a:p>
          <a:p>
            <a:pPr algn="ctr">
              <a:spcBef>
                <a:spcPts val="500"/>
              </a:spcBef>
              <a:buNone/>
            </a:pPr>
            <a:r>
              <a:rPr lang="en-US" sz="2400" b="1" dirty="0">
                <a:solidFill>
                  <a:srgbClr val="1B3A5C"/>
                </a:solidFill>
                <a:latin typeface="Source Sans Pro"/>
                <a:cs typeface="Source Sans Pro"/>
              </a:rPr>
              <a:t>Up + Us ≤ 1</a:t>
            </a:r>
          </a:p>
          <a:p>
            <a:pPr algn="ctr">
              <a:spcBef>
                <a:spcPts val="400"/>
              </a:spcBef>
              <a:buNone/>
            </a:pPr>
            <a:r>
              <a:rPr lang="en-US" sz="1200" dirty="0">
                <a:solidFill>
                  <a:srgbClr val="333333"/>
                </a:solidFill>
                <a:latin typeface="Source Sans Pro"/>
                <a:cs typeface="Source Sans Pro"/>
              </a:rPr>
              <a:t>Up = hard task utilization</a:t>
            </a:r>
          </a:p>
          <a:p>
            <a:pPr algn="ctr">
              <a:spcBef>
                <a:spcPts val="100"/>
              </a:spcBef>
              <a:buNone/>
            </a:pPr>
            <a:r>
              <a:rPr lang="en-US" sz="1200" dirty="0">
                <a:solidFill>
                  <a:srgbClr val="333333"/>
                </a:solidFill>
                <a:latin typeface="Source Sans Pro"/>
                <a:cs typeface="Source Sans Pro"/>
              </a:rPr>
              <a:t>Us = total CBS bandwidth</a:t>
            </a:r>
          </a:p>
          <a:p>
            <a:pPr algn="ctr">
              <a:spcBef>
                <a:spcPts val="200"/>
              </a:spcBef>
              <a:buNone/>
            </a:pPr>
            <a:r>
              <a:rPr lang="en-US" sz="1200" dirty="0">
                <a:solidFill>
                  <a:srgbClr val="333333"/>
                </a:solidFill>
                <a:latin typeface="Source Sans Pro"/>
                <a:cs typeface="Source Sans Pro"/>
              </a:rPr>
              <a:t>If this holds, no hard deadline</a:t>
            </a:r>
          </a:p>
          <a:p>
            <a:pPr algn="ctr">
              <a:buNone/>
            </a:pPr>
            <a:r>
              <a:rPr lang="en-US" sz="1200" dirty="0">
                <a:solidFill>
                  <a:srgbClr val="333333"/>
                </a:solidFill>
                <a:latin typeface="Source Sans Pro"/>
                <a:cs typeface="Source Sans Pro"/>
              </a:rPr>
              <a:t>will ever be missed under EDF.</a:t>
            </a:r>
          </a:p>
        </p:txBody>
      </p:sp>
      <p:sp>
        <p:nvSpPr>
          <p:cNvPr id="6" name="example"/>
          <p:cNvSpPr txBox="1"/>
          <p:nvPr/>
        </p:nvSpPr>
        <p:spPr>
          <a:xfrm>
            <a:off x="864000" y="4700000"/>
            <a:ext cx="9700000" cy="1300000"/>
          </a:xfrm>
          <a:prstGeom prst="rect">
            <a:avLst/>
          </a:prstGeom>
          <a:noFill/>
        </p:spPr>
        <p:txBody>
          <a:bodyPr lIns="91440" tIns="45720" rIns="91440" bIns="45720" rtlCol="0" anchor="t">
            <a:noAutofit/>
          </a:bodyPr>
          <a:lstStyle/>
          <a:p>
            <a:pPr algn="l">
              <a:buNone/>
            </a:pPr>
            <a:r>
              <a:rPr lang="en-US" sz="1400" b="1" dirty="0">
                <a:solidFill>
                  <a:srgbClr val="1B3A5C"/>
                </a:solidFill>
                <a:latin typeface="Source Sans Pro"/>
                <a:cs typeface="Source Sans Pro"/>
              </a:rPr>
              <a:t>Example:</a:t>
            </a:r>
          </a:p>
          <a:p>
            <a:pPr algn="l">
              <a:spcBef>
                <a:spcPts val="200"/>
              </a:spcBef>
              <a:buNone/>
            </a:pPr>
            <a:r>
              <a:rPr lang="en-US" sz="1300" b="1" dirty="0">
                <a:solidFill>
                  <a:srgbClr val="333333"/>
                </a:solidFill>
                <a:latin typeface="Source Sans Pro"/>
                <a:cs typeface="Source Sans Pro"/>
              </a:rPr>
              <a:t>Hard tasks: </a:t>
            </a:r>
            <a:r>
              <a:rPr lang="en-US" sz="1300" dirty="0">
                <a:solidFill>
                  <a:srgbClr val="333333"/>
                </a:solidFill>
                <a:latin typeface="Source Sans Pro"/>
                <a:cs typeface="Source Sans Pro"/>
              </a:rPr>
              <a:t>τ1(C=4, T=7) → U=0.571,  τ2 not present.  CBS(Qs=3, Ts=8) → Us=0.375.  </a:t>
            </a:r>
            <a:r>
              <a:rPr lang="en-US" sz="1300" b="1" dirty="0">
                <a:solidFill>
                  <a:srgbClr val="2E8B57"/>
                </a:solidFill>
                <a:latin typeface="Source Sans Pro"/>
                <a:cs typeface="Source Sans Pro"/>
              </a:rPr>
              <a:t>Total: 0.571 + 0.375 = 0.946 ≤ 1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864000" y="780000"/>
            <a:ext cx="9600000" cy="900000"/>
          </a:xfrm>
          <a:prstGeom prst="rect">
            <a:avLst/>
          </a:prstGeom>
          <a:noFill/>
        </p:spPr>
        <p:txBody>
          <a:bodyPr lIns="91440" tIns="45720" rIns="91440" bIns="45720" rtlCol="0" anchor="t">
            <a:noAutofit/>
          </a:bodyPr>
          <a:lstStyle/>
          <a:p>
            <a:pPr algn="l">
              <a:buNone/>
            </a:pPr>
            <a:r>
              <a:rPr lang="en-US" sz="2800" b="1" dirty="0">
                <a:solidFill>
                  <a:srgbClr val="1B3A5C"/>
                </a:solidFill>
                <a:latin typeface="Source Sans Pro"/>
                <a:cs typeface="Source Sans Pro"/>
              </a:rPr>
              <a:t>The CBS Algorithm</a:t>
            </a:r>
          </a:p>
        </p:txBody>
      </p:sp>
      <p:sp>
        <p:nvSpPr>
          <p:cNvPr id="3" name="rule1"/>
          <p:cNvSpPr txBox="1"/>
          <p:nvPr/>
        </p:nvSpPr>
        <p:spPr>
          <a:xfrm>
            <a:off x="864000" y="2100000"/>
            <a:ext cx="3100000" cy="1500000"/>
          </a:xfrm>
          <a:prstGeom prst="rect">
            <a:avLst/>
          </a:prstGeom>
          <a:noFill/>
        </p:spPr>
        <p:txBody>
          <a:bodyPr lIns="91440" tIns="45720" rIns="91440" bIns="45720" rtlCol="0" anchor="t">
            <a:noAutofit/>
          </a:bodyPr>
          <a:lstStyle/>
          <a:p>
            <a:pPr algn="l">
              <a:buNone/>
            </a:pPr>
            <a:r>
              <a:rPr lang="en-US" sz="1500" b="1" dirty="0">
                <a:solidFill>
                  <a:srgbClr val="1B3A5C"/>
                </a:solidFill>
                <a:latin typeface="Source Sans Pro"/>
                <a:cs typeface="Source Sans Pro"/>
              </a:rPr>
              <a:t>Rule 1: Job Arrival</a:t>
            </a:r>
          </a:p>
          <a:p>
            <a:pPr algn="l">
              <a:spcBef>
                <a:spcPts val="100"/>
              </a:spcBef>
              <a:buNone/>
            </a:pPr>
            <a:r>
              <a:rPr lang="en-US" sz="1200" dirty="0">
                <a:solidFill>
                  <a:srgbClr val="666666"/>
                </a:solidFill>
                <a:latin typeface="Source Sans Pro"/>
                <a:cs typeface="Source Sans Pro"/>
              </a:rPr>
              <a:t>(Server Idle, Budget OK)</a:t>
            </a:r>
          </a:p>
          <a:p>
            <a:pPr marL="228600" indent="-228600" algn="l">
              <a:spcBef>
                <a:spcPts val="300"/>
              </a:spcBef>
              <a:buFont typeface="Arial"/>
              <a:buChar char="•"/>
            </a:pPr>
            <a:r>
              <a:rPr lang="en-US" sz="1300" dirty="0">
                <a:solidFill>
                  <a:srgbClr val="333333"/>
                </a:solidFill>
                <a:latin typeface="Source Sans Pro"/>
                <a:cs typeface="Source Sans Pro"/>
              </a:rPr>
              <a:t>Generate new deadline:</a:t>
            </a:r>
          </a:p>
          <a:p>
            <a:pPr marL="228600" algn="l">
              <a:buNone/>
            </a:pPr>
            <a:r>
              <a:rPr lang="en-US" sz="1300" b="1" dirty="0">
                <a:solidFill>
                  <a:srgbClr val="1B3A5C"/>
                </a:solidFill>
                <a:latin typeface="Source Sans Pro"/>
                <a:cs typeface="Source Sans Pro"/>
              </a:rPr>
              <a:t>d = r(arrival time) + Ts</a:t>
            </a:r>
          </a:p>
          <a:p>
            <a:pPr marL="228600" indent="-228600" algn="l">
              <a:spcBef>
                <a:spcPts val="100"/>
              </a:spcBef>
              <a:buFont typeface="Arial"/>
              <a:buChar char="•"/>
            </a:pPr>
            <a:r>
              <a:rPr lang="en-US" sz="1300" dirty="0">
                <a:solidFill>
                  <a:srgbClr val="333333"/>
                </a:solidFill>
                <a:latin typeface="Source Sans Pro"/>
                <a:cs typeface="Source Sans Pro"/>
              </a:rPr>
              <a:t>Recharge budget: cs = Qs</a:t>
            </a:r>
          </a:p>
          <a:p>
            <a:pPr marL="228600" indent="-228600" algn="l">
              <a:spcBef>
                <a:spcPts val="100"/>
              </a:spcBef>
              <a:buFont typeface="Arial"/>
              <a:buChar char="•"/>
            </a:pPr>
            <a:r>
              <a:rPr lang="en-US" sz="1300" dirty="0">
                <a:solidFill>
                  <a:srgbClr val="333333"/>
                </a:solidFill>
                <a:latin typeface="Source Sans Pro"/>
                <a:cs typeface="Source Sans Pro"/>
              </a:rPr>
              <a:t>Serve job immediately</a:t>
            </a:r>
          </a:p>
        </p:txBody>
      </p:sp>
      <p:sp>
        <p:nvSpPr>
          <p:cNvPr id="4" name="rule2"/>
          <p:cNvSpPr txBox="1"/>
          <p:nvPr/>
        </p:nvSpPr>
        <p:spPr>
          <a:xfrm>
            <a:off x="4100000" y="2100000"/>
            <a:ext cx="3100000" cy="1500000"/>
          </a:xfrm>
          <a:prstGeom prst="rect">
            <a:avLst/>
          </a:prstGeom>
          <a:noFill/>
        </p:spPr>
        <p:txBody>
          <a:bodyPr lIns="91440" tIns="45720" rIns="91440" bIns="45720" rtlCol="0" anchor="t">
            <a:noAutofit/>
          </a:bodyPr>
          <a:lstStyle/>
          <a:p>
            <a:pPr algn="l">
              <a:buNone/>
            </a:pPr>
            <a:r>
              <a:rPr lang="en-US" sz="1500" b="1" dirty="0">
                <a:solidFill>
                  <a:srgbClr val="1B3A5C"/>
                </a:solidFill>
                <a:latin typeface="Source Sans Pro"/>
                <a:cs typeface="Source Sans Pro"/>
              </a:rPr>
              <a:t>Rule 2: Job Arrival</a:t>
            </a:r>
          </a:p>
          <a:p>
            <a:pPr algn="l">
              <a:spcBef>
                <a:spcPts val="100"/>
              </a:spcBef>
              <a:buNone/>
            </a:pPr>
            <a:r>
              <a:rPr lang="en-US" sz="1200" dirty="0">
                <a:solidFill>
                  <a:srgbClr val="666666"/>
                </a:solidFill>
                <a:latin typeface="Source Sans Pro"/>
                <a:cs typeface="Source Sans Pro"/>
              </a:rPr>
              <a:t>(Server Idle, Budget Low)</a:t>
            </a:r>
          </a:p>
          <a:p>
            <a:pPr marL="228600" indent="-228600" algn="l">
              <a:spcBef>
                <a:spcPts val="300"/>
              </a:spcBef>
              <a:buFont typeface="Arial"/>
              <a:buChar char="•"/>
            </a:pPr>
            <a:r>
              <a:rPr lang="en-US" sz="1300" dirty="0">
                <a:solidFill>
                  <a:srgbClr val="333333"/>
                </a:solidFill>
                <a:latin typeface="Source Sans Pro"/>
                <a:cs typeface="Source Sans Pro"/>
              </a:rPr>
              <a:t>Keep old deadline</a:t>
            </a:r>
          </a:p>
          <a:p>
            <a:pPr marL="228600" indent="-228600" algn="l">
              <a:spcBef>
                <a:spcPts val="100"/>
              </a:spcBef>
              <a:buFont typeface="Arial"/>
              <a:buChar char="•"/>
            </a:pPr>
            <a:r>
              <a:rPr lang="en-US" sz="1300" dirty="0">
                <a:solidFill>
                  <a:srgbClr val="333333"/>
                </a:solidFill>
                <a:latin typeface="Source Sans Pro"/>
                <a:cs typeface="Source Sans Pro"/>
              </a:rPr>
              <a:t>Keep current budget</a:t>
            </a:r>
          </a:p>
          <a:p>
            <a:pPr marL="228600" indent="-228600" algn="l">
              <a:spcBef>
                <a:spcPts val="100"/>
              </a:spcBef>
              <a:buFont typeface="Arial"/>
              <a:buChar char="•"/>
            </a:pPr>
            <a:r>
              <a:rPr lang="en-US" sz="1300" dirty="0">
                <a:solidFill>
                  <a:srgbClr val="333333"/>
                </a:solidFill>
                <a:latin typeface="Source Sans Pro"/>
                <a:cs typeface="Source Sans Pro"/>
              </a:rPr>
              <a:t>Serve with remaining</a:t>
            </a:r>
          </a:p>
          <a:p>
            <a:pPr marL="228600" algn="l">
              <a:buNone/>
            </a:pPr>
            <a:r>
              <a:rPr lang="en-US" sz="1300" dirty="0">
                <a:solidFill>
                  <a:srgbClr val="333333"/>
                </a:solidFill>
                <a:latin typeface="Source Sans Pro"/>
                <a:cs typeface="Source Sans Pro"/>
              </a:rPr>
              <a:t>resources</a:t>
            </a:r>
          </a:p>
        </p:txBody>
      </p:sp>
      <p:sp>
        <p:nvSpPr>
          <p:cNvPr id="5" name="rule3"/>
          <p:cNvSpPr txBox="1"/>
          <p:nvPr/>
        </p:nvSpPr>
        <p:spPr>
          <a:xfrm>
            <a:off x="7300000" y="2100000"/>
            <a:ext cx="3300000" cy="1500000"/>
          </a:xfrm>
          <a:prstGeom prst="rect">
            <a:avLst/>
          </a:prstGeom>
          <a:noFill/>
        </p:spPr>
        <p:txBody>
          <a:bodyPr lIns="91440" tIns="45720" rIns="91440" bIns="45720" rtlCol="0" anchor="t">
            <a:noAutofit/>
          </a:bodyPr>
          <a:lstStyle/>
          <a:p>
            <a:pPr algn="l">
              <a:buNone/>
            </a:pPr>
            <a:r>
              <a:rPr lang="en-US" sz="1500" b="1" dirty="0">
                <a:solidFill>
                  <a:srgbClr val="CC3333"/>
                </a:solidFill>
                <a:latin typeface="Source Sans Pro"/>
                <a:cs typeface="Source Sans Pro"/>
              </a:rPr>
              <a:t>Rule 3: Budget = 0</a:t>
            </a:r>
          </a:p>
          <a:p>
            <a:pPr algn="l">
              <a:spcBef>
                <a:spcPts val="100"/>
              </a:spcBef>
              <a:buNone/>
            </a:pPr>
            <a:r>
              <a:rPr lang="en-US" sz="1200" dirty="0">
                <a:solidFill>
                  <a:srgbClr val="666666"/>
                </a:solidFill>
                <a:latin typeface="Source Sans Pro"/>
                <a:cs typeface="Source Sans Pro"/>
              </a:rPr>
              <a:t>(Key CBS Innovation)</a:t>
            </a:r>
          </a:p>
          <a:p>
            <a:pPr marL="228600" indent="-228600" algn="l">
              <a:spcBef>
                <a:spcPts val="300"/>
              </a:spcBef>
              <a:buFont typeface="Arial"/>
              <a:buChar char="•"/>
            </a:pPr>
            <a:r>
              <a:rPr lang="en-US" sz="1300" dirty="0">
                <a:solidFill>
                  <a:srgbClr val="333333"/>
                </a:solidFill>
                <a:latin typeface="Source Sans Pro"/>
                <a:cs typeface="Source Sans Pro"/>
              </a:rPr>
              <a:t>Push deadline forward:</a:t>
            </a:r>
          </a:p>
          <a:p>
            <a:pPr marL="228600" algn="l">
              <a:buNone/>
            </a:pPr>
            <a:r>
              <a:rPr lang="en-US" sz="1300" b="1" dirty="0">
                <a:solidFill>
                  <a:srgbClr val="CC3333"/>
                </a:solidFill>
                <a:latin typeface="Source Sans Pro"/>
                <a:cs typeface="Source Sans Pro"/>
              </a:rPr>
              <a:t>d = d + Ts</a:t>
            </a:r>
          </a:p>
          <a:p>
            <a:pPr marL="228600" indent="-228600" algn="l">
              <a:spcBef>
                <a:spcPts val="100"/>
              </a:spcBef>
              <a:buFont typeface="Arial"/>
              <a:buChar char="•"/>
            </a:pPr>
            <a:r>
              <a:rPr lang="en-US" sz="1300" dirty="0">
                <a:solidFill>
                  <a:srgbClr val="333333"/>
                </a:solidFill>
                <a:latin typeface="Source Sans Pro"/>
                <a:cs typeface="Source Sans Pro"/>
              </a:rPr>
              <a:t>Recharge budget: cs = Qs</a:t>
            </a:r>
          </a:p>
          <a:p>
            <a:pPr marL="228600" indent="-228600" algn="l">
              <a:spcBef>
                <a:spcPts val="100"/>
              </a:spcBef>
              <a:buFont typeface="Arial"/>
              <a:buChar char="•"/>
            </a:pPr>
            <a:r>
              <a:rPr lang="en-US" sz="1300" b="1" dirty="0">
                <a:solidFill>
                  <a:srgbClr val="2E8B57"/>
                </a:solidFill>
                <a:latin typeface="Source Sans Pro"/>
                <a:cs typeface="Source Sans Pro"/>
              </a:rPr>
              <a:t>Task keeps running!</a:t>
            </a:r>
          </a:p>
        </p:txBody>
      </p:sp>
      <p:sp>
        <p:nvSpPr>
          <p:cNvPr id="6" name="key"/>
          <p:cNvSpPr txBox="1"/>
          <p:nvPr/>
        </p:nvSpPr>
        <p:spPr>
          <a:xfrm>
            <a:off x="864000" y="3900000"/>
            <a:ext cx="9700000" cy="2000000"/>
          </a:xfrm>
          <a:prstGeom prst="rect">
            <a:avLst/>
          </a:prstGeom>
          <a:noFill/>
        </p:spPr>
        <p:txBody>
          <a:bodyPr lIns="91440" tIns="45720" rIns="91440" bIns="45720" rtlCol="0" anchor="t">
            <a:noAutofit/>
          </a:bodyPr>
          <a:lstStyle/>
          <a:p>
            <a:pPr algn="l">
              <a:spcBef>
                <a:spcPts val="200"/>
              </a:spcBef>
              <a:buNone/>
            </a:pPr>
            <a:r>
              <a:rPr lang="en-US" sz="1600" b="1" dirty="0">
                <a:solidFill>
                  <a:srgbClr val="1B3A5C"/>
                </a:solidFill>
                <a:latin typeface="Source Sans Pro"/>
                <a:cs typeface="Source Sans Pro"/>
              </a:rPr>
              <a:t>Why Rule 3 Matters</a:t>
            </a:r>
          </a:p>
          <a:p>
            <a:pPr algn="l">
              <a:spcBef>
                <a:spcPts val="200"/>
              </a:spcBef>
              <a:buNone/>
            </a:pPr>
            <a:r>
              <a:rPr lang="en-US" sz="1300" dirty="0">
                <a:solidFill>
                  <a:srgbClr val="333333"/>
                </a:solidFill>
                <a:latin typeface="Source Sans Pro"/>
                <a:cs typeface="Source Sans Pro"/>
              </a:rPr>
              <a:t>DSS stops the task when budget exhausts (wastes CPU). CBS pushes the deadline forward instead, which lowers the EDF priority. Hard tasks with earlier deadlines immediately overtake. The soft task keeps running but can no longer interfere with hard tasks.</a:t>
            </a:r>
          </a:p>
          <a:p>
            <a:pPr algn="l">
              <a:spcBef>
                <a:spcPts val="400"/>
              </a:spcBef>
              <a:buNone/>
            </a:pPr>
            <a:r>
              <a:rPr lang="en-US" sz="1400" b="1" dirty="0">
                <a:solidFill>
                  <a:srgbClr val="1B3A5C"/>
                </a:solidFill>
                <a:latin typeface="Source Sans Pro"/>
                <a:cs typeface="Source Sans Pro"/>
              </a:rPr>
              <a:t>Arrival check (formal):</a:t>
            </a:r>
          </a:p>
          <a:p>
            <a:pPr algn="l">
              <a:spcBef>
                <a:spcPts val="200"/>
              </a:spcBef>
              <a:buNone/>
            </a:pPr>
            <a:r>
              <a:rPr lang="en-US" sz="1300" dirty="0">
                <a:solidFill>
                  <a:srgbClr val="333333"/>
                </a:solidFill>
                <a:latin typeface="Source Sans Pro"/>
                <a:cs typeface="Source Sans Pro"/>
              </a:rPr>
              <a:t>If  r + (cs/Qs) × Ts ≥ dk  →  Rule 1  |  Otherwise  →  Rule 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864000" y="780000"/>
            <a:ext cx="9600000" cy="900000"/>
          </a:xfrm>
          <a:prstGeom prst="rect">
            <a:avLst/>
          </a:prstGeom>
          <a:noFill/>
        </p:spPr>
        <p:txBody>
          <a:bodyPr lIns="91440" tIns="45720" rIns="91440" bIns="45720" rtlCol="0" anchor="t">
            <a:noAutofit/>
          </a:bodyPr>
          <a:lstStyle/>
          <a:p>
            <a:pPr algn="l">
              <a:buNone/>
            </a:pPr>
            <a:r>
              <a:rPr lang="en-US" sz="2800" b="1" dirty="0">
                <a:solidFill>
                  <a:srgbClr val="1B3A5C"/>
                </a:solidFill>
                <a:latin typeface="Source Sans Pro"/>
                <a:cs typeface="Source Sans Pro"/>
              </a:rPr>
              <a:t>Scheduling Example (Buttazzo, Fig. 6.14)</a:t>
            </a:r>
          </a:p>
        </p:txBody>
      </p:sp>
      <p:sp>
        <p:nvSpPr>
          <p:cNvPr id="3" name="setup"/>
          <p:cNvSpPr txBox="1"/>
          <p:nvPr/>
        </p:nvSpPr>
        <p:spPr>
          <a:xfrm>
            <a:off x="864000" y="2100000"/>
            <a:ext cx="4600000" cy="800000"/>
          </a:xfrm>
          <a:prstGeom prst="rect">
            <a:avLst/>
          </a:prstGeom>
          <a:noFill/>
        </p:spPr>
        <p:txBody>
          <a:bodyPr lIns="91440" tIns="45720" rIns="91440" bIns="45720" rtlCol="0" anchor="t">
            <a:noAutofit/>
          </a:bodyPr>
          <a:lstStyle/>
          <a:p>
            <a:pPr algn="l">
              <a:buNone/>
            </a:pPr>
            <a:r>
              <a:rPr lang="en-US" sz="1500" b="1" dirty="0">
                <a:solidFill>
                  <a:srgbClr val="1B3A5C"/>
                </a:solidFill>
                <a:latin typeface="Source Sans Pro"/>
                <a:cs typeface="Source Sans Pro"/>
              </a:rPr>
              <a:t>Setup</a:t>
            </a:r>
          </a:p>
          <a:p>
            <a:pPr algn="l">
              <a:spcBef>
                <a:spcPts val="200"/>
              </a:spcBef>
              <a:buNone/>
            </a:pPr>
            <a:r>
              <a:rPr lang="en-US" sz="1300" dirty="0">
                <a:solidFill>
                  <a:srgbClr val="333333"/>
                </a:solidFill>
                <a:latin typeface="Source Sans Pro"/>
                <a:cs typeface="Source Sans Pro"/>
              </a:rPr>
              <a:t>Hard task τ1: C=4, T=7  |  CBS: Qs=3, Ts=8, Us=3/8</a:t>
            </a:r>
          </a:p>
          <a:p>
            <a:pPr algn="l">
              <a:spcBef>
                <a:spcPts val="100"/>
              </a:spcBef>
              <a:buNone/>
            </a:pPr>
            <a:r>
              <a:rPr lang="en-US" sz="1300" dirty="0">
                <a:solidFill>
                  <a:srgbClr val="333333"/>
                </a:solidFill>
                <a:latin typeface="Source Sans Pro"/>
                <a:cs typeface="Source Sans Pro"/>
              </a:rPr>
              <a:t>J2,1 arrives at t=3 (needs 4 units)  |  J2,2 arrives at t=13 (needs 3 units)</a:t>
            </a:r>
          </a:p>
        </p:txBody>
      </p:sp>
      <p:graphicFrame>
        <p:nvGraphicFramePr>
          <p:cNvPr id="4" name="tbl"/>
          <p:cNvGraphicFramePr>
            <a:graphicFrameLocks noGrp="1"/>
          </p:cNvGraphicFramePr>
          <p:nvPr/>
        </p:nvGraphicFramePr>
        <p:xfrm>
          <a:off x="864000" y="3100000"/>
          <a:ext cx="9500000" cy="2780000"/>
        </p:xfrm>
        <a:graphic>
          <a:graphicData uri="http://schemas.openxmlformats.org/drawingml/2006/table">
            <a:tbl>
              <a:tblPr firstRow="1" bandRow="1"/>
              <a:tblGrid>
                <a:gridCol w="14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1000000">
                  <a:extLst>
                    <a:ext uri="{9D8B030D-6E8A-4147-A177-3AD203B41FA5}">
                      <a16:colId xmlns:a16="http://schemas.microsoft.com/office/drawing/2014/main" val="20002"/>
                    </a:ext>
                  </a:extLst>
                </a:gridCol>
                <a:gridCol w="1800000">
                  <a:extLst>
                    <a:ext uri="{9D8B030D-6E8A-4147-A177-3AD203B41FA5}">
                      <a16:colId xmlns:a16="http://schemas.microsoft.com/office/drawing/2014/main" val="20003"/>
                    </a:ext>
                  </a:extLst>
                </a:gridCol>
                <a:gridCol w="1000000">
                  <a:extLst>
                    <a:ext uri="{9D8B030D-6E8A-4147-A177-3AD203B41FA5}">
                      <a16:colId xmlns:a16="http://schemas.microsoft.com/office/drawing/2014/main" val="20004"/>
                    </a:ext>
                  </a:extLst>
                </a:gridCol>
                <a:gridCol w="2500000">
                  <a:extLst>
                    <a:ext uri="{9D8B030D-6E8A-4147-A177-3AD203B41FA5}">
                      <a16:colId xmlns:a16="http://schemas.microsoft.com/office/drawing/2014/main" val="20005"/>
                    </a:ext>
                  </a:extLst>
                </a:gridCol>
              </a:tblGrid>
              <a:tr h="400000">
                <a:tc>
                  <a:txBody>
                    <a:bodyPr/>
                    <a:lstStyle/>
                    <a:p>
                      <a:pPr algn="l">
                        <a:buNone/>
                      </a:pPr>
                      <a:r>
                        <a:rPr lang="en-US" sz="1200" b="1" dirty="0">
                          <a:solidFill>
                            <a:srgbClr val="FFFFFF"/>
                          </a:solidFill>
                          <a:latin typeface="Source Sans Pro"/>
                          <a:cs typeface="Source Sans Pro"/>
                        </a:rPr>
                        <a:t>Time</a:t>
                      </a:r>
                    </a:p>
                  </a:txBody>
                  <a:tcPr>
                    <a:solidFill>
                      <a:srgbClr val="1B3A5C"/>
                    </a:solidFill>
                  </a:tcPr>
                </a:tc>
                <a:tc>
                  <a:txBody>
                    <a:bodyPr/>
                    <a:lstStyle/>
                    <a:p>
                      <a:pPr algn="l">
                        <a:buNone/>
                      </a:pPr>
                      <a:r>
                        <a:rPr lang="en-US" sz="1200" b="1" dirty="0">
                          <a:solidFill>
                            <a:srgbClr val="FFFFFF"/>
                          </a:solidFill>
                          <a:latin typeface="Source Sans Pro"/>
                          <a:cs typeface="Source Sans Pro"/>
                        </a:rPr>
                        <a:t>Event</a:t>
                      </a:r>
                    </a:p>
                  </a:txBody>
                  <a:tcPr>
                    <a:solidFill>
                      <a:srgbClr val="1B3A5C"/>
                    </a:solidFill>
                  </a:tcPr>
                </a:tc>
                <a:tc>
                  <a:txBody>
                    <a:bodyPr/>
                    <a:lstStyle/>
                    <a:p>
                      <a:pPr algn="l">
                        <a:buNone/>
                      </a:pPr>
                      <a:r>
                        <a:rPr lang="en-US" sz="1200" b="1" dirty="0">
                          <a:solidFill>
                            <a:srgbClr val="FFFFFF"/>
                          </a:solidFill>
                          <a:latin typeface="Source Sans Pro"/>
                          <a:cs typeface="Source Sans Pro"/>
                        </a:rPr>
                        <a:t>Rule</a:t>
                      </a:r>
                    </a:p>
                  </a:txBody>
                  <a:tcPr>
                    <a:solidFill>
                      <a:srgbClr val="1B3A5C"/>
                    </a:solidFill>
                  </a:tcPr>
                </a:tc>
                <a:tc>
                  <a:txBody>
                    <a:bodyPr/>
                    <a:lstStyle/>
                    <a:p>
                      <a:pPr algn="l">
                        <a:buNone/>
                      </a:pPr>
                      <a:r>
                        <a:rPr lang="en-US" sz="1200" b="1" dirty="0">
                          <a:solidFill>
                            <a:srgbClr val="FFFFFF"/>
                          </a:solidFill>
                          <a:latin typeface="Source Sans Pro"/>
                          <a:cs typeface="Source Sans Pro"/>
                        </a:rPr>
                        <a:t>Deadline</a:t>
                      </a:r>
                    </a:p>
                  </a:txBody>
                  <a:tcPr>
                    <a:solidFill>
                      <a:srgbClr val="1B3A5C"/>
                    </a:solidFill>
                  </a:tcPr>
                </a:tc>
                <a:tc>
                  <a:txBody>
                    <a:bodyPr/>
                    <a:lstStyle/>
                    <a:p>
                      <a:pPr algn="l">
                        <a:buNone/>
                      </a:pPr>
                      <a:r>
                        <a:rPr lang="en-US" sz="1200" b="1" dirty="0">
                          <a:solidFill>
                            <a:srgbClr val="FFFFFF"/>
                          </a:solidFill>
                          <a:latin typeface="Source Sans Pro"/>
                          <a:cs typeface="Source Sans Pro"/>
                        </a:rPr>
                        <a:t>Budget</a:t>
                      </a:r>
                    </a:p>
                  </a:txBody>
                  <a:tcPr>
                    <a:solidFill>
                      <a:srgbClr val="1B3A5C"/>
                    </a:solidFill>
                  </a:tcPr>
                </a:tc>
                <a:tc>
                  <a:txBody>
                    <a:bodyPr/>
                    <a:lstStyle/>
                    <a:p>
                      <a:pPr algn="l">
                        <a:buNone/>
                      </a:pPr>
                      <a:r>
                        <a:rPr lang="en-US" sz="1200" b="1" dirty="0">
                          <a:solidFill>
                            <a:srgbClr val="FFFFFF"/>
                          </a:solidFill>
                          <a:latin typeface="Source Sans Pro"/>
                          <a:cs typeface="Source Sans Pro"/>
                        </a:rPr>
                        <a:t>Who Runs?</a:t>
                      </a:r>
                    </a:p>
                  </a:txBody>
                  <a:tcPr>
                    <a:solidFill>
                      <a:srgbClr val="1B3A5C"/>
                    </a:solidFill>
                  </a:tcPr>
                </a:tc>
                <a:extLst>
                  <a:ext uri="{0D108BD9-81ED-4DB2-BD59-A6C34878D82A}">
                    <a16:rowId xmlns:a16="http://schemas.microsoft.com/office/drawing/2014/main" val="10000"/>
                  </a:ext>
                </a:extLst>
              </a:tr>
              <a:tr h="340000">
                <a:tc>
                  <a:txBody>
                    <a:bodyPr/>
                    <a:lstStyle/>
                    <a:p>
                      <a:pPr algn="l">
                        <a:buNone/>
                      </a:pPr>
                      <a:r>
                        <a:rPr lang="en-US" sz="1200" dirty="0">
                          <a:solidFill>
                            <a:srgbClr val="333333"/>
                          </a:solidFill>
                          <a:latin typeface="Source Sans Pro"/>
                          <a:cs typeface="Source Sans Pro"/>
                        </a:rPr>
                        <a:t>t=3</a:t>
                      </a:r>
                    </a:p>
                  </a:txBody>
                  <a:tcPr>
                    <a:solidFill>
                      <a:srgbClr val="F2F2F2"/>
                    </a:solidFill>
                  </a:tcPr>
                </a:tc>
                <a:tc>
                  <a:txBody>
                    <a:bodyPr/>
                    <a:lstStyle/>
                    <a:p>
                      <a:pPr algn="l">
                        <a:buNone/>
                      </a:pPr>
                      <a:r>
                        <a:rPr lang="en-US" sz="1200" dirty="0">
                          <a:solidFill>
                            <a:srgbClr val="333333"/>
                          </a:solidFill>
                          <a:latin typeface="Source Sans Pro"/>
                          <a:cs typeface="Source Sans Pro"/>
                        </a:rPr>
                        <a:t>J2,1 arrives (idle)</a:t>
                      </a:r>
                    </a:p>
                  </a:txBody>
                  <a:tcPr>
                    <a:solidFill>
                      <a:srgbClr val="F2F2F2"/>
                    </a:solidFill>
                  </a:tcPr>
                </a:tc>
                <a:tc>
                  <a:txBody>
                    <a:bodyPr/>
                    <a:lstStyle/>
                    <a:p>
                      <a:pPr algn="l">
                        <a:buNone/>
                      </a:pPr>
                      <a:r>
                        <a:rPr lang="en-US" sz="1200" dirty="0">
                          <a:solidFill>
                            <a:srgbClr val="333333"/>
                          </a:solidFill>
                          <a:latin typeface="Source Sans Pro"/>
                          <a:cs typeface="Source Sans Pro"/>
                        </a:rPr>
                        <a:t>Rule 1</a:t>
                      </a:r>
                    </a:p>
                  </a:txBody>
                  <a:tcPr>
                    <a:solidFill>
                      <a:srgbClr val="F2F2F2"/>
                    </a:solidFill>
                  </a:tcPr>
                </a:tc>
                <a:tc>
                  <a:txBody>
                    <a:bodyPr/>
                    <a:lstStyle/>
                    <a:p>
                      <a:pPr algn="l">
                        <a:buNone/>
                      </a:pPr>
                      <a:r>
                        <a:rPr lang="en-US" sz="1200" dirty="0">
                          <a:solidFill>
                            <a:srgbClr val="333333"/>
                          </a:solidFill>
                          <a:latin typeface="Source Sans Pro"/>
                          <a:cs typeface="Source Sans Pro"/>
                        </a:rPr>
                        <a:t>d1 = 3+8 = 11</a:t>
                      </a:r>
                    </a:p>
                  </a:txBody>
                  <a:tcPr>
                    <a:solidFill>
                      <a:srgbClr val="F2F2F2"/>
                    </a:solidFill>
                  </a:tcPr>
                </a:tc>
                <a:tc>
                  <a:txBody>
                    <a:bodyPr/>
                    <a:lstStyle/>
                    <a:p>
                      <a:pPr algn="l">
                        <a:buNone/>
                      </a:pPr>
                      <a:r>
                        <a:rPr lang="en-US" sz="1200" dirty="0">
                          <a:solidFill>
                            <a:srgbClr val="333333"/>
                          </a:solidFill>
                          <a:latin typeface="Source Sans Pro"/>
                          <a:cs typeface="Source Sans Pro"/>
                        </a:rPr>
                        <a:t>cs = 3</a:t>
                      </a:r>
                    </a:p>
                  </a:txBody>
                  <a:tcPr>
                    <a:solidFill>
                      <a:srgbClr val="F2F2F2"/>
                    </a:solidFill>
                  </a:tcPr>
                </a:tc>
                <a:tc>
                  <a:txBody>
                    <a:bodyPr/>
                    <a:lstStyle/>
                    <a:p>
                      <a:pPr algn="l">
                        <a:buNone/>
                      </a:pPr>
                      <a:r>
                        <a:rPr lang="en-US" sz="1200" dirty="0">
                          <a:solidFill>
                            <a:srgbClr val="333333"/>
                          </a:solidFill>
                          <a:latin typeface="Source Sans Pro"/>
                          <a:cs typeface="Source Sans Pro"/>
                        </a:rPr>
                        <a:t>τ1 (deadline 7 &lt; 11)</a:t>
                      </a:r>
                    </a:p>
                  </a:txBody>
                  <a:tcPr>
                    <a:solidFill>
                      <a:srgbClr val="F2F2F2"/>
                    </a:solidFill>
                  </a:tcPr>
                </a:tc>
                <a:extLst>
                  <a:ext uri="{0D108BD9-81ED-4DB2-BD59-A6C34878D82A}">
                    <a16:rowId xmlns:a16="http://schemas.microsoft.com/office/drawing/2014/main" val="10001"/>
                  </a:ext>
                </a:extLst>
              </a:tr>
              <a:tr h="340000">
                <a:tc>
                  <a:txBody>
                    <a:bodyPr/>
                    <a:lstStyle/>
                    <a:p>
                      <a:pPr algn="l">
                        <a:buNone/>
                      </a:pPr>
                      <a:r>
                        <a:rPr lang="en-US" sz="1200" dirty="0">
                          <a:solidFill>
                            <a:srgbClr val="333333"/>
                          </a:solidFill>
                          <a:latin typeface="Source Sans Pro"/>
                          <a:cs typeface="Source Sans Pro"/>
                        </a:rPr>
                        <a:t>t=4</a:t>
                      </a:r>
                    </a:p>
                  </a:txBody>
                  <a:tcPr>
                    <a:solidFill>
                      <a:srgbClr val="FFFFFF"/>
                    </a:solidFill>
                  </a:tcPr>
                </a:tc>
                <a:tc>
                  <a:txBody>
                    <a:bodyPr/>
                    <a:lstStyle/>
                    <a:p>
                      <a:pPr algn="l">
                        <a:buNone/>
                      </a:pPr>
                      <a:r>
                        <a:rPr lang="en-US" sz="1200" dirty="0">
                          <a:solidFill>
                            <a:srgbClr val="333333"/>
                          </a:solidFill>
                          <a:latin typeface="Source Sans Pro"/>
                          <a:cs typeface="Source Sans Pro"/>
                        </a:rPr>
                        <a:t>τ1 finishes</a:t>
                      </a:r>
                    </a:p>
                  </a:txBody>
                  <a:tcPr>
                    <a:solidFill>
                      <a:srgbClr val="FFFFFF"/>
                    </a:solidFill>
                  </a:tcPr>
                </a:tc>
                <a:tc>
                  <a:txBody>
                    <a:bodyPr/>
                    <a:lstStyle/>
                    <a:p>
                      <a:pPr algn="l">
                        <a:buNone/>
                      </a:pPr>
                      <a:r>
                        <a:rPr lang="en-US" sz="1200" dirty="0">
                          <a:solidFill>
                            <a:srgbClr val="333333"/>
                          </a:solidFill>
                          <a:latin typeface="Source Sans Pro"/>
                          <a:cs typeface="Source Sans Pro"/>
                        </a:rPr>
                        <a:t>-</a:t>
                      </a:r>
                    </a:p>
                  </a:txBody>
                  <a:tcPr>
                    <a:solidFill>
                      <a:srgbClr val="FFFFFF"/>
                    </a:solidFill>
                  </a:tcPr>
                </a:tc>
                <a:tc>
                  <a:txBody>
                    <a:bodyPr/>
                    <a:lstStyle/>
                    <a:p>
                      <a:pPr algn="l">
                        <a:buNone/>
                      </a:pPr>
                      <a:r>
                        <a:rPr lang="en-US" sz="1200" dirty="0">
                          <a:solidFill>
                            <a:srgbClr val="333333"/>
                          </a:solidFill>
                          <a:latin typeface="Source Sans Pro"/>
                          <a:cs typeface="Source Sans Pro"/>
                        </a:rPr>
                        <a:t>-</a:t>
                      </a:r>
                    </a:p>
                  </a:txBody>
                  <a:tcPr>
                    <a:solidFill>
                      <a:srgbClr val="FFFFFF"/>
                    </a:solidFill>
                  </a:tcPr>
                </a:tc>
                <a:tc>
                  <a:txBody>
                    <a:bodyPr/>
                    <a:lstStyle/>
                    <a:p>
                      <a:pPr algn="l">
                        <a:buNone/>
                      </a:pPr>
                      <a:r>
                        <a:rPr lang="en-US" sz="1200" dirty="0">
                          <a:solidFill>
                            <a:srgbClr val="333333"/>
                          </a:solidFill>
                          <a:latin typeface="Source Sans Pro"/>
                          <a:cs typeface="Source Sans Pro"/>
                        </a:rPr>
                        <a:t>-</a:t>
                      </a:r>
                    </a:p>
                  </a:txBody>
                  <a:tcPr>
                    <a:solidFill>
                      <a:srgbClr val="FFFFFF"/>
                    </a:solidFill>
                  </a:tcPr>
                </a:tc>
                <a:tc>
                  <a:txBody>
                    <a:bodyPr/>
                    <a:lstStyle/>
                    <a:p>
                      <a:pPr algn="l">
                        <a:buNone/>
                      </a:pPr>
                      <a:r>
                        <a:rPr lang="en-US" sz="1200" dirty="0">
                          <a:solidFill>
                            <a:srgbClr val="333333"/>
                          </a:solidFill>
                          <a:latin typeface="Source Sans Pro"/>
                          <a:cs typeface="Source Sans Pro"/>
                        </a:rPr>
                        <a:t>CBS starts J2,1</a:t>
                      </a:r>
                    </a:p>
                  </a:txBody>
                  <a:tcPr>
                    <a:solidFill>
                      <a:srgbClr val="FFFFFF"/>
                    </a:solidFill>
                  </a:tcPr>
                </a:tc>
                <a:extLst>
                  <a:ext uri="{0D108BD9-81ED-4DB2-BD59-A6C34878D82A}">
                    <a16:rowId xmlns:a16="http://schemas.microsoft.com/office/drawing/2014/main" val="10002"/>
                  </a:ext>
                </a:extLst>
              </a:tr>
              <a:tr h="340000">
                <a:tc>
                  <a:txBody>
                    <a:bodyPr/>
                    <a:lstStyle/>
                    <a:p>
                      <a:pPr algn="l">
                        <a:buNone/>
                      </a:pPr>
                      <a:r>
                        <a:rPr lang="en-US" sz="1200" dirty="0">
                          <a:solidFill>
                            <a:srgbClr val="333333"/>
                          </a:solidFill>
                          <a:latin typeface="Source Sans Pro"/>
                          <a:cs typeface="Source Sans Pro"/>
                        </a:rPr>
                        <a:t>t=7</a:t>
                      </a:r>
                    </a:p>
                  </a:txBody>
                  <a:tcPr>
                    <a:solidFill>
                      <a:srgbClr val="F2F2F2"/>
                    </a:solidFill>
                  </a:tcPr>
                </a:tc>
                <a:tc>
                  <a:txBody>
                    <a:bodyPr/>
                    <a:lstStyle/>
                    <a:p>
                      <a:pPr algn="l">
                        <a:buNone/>
                      </a:pPr>
                      <a:r>
                        <a:rPr lang="en-US" sz="1200" dirty="0">
                          <a:solidFill>
                            <a:srgbClr val="333333"/>
                          </a:solidFill>
                          <a:latin typeface="Source Sans Pro"/>
                          <a:cs typeface="Source Sans Pro"/>
                        </a:rPr>
                        <a:t>cs = 0</a:t>
                      </a:r>
                    </a:p>
                  </a:txBody>
                  <a:tcPr>
                    <a:solidFill>
                      <a:srgbClr val="F2F2F2"/>
                    </a:solidFill>
                  </a:tcPr>
                </a:tc>
                <a:tc>
                  <a:txBody>
                    <a:bodyPr/>
                    <a:lstStyle/>
                    <a:p>
                      <a:pPr algn="l">
                        <a:buNone/>
                      </a:pPr>
                      <a:r>
                        <a:rPr lang="en-US" sz="1200" dirty="0">
                          <a:solidFill>
                            <a:srgbClr val="333333"/>
                          </a:solidFill>
                          <a:latin typeface="Source Sans Pro"/>
                          <a:cs typeface="Source Sans Pro"/>
                        </a:rPr>
                        <a:t>Rule 3</a:t>
                      </a:r>
                    </a:p>
                  </a:txBody>
                  <a:tcPr>
                    <a:solidFill>
                      <a:srgbClr val="F2F2F2"/>
                    </a:solidFill>
                  </a:tcPr>
                </a:tc>
                <a:tc>
                  <a:txBody>
                    <a:bodyPr/>
                    <a:lstStyle/>
                    <a:p>
                      <a:pPr algn="l">
                        <a:buNone/>
                      </a:pPr>
                      <a:r>
                        <a:rPr lang="en-US" sz="1200" dirty="0">
                          <a:solidFill>
                            <a:srgbClr val="333333"/>
                          </a:solidFill>
                          <a:latin typeface="Source Sans Pro"/>
                          <a:cs typeface="Source Sans Pro"/>
                        </a:rPr>
                        <a:t>d2 = 11+8 = 19</a:t>
                      </a:r>
                    </a:p>
                  </a:txBody>
                  <a:tcPr>
                    <a:solidFill>
                      <a:srgbClr val="F2F2F2"/>
                    </a:solidFill>
                  </a:tcPr>
                </a:tc>
                <a:tc>
                  <a:txBody>
                    <a:bodyPr/>
                    <a:lstStyle/>
                    <a:p>
                      <a:pPr algn="l">
                        <a:buNone/>
                      </a:pPr>
                      <a:r>
                        <a:rPr lang="en-US" sz="1200" dirty="0">
                          <a:solidFill>
                            <a:srgbClr val="333333"/>
                          </a:solidFill>
                          <a:latin typeface="Source Sans Pro"/>
                          <a:cs typeface="Source Sans Pro"/>
                        </a:rPr>
                        <a:t>cs = 3</a:t>
                      </a:r>
                    </a:p>
                  </a:txBody>
                  <a:tcPr>
                    <a:solidFill>
                      <a:srgbClr val="F2F2F2"/>
                    </a:solidFill>
                  </a:tcPr>
                </a:tc>
                <a:tc>
                  <a:txBody>
                    <a:bodyPr/>
                    <a:lstStyle/>
                    <a:p>
                      <a:pPr algn="l">
                        <a:buNone/>
                      </a:pPr>
                      <a:r>
                        <a:rPr lang="en-US" sz="1200" dirty="0">
                          <a:solidFill>
                            <a:srgbClr val="333333"/>
                          </a:solidFill>
                          <a:latin typeface="Source Sans Pro"/>
                          <a:cs typeface="Source Sans Pro"/>
                        </a:rPr>
                        <a:t>τ1 overtakes (14 &lt; 19)</a:t>
                      </a:r>
                    </a:p>
                  </a:txBody>
                  <a:tcPr>
                    <a:solidFill>
                      <a:srgbClr val="F2F2F2"/>
                    </a:solidFill>
                  </a:tcPr>
                </a:tc>
                <a:extLst>
                  <a:ext uri="{0D108BD9-81ED-4DB2-BD59-A6C34878D82A}">
                    <a16:rowId xmlns:a16="http://schemas.microsoft.com/office/drawing/2014/main" val="10003"/>
                  </a:ext>
                </a:extLst>
              </a:tr>
              <a:tr h="340000">
                <a:tc>
                  <a:txBody>
                    <a:bodyPr/>
                    <a:lstStyle/>
                    <a:p>
                      <a:pPr algn="l">
                        <a:buNone/>
                      </a:pPr>
                      <a:r>
                        <a:rPr lang="en-US" sz="1200" dirty="0">
                          <a:solidFill>
                            <a:srgbClr val="333333"/>
                          </a:solidFill>
                          <a:latin typeface="Source Sans Pro"/>
                          <a:cs typeface="Source Sans Pro"/>
                        </a:rPr>
                        <a:t>t=11</a:t>
                      </a:r>
                    </a:p>
                  </a:txBody>
                  <a:tcPr>
                    <a:solidFill>
                      <a:srgbClr val="FFFFFF"/>
                    </a:solidFill>
                  </a:tcPr>
                </a:tc>
                <a:tc>
                  <a:txBody>
                    <a:bodyPr/>
                    <a:lstStyle/>
                    <a:p>
                      <a:pPr algn="l">
                        <a:buNone/>
                      </a:pPr>
                      <a:r>
                        <a:rPr lang="en-US" sz="1200" dirty="0">
                          <a:solidFill>
                            <a:srgbClr val="333333"/>
                          </a:solidFill>
                          <a:latin typeface="Source Sans Pro"/>
                          <a:cs typeface="Source Sans Pro"/>
                        </a:rPr>
                        <a:t>τ1 finishes</a:t>
                      </a:r>
                    </a:p>
                  </a:txBody>
                  <a:tcPr>
                    <a:solidFill>
                      <a:srgbClr val="FFFFFF"/>
                    </a:solidFill>
                  </a:tcPr>
                </a:tc>
                <a:tc>
                  <a:txBody>
                    <a:bodyPr/>
                    <a:lstStyle/>
                    <a:p>
                      <a:pPr algn="l">
                        <a:buNone/>
                      </a:pPr>
                      <a:r>
                        <a:rPr lang="en-US" sz="1200" dirty="0">
                          <a:solidFill>
                            <a:srgbClr val="333333"/>
                          </a:solidFill>
                          <a:latin typeface="Source Sans Pro"/>
                          <a:cs typeface="Source Sans Pro"/>
                        </a:rPr>
                        <a:t>-</a:t>
                      </a:r>
                    </a:p>
                  </a:txBody>
                  <a:tcPr>
                    <a:solidFill>
                      <a:srgbClr val="FFFFFF"/>
                    </a:solidFill>
                  </a:tcPr>
                </a:tc>
                <a:tc>
                  <a:txBody>
                    <a:bodyPr/>
                    <a:lstStyle/>
                    <a:p>
                      <a:pPr algn="l">
                        <a:buNone/>
                      </a:pPr>
                      <a:r>
                        <a:rPr lang="en-US" sz="1200" dirty="0">
                          <a:solidFill>
                            <a:srgbClr val="333333"/>
                          </a:solidFill>
                          <a:latin typeface="Source Sans Pro"/>
                          <a:cs typeface="Source Sans Pro"/>
                        </a:rPr>
                        <a:t>-</a:t>
                      </a:r>
                    </a:p>
                  </a:txBody>
                  <a:tcPr>
                    <a:solidFill>
                      <a:srgbClr val="FFFFFF"/>
                    </a:solidFill>
                  </a:tcPr>
                </a:tc>
                <a:tc>
                  <a:txBody>
                    <a:bodyPr/>
                    <a:lstStyle/>
                    <a:p>
                      <a:pPr algn="l">
                        <a:buNone/>
                      </a:pPr>
                      <a:r>
                        <a:rPr lang="en-US" sz="1200" dirty="0">
                          <a:solidFill>
                            <a:srgbClr val="333333"/>
                          </a:solidFill>
                          <a:latin typeface="Source Sans Pro"/>
                          <a:cs typeface="Source Sans Pro"/>
                        </a:rPr>
                        <a:t>-</a:t>
                      </a:r>
                    </a:p>
                  </a:txBody>
                  <a:tcPr>
                    <a:solidFill>
                      <a:srgbClr val="FFFFFF"/>
                    </a:solidFill>
                  </a:tcPr>
                </a:tc>
                <a:tc>
                  <a:txBody>
                    <a:bodyPr/>
                    <a:lstStyle/>
                    <a:p>
                      <a:pPr algn="l">
                        <a:buNone/>
                      </a:pPr>
                      <a:r>
                        <a:rPr lang="en-US" sz="1200" dirty="0">
                          <a:solidFill>
                            <a:srgbClr val="333333"/>
                          </a:solidFill>
                          <a:latin typeface="Source Sans Pro"/>
                          <a:cs typeface="Source Sans Pro"/>
                        </a:rPr>
                        <a:t>CBS resumes J2,1</a:t>
                      </a:r>
                    </a:p>
                  </a:txBody>
                  <a:tcPr>
                    <a:solidFill>
                      <a:srgbClr val="FFFFFF"/>
                    </a:solidFill>
                  </a:tcPr>
                </a:tc>
                <a:extLst>
                  <a:ext uri="{0D108BD9-81ED-4DB2-BD59-A6C34878D82A}">
                    <a16:rowId xmlns:a16="http://schemas.microsoft.com/office/drawing/2014/main" val="10004"/>
                  </a:ext>
                </a:extLst>
              </a:tr>
              <a:tr h="340000">
                <a:tc>
                  <a:txBody>
                    <a:bodyPr/>
                    <a:lstStyle/>
                    <a:p>
                      <a:pPr algn="l">
                        <a:buNone/>
                      </a:pPr>
                      <a:r>
                        <a:rPr lang="en-US" sz="1200" dirty="0">
                          <a:solidFill>
                            <a:srgbClr val="333333"/>
                          </a:solidFill>
                          <a:latin typeface="Source Sans Pro"/>
                          <a:cs typeface="Source Sans Pro"/>
                        </a:rPr>
                        <a:t>t=12</a:t>
                      </a:r>
                    </a:p>
                  </a:txBody>
                  <a:tcPr>
                    <a:solidFill>
                      <a:srgbClr val="F2F2F2"/>
                    </a:solidFill>
                  </a:tcPr>
                </a:tc>
                <a:tc>
                  <a:txBody>
                    <a:bodyPr/>
                    <a:lstStyle/>
                    <a:p>
                      <a:pPr algn="l">
                        <a:buNone/>
                      </a:pPr>
                      <a:r>
                        <a:rPr lang="en-US" sz="1200" dirty="0">
                          <a:solidFill>
                            <a:srgbClr val="333333"/>
                          </a:solidFill>
                          <a:latin typeface="Source Sans Pro"/>
                          <a:cs typeface="Source Sans Pro"/>
                        </a:rPr>
                        <a:t>J2,1 finishes</a:t>
                      </a:r>
                    </a:p>
                  </a:txBody>
                  <a:tcPr>
                    <a:solidFill>
                      <a:srgbClr val="F2F2F2"/>
                    </a:solidFill>
                  </a:tcPr>
                </a:tc>
                <a:tc>
                  <a:txBody>
                    <a:bodyPr/>
                    <a:lstStyle/>
                    <a:p>
                      <a:pPr algn="l">
                        <a:buNone/>
                      </a:pPr>
                      <a:r>
                        <a:rPr lang="en-US" sz="1200" dirty="0">
                          <a:solidFill>
                            <a:srgbClr val="333333"/>
                          </a:solidFill>
                          <a:latin typeface="Source Sans Pro"/>
                          <a:cs typeface="Source Sans Pro"/>
                        </a:rPr>
                        <a:t>-</a:t>
                      </a:r>
                    </a:p>
                  </a:txBody>
                  <a:tcPr>
                    <a:solidFill>
                      <a:srgbClr val="F2F2F2"/>
                    </a:solidFill>
                  </a:tcPr>
                </a:tc>
                <a:tc>
                  <a:txBody>
                    <a:bodyPr/>
                    <a:lstStyle/>
                    <a:p>
                      <a:pPr algn="l">
                        <a:buNone/>
                      </a:pPr>
                      <a:r>
                        <a:rPr lang="en-US" sz="1200" dirty="0">
                          <a:solidFill>
                            <a:srgbClr val="333333"/>
                          </a:solidFill>
                          <a:latin typeface="Source Sans Pro"/>
                          <a:cs typeface="Source Sans Pro"/>
                        </a:rPr>
                        <a:t>-</a:t>
                      </a:r>
                    </a:p>
                  </a:txBody>
                  <a:tcPr>
                    <a:solidFill>
                      <a:srgbClr val="F2F2F2"/>
                    </a:solidFill>
                  </a:tcPr>
                </a:tc>
                <a:tc>
                  <a:txBody>
                    <a:bodyPr/>
                    <a:lstStyle/>
                    <a:p>
                      <a:pPr algn="l">
                        <a:buNone/>
                      </a:pPr>
                      <a:r>
                        <a:rPr lang="en-US" sz="1200" dirty="0">
                          <a:solidFill>
                            <a:srgbClr val="333333"/>
                          </a:solidFill>
                          <a:latin typeface="Source Sans Pro"/>
                          <a:cs typeface="Source Sans Pro"/>
                        </a:rPr>
                        <a:t>cs = 2</a:t>
                      </a:r>
                    </a:p>
                  </a:txBody>
                  <a:tcPr>
                    <a:solidFill>
                      <a:srgbClr val="F2F2F2"/>
                    </a:solidFill>
                  </a:tcPr>
                </a:tc>
                <a:tc>
                  <a:txBody>
                    <a:bodyPr/>
                    <a:lstStyle/>
                    <a:p>
                      <a:pPr algn="l">
                        <a:buNone/>
                      </a:pPr>
                      <a:r>
                        <a:rPr lang="en-US" sz="1200" dirty="0">
                          <a:solidFill>
                            <a:srgbClr val="333333"/>
                          </a:solidFill>
                          <a:latin typeface="Source Sans Pro"/>
                          <a:cs typeface="Source Sans Pro"/>
                        </a:rPr>
                        <a:t>Server idle</a:t>
                      </a:r>
                    </a:p>
                  </a:txBody>
                  <a:tcPr>
                    <a:solidFill>
                      <a:srgbClr val="F2F2F2"/>
                    </a:solidFill>
                  </a:tcPr>
                </a:tc>
                <a:extLst>
                  <a:ext uri="{0D108BD9-81ED-4DB2-BD59-A6C34878D82A}">
                    <a16:rowId xmlns:a16="http://schemas.microsoft.com/office/drawing/2014/main" val="10005"/>
                  </a:ext>
                </a:extLst>
              </a:tr>
              <a:tr h="340000">
                <a:tc>
                  <a:txBody>
                    <a:bodyPr/>
                    <a:lstStyle/>
                    <a:p>
                      <a:pPr algn="l">
                        <a:buNone/>
                      </a:pPr>
                      <a:r>
                        <a:rPr lang="en-US" sz="1200" dirty="0">
                          <a:solidFill>
                            <a:srgbClr val="333333"/>
                          </a:solidFill>
                          <a:latin typeface="Source Sans Pro"/>
                          <a:cs typeface="Source Sans Pro"/>
                        </a:rPr>
                        <a:t>t=13</a:t>
                      </a:r>
                    </a:p>
                  </a:txBody>
                  <a:tcPr>
                    <a:solidFill>
                      <a:srgbClr val="FFFFFF"/>
                    </a:solidFill>
                  </a:tcPr>
                </a:tc>
                <a:tc>
                  <a:txBody>
                    <a:bodyPr/>
                    <a:lstStyle/>
                    <a:p>
                      <a:pPr algn="l">
                        <a:buNone/>
                      </a:pPr>
                      <a:r>
                        <a:rPr lang="en-US" sz="1200" dirty="0">
                          <a:solidFill>
                            <a:srgbClr val="333333"/>
                          </a:solidFill>
                          <a:latin typeface="Source Sans Pro"/>
                          <a:cs typeface="Source Sans Pro"/>
                        </a:rPr>
                        <a:t>J2,2 arrives (idle)</a:t>
                      </a:r>
                    </a:p>
                  </a:txBody>
                  <a:tcPr>
                    <a:solidFill>
                      <a:srgbClr val="FFFFFF"/>
                    </a:solidFill>
                  </a:tcPr>
                </a:tc>
                <a:tc>
                  <a:txBody>
                    <a:bodyPr/>
                    <a:lstStyle/>
                    <a:p>
                      <a:pPr algn="l">
                        <a:buNone/>
                      </a:pPr>
                      <a:r>
                        <a:rPr lang="en-US" sz="1200" dirty="0">
                          <a:solidFill>
                            <a:srgbClr val="333333"/>
                          </a:solidFill>
                          <a:latin typeface="Source Sans Pro"/>
                          <a:cs typeface="Source Sans Pro"/>
                        </a:rPr>
                        <a:t>Rule 2</a:t>
                      </a:r>
                    </a:p>
                  </a:txBody>
                  <a:tcPr>
                    <a:solidFill>
                      <a:srgbClr val="FFFFFF"/>
                    </a:solidFill>
                  </a:tcPr>
                </a:tc>
                <a:tc>
                  <a:txBody>
                    <a:bodyPr/>
                    <a:lstStyle/>
                    <a:p>
                      <a:pPr algn="l">
                        <a:buNone/>
                      </a:pPr>
                      <a:r>
                        <a:rPr lang="en-US" sz="1200" dirty="0">
                          <a:solidFill>
                            <a:srgbClr val="333333"/>
                          </a:solidFill>
                          <a:latin typeface="Source Sans Pro"/>
                          <a:cs typeface="Source Sans Pro"/>
                        </a:rPr>
                        <a:t>d stays 19</a:t>
                      </a:r>
                    </a:p>
                  </a:txBody>
                  <a:tcPr>
                    <a:solidFill>
                      <a:srgbClr val="FFFFFF"/>
                    </a:solidFill>
                  </a:tcPr>
                </a:tc>
                <a:tc>
                  <a:txBody>
                    <a:bodyPr/>
                    <a:lstStyle/>
                    <a:p>
                      <a:pPr algn="l">
                        <a:buNone/>
                      </a:pPr>
                      <a:r>
                        <a:rPr lang="en-US" sz="1200" dirty="0">
                          <a:solidFill>
                            <a:srgbClr val="333333"/>
                          </a:solidFill>
                          <a:latin typeface="Source Sans Pro"/>
                          <a:cs typeface="Source Sans Pro"/>
                        </a:rPr>
                        <a:t>cs = 2</a:t>
                      </a:r>
                    </a:p>
                  </a:txBody>
                  <a:tcPr>
                    <a:solidFill>
                      <a:srgbClr val="FFFFFF"/>
                    </a:solidFill>
                  </a:tcPr>
                </a:tc>
                <a:tc>
                  <a:txBody>
                    <a:bodyPr/>
                    <a:lstStyle/>
                    <a:p>
                      <a:pPr algn="l">
                        <a:buNone/>
                      </a:pPr>
                      <a:r>
                        <a:rPr lang="en-US" sz="1200" dirty="0">
                          <a:solidFill>
                            <a:srgbClr val="333333"/>
                          </a:solidFill>
                          <a:latin typeface="Source Sans Pro"/>
                          <a:cs typeface="Source Sans Pro"/>
                        </a:rPr>
                        <a:t>CBS runs (19 &lt; 21)</a:t>
                      </a:r>
                    </a:p>
                  </a:txBody>
                  <a:tcPr>
                    <a:solidFill>
                      <a:srgbClr val="FFFFFF"/>
                    </a:solidFill>
                  </a:tcPr>
                </a:tc>
                <a:extLst>
                  <a:ext uri="{0D108BD9-81ED-4DB2-BD59-A6C34878D82A}">
                    <a16:rowId xmlns:a16="http://schemas.microsoft.com/office/drawing/2014/main" val="10006"/>
                  </a:ext>
                </a:extLst>
              </a:tr>
              <a:tr h="340000">
                <a:tc>
                  <a:txBody>
                    <a:bodyPr/>
                    <a:lstStyle/>
                    <a:p>
                      <a:pPr algn="l">
                        <a:buNone/>
                      </a:pPr>
                      <a:r>
                        <a:rPr lang="en-US" sz="1200" dirty="0">
                          <a:solidFill>
                            <a:srgbClr val="333333"/>
                          </a:solidFill>
                          <a:latin typeface="Source Sans Pro"/>
                          <a:cs typeface="Source Sans Pro"/>
                        </a:rPr>
                        <a:t>t=15</a:t>
                      </a:r>
                    </a:p>
                  </a:txBody>
                  <a:tcPr>
                    <a:solidFill>
                      <a:srgbClr val="F2F2F2"/>
                    </a:solidFill>
                  </a:tcPr>
                </a:tc>
                <a:tc>
                  <a:txBody>
                    <a:bodyPr/>
                    <a:lstStyle/>
                    <a:p>
                      <a:pPr algn="l">
                        <a:buNone/>
                      </a:pPr>
                      <a:r>
                        <a:rPr lang="en-US" sz="1200" dirty="0">
                          <a:solidFill>
                            <a:srgbClr val="333333"/>
                          </a:solidFill>
                          <a:latin typeface="Source Sans Pro"/>
                          <a:cs typeface="Source Sans Pro"/>
                        </a:rPr>
                        <a:t>cs = 0</a:t>
                      </a:r>
                    </a:p>
                  </a:txBody>
                  <a:tcPr>
                    <a:solidFill>
                      <a:srgbClr val="F2F2F2"/>
                    </a:solidFill>
                  </a:tcPr>
                </a:tc>
                <a:tc>
                  <a:txBody>
                    <a:bodyPr/>
                    <a:lstStyle/>
                    <a:p>
                      <a:pPr algn="l">
                        <a:buNone/>
                      </a:pPr>
                      <a:r>
                        <a:rPr lang="en-US" sz="1200" dirty="0">
                          <a:solidFill>
                            <a:srgbClr val="333333"/>
                          </a:solidFill>
                          <a:latin typeface="Source Sans Pro"/>
                          <a:cs typeface="Source Sans Pro"/>
                        </a:rPr>
                        <a:t>Rule 3</a:t>
                      </a:r>
                    </a:p>
                  </a:txBody>
                  <a:tcPr>
                    <a:solidFill>
                      <a:srgbClr val="F2F2F2"/>
                    </a:solidFill>
                  </a:tcPr>
                </a:tc>
                <a:tc>
                  <a:txBody>
                    <a:bodyPr/>
                    <a:lstStyle/>
                    <a:p>
                      <a:pPr algn="l">
                        <a:buNone/>
                      </a:pPr>
                      <a:r>
                        <a:rPr lang="en-US" sz="1200" dirty="0">
                          <a:solidFill>
                            <a:srgbClr val="333333"/>
                          </a:solidFill>
                          <a:latin typeface="Source Sans Pro"/>
                          <a:cs typeface="Source Sans Pro"/>
                        </a:rPr>
                        <a:t>d3 = 19+8 = 27</a:t>
                      </a:r>
                    </a:p>
                  </a:txBody>
                  <a:tcPr>
                    <a:solidFill>
                      <a:srgbClr val="F2F2F2"/>
                    </a:solidFill>
                  </a:tcPr>
                </a:tc>
                <a:tc>
                  <a:txBody>
                    <a:bodyPr/>
                    <a:lstStyle/>
                    <a:p>
                      <a:pPr algn="l">
                        <a:buNone/>
                      </a:pPr>
                      <a:r>
                        <a:rPr lang="en-US" sz="1200" dirty="0">
                          <a:solidFill>
                            <a:srgbClr val="333333"/>
                          </a:solidFill>
                          <a:latin typeface="Source Sans Pro"/>
                          <a:cs typeface="Source Sans Pro"/>
                        </a:rPr>
                        <a:t>cs = 3</a:t>
                      </a:r>
                    </a:p>
                  </a:txBody>
                  <a:tcPr>
                    <a:solidFill>
                      <a:srgbClr val="F2F2F2"/>
                    </a:solidFill>
                  </a:tcPr>
                </a:tc>
                <a:tc>
                  <a:txBody>
                    <a:bodyPr/>
                    <a:lstStyle/>
                    <a:p>
                      <a:pPr algn="l">
                        <a:buNone/>
                      </a:pPr>
                      <a:r>
                        <a:rPr lang="en-US" sz="1200" dirty="0">
                          <a:solidFill>
                            <a:srgbClr val="333333"/>
                          </a:solidFill>
                          <a:latin typeface="Source Sans Pro"/>
                          <a:cs typeface="Source Sans Pro"/>
                        </a:rPr>
                        <a:t>τ1 overtakes (21 &lt; 27)</a:t>
                      </a:r>
                    </a:p>
                  </a:txBody>
                  <a:tcPr>
                    <a:solidFill>
                      <a:srgbClr val="F2F2F2"/>
                    </a:solidFill>
                  </a:tcPr>
                </a:tc>
                <a:extLst>
                  <a:ext uri="{0D108BD9-81ED-4DB2-BD59-A6C34878D82A}">
                    <a16:rowId xmlns:a16="http://schemas.microsoft.com/office/drawing/2014/main" val="10007"/>
                  </a:ext>
                </a:extLst>
              </a:tr>
            </a:tbl>
          </a:graphicData>
        </a:graphic>
      </p:graphicFrame>
      <p:sp>
        <p:nvSpPr>
          <p:cNvPr id="5" name="result"/>
          <p:cNvSpPr txBox="1"/>
          <p:nvPr/>
        </p:nvSpPr>
        <p:spPr>
          <a:xfrm>
            <a:off x="864000" y="5880000"/>
            <a:ext cx="9700000" cy="500000"/>
          </a:xfrm>
          <a:prstGeom prst="rect">
            <a:avLst/>
          </a:prstGeom>
          <a:noFill/>
        </p:spPr>
        <p:txBody>
          <a:bodyPr lIns="91440" tIns="45720" rIns="91440" bIns="45720" rtlCol="0" anchor="t">
            <a:noAutofit/>
          </a:bodyPr>
          <a:lstStyle/>
          <a:p>
            <a:pPr algn="l">
              <a:buNone/>
            </a:pPr>
            <a:r>
              <a:rPr lang="en-US" sz="1300" b="1" dirty="0">
                <a:solidFill>
                  <a:srgbClr val="1B3A5C"/>
                </a:solidFill>
                <a:latin typeface="Source Sans Pro"/>
                <a:cs typeface="Source Sans Pro"/>
              </a:rPr>
              <a:t>Result: </a:t>
            </a:r>
            <a:r>
              <a:rPr lang="en-US" sz="1300" dirty="0">
                <a:solidFill>
                  <a:srgbClr val="333333"/>
                </a:solidFill>
                <a:latin typeface="Source Sans Pro"/>
                <a:cs typeface="Source Sans Pro"/>
              </a:rPr>
              <a:t>τ1 met every deadline (7✓  14✓  21✓).  CBS automatically protected hard tasks through deadline postponement.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864000" y="780000"/>
            <a:ext cx="9600000" cy="900000"/>
          </a:xfrm>
          <a:prstGeom prst="rect">
            <a:avLst/>
          </a:prstGeom>
          <a:noFill/>
        </p:spPr>
        <p:txBody>
          <a:bodyPr lIns="91440" tIns="45720" rIns="91440" bIns="45720" rtlCol="0" anchor="t">
            <a:noAutofit/>
          </a:bodyPr>
          <a:lstStyle/>
          <a:p>
            <a:pPr algn="l">
              <a:buNone/>
            </a:pPr>
            <a:r>
              <a:rPr lang="en-US" sz="2800" b="1" dirty="0">
                <a:solidFill>
                  <a:srgbClr val="1B3A5C"/>
                </a:solidFill>
                <a:latin typeface="Source Sans Pro"/>
                <a:cs typeface="Source Sans Pro"/>
              </a:rPr>
              <a:t>CBS Properties</a:t>
            </a:r>
          </a:p>
        </p:txBody>
      </p:sp>
      <p:sp>
        <p:nvSpPr>
          <p:cNvPr id="3" name="p1bg"/>
          <p:cNvSpPr/>
          <p:nvPr/>
        </p:nvSpPr>
        <p:spPr>
          <a:xfrm>
            <a:off x="864000" y="2100000"/>
            <a:ext cx="4600000" cy="1100000"/>
          </a:xfrm>
          <a:prstGeom prst="rect">
            <a:avLst/>
          </a:prstGeom>
          <a:solidFill>
            <a:srgbClr val="E8EEF4"/>
          </a:solidFill>
          <a:ln>
            <a:noFill/>
          </a:ln>
        </p:spPr>
        <p:txBody>
          <a:bodyPr rtlCol="0" anchor="ctr"/>
          <a:lstStyle/>
          <a:p>
            <a:endParaRPr lang="en-US"/>
          </a:p>
        </p:txBody>
      </p:sp>
      <p:sp>
        <p:nvSpPr>
          <p:cNvPr id="4" name="p1"/>
          <p:cNvSpPr txBox="1"/>
          <p:nvPr/>
        </p:nvSpPr>
        <p:spPr>
          <a:xfrm>
            <a:off x="964000" y="2180000"/>
            <a:ext cx="4400000" cy="900000"/>
          </a:xfrm>
          <a:prstGeom prst="rect">
            <a:avLst/>
          </a:prstGeom>
          <a:noFill/>
        </p:spPr>
        <p:txBody>
          <a:bodyPr lIns="91440" tIns="45720" rIns="91440" bIns="45720" rtlCol="0" anchor="t">
            <a:noAutofit/>
          </a:bodyPr>
          <a:lstStyle/>
          <a:p>
            <a:pPr algn="l">
              <a:buNone/>
            </a:pPr>
            <a:r>
              <a:rPr lang="en-US" sz="1400" b="1" dirty="0">
                <a:solidFill>
                  <a:srgbClr val="1B3A5C"/>
                </a:solidFill>
                <a:latin typeface="Source Sans Pro"/>
                <a:cs typeface="Source Sans Pro"/>
              </a:rPr>
              <a:t>1. Isolation Property (Theorem 6.8 - Buttazzo)</a:t>
            </a:r>
          </a:p>
          <a:p>
            <a:pPr algn="l">
              <a:spcBef>
                <a:spcPts val="200"/>
              </a:spcBef>
              <a:buNone/>
            </a:pPr>
            <a:r>
              <a:rPr lang="en-US" sz="1200" dirty="0">
                <a:solidFill>
                  <a:srgbClr val="333333"/>
                </a:solidFill>
                <a:latin typeface="Source Sans Pro"/>
                <a:cs typeface="Source Sans Pro"/>
              </a:rPr>
              <a:t>CPU utilization of CBS = Us = Qs/Ts, always. Regardless of soft task behavior. Overruns cannot leak to hard tasks.</a:t>
            </a:r>
          </a:p>
        </p:txBody>
      </p:sp>
      <p:sp>
        <p:nvSpPr>
          <p:cNvPr id="5" name="p2bg"/>
          <p:cNvSpPr/>
          <p:nvPr/>
        </p:nvSpPr>
        <p:spPr>
          <a:xfrm>
            <a:off x="5700000" y="2100000"/>
            <a:ext cx="4900000" cy="1100000"/>
          </a:xfrm>
          <a:prstGeom prst="rect">
            <a:avLst/>
          </a:prstGeom>
          <a:solidFill>
            <a:srgbClr val="E8EEF4"/>
          </a:solidFill>
          <a:ln>
            <a:noFill/>
          </a:ln>
        </p:spPr>
        <p:txBody>
          <a:bodyPr rtlCol="0" anchor="ctr"/>
          <a:lstStyle/>
          <a:p>
            <a:endParaRPr lang="en-US"/>
          </a:p>
        </p:txBody>
      </p:sp>
      <p:sp>
        <p:nvSpPr>
          <p:cNvPr id="6" name="p2"/>
          <p:cNvSpPr txBox="1"/>
          <p:nvPr/>
        </p:nvSpPr>
        <p:spPr>
          <a:xfrm>
            <a:off x="5800000" y="2180000"/>
            <a:ext cx="4700000" cy="900000"/>
          </a:xfrm>
          <a:prstGeom prst="rect">
            <a:avLst/>
          </a:prstGeom>
          <a:noFill/>
        </p:spPr>
        <p:txBody>
          <a:bodyPr lIns="91440" tIns="45720" rIns="91440" bIns="45720" rtlCol="0" anchor="t">
            <a:noAutofit/>
          </a:bodyPr>
          <a:lstStyle/>
          <a:p>
            <a:pPr algn="l">
              <a:buNone/>
            </a:pPr>
            <a:r>
              <a:rPr lang="en-US" sz="1400" b="1" dirty="0">
                <a:solidFill>
                  <a:srgbClr val="1B3A5C"/>
                </a:solidFill>
                <a:latin typeface="Source Sans Pro"/>
                <a:cs typeface="Source Sans Pro"/>
              </a:rPr>
              <a:t>2. Schedulability Guarantee (Lemma 6.6 - Buttazzo)</a:t>
            </a:r>
          </a:p>
          <a:p>
            <a:pPr algn="l">
              <a:spcBef>
                <a:spcPts val="200"/>
              </a:spcBef>
              <a:buNone/>
            </a:pPr>
            <a:r>
              <a:rPr lang="en-US" sz="1200" dirty="0">
                <a:solidFill>
                  <a:srgbClr val="333333"/>
                </a:solidFill>
                <a:latin typeface="Source Sans Pro"/>
                <a:cs typeface="Source Sans Pro"/>
              </a:rPr>
              <a:t>Up + Us ≤ 1 is both necessary and sufficient. One simple test guarantees the entire system.</a:t>
            </a:r>
          </a:p>
        </p:txBody>
      </p:sp>
      <p:sp>
        <p:nvSpPr>
          <p:cNvPr id="7" name="p3bg"/>
          <p:cNvSpPr/>
          <p:nvPr/>
        </p:nvSpPr>
        <p:spPr>
          <a:xfrm>
            <a:off x="864000" y="3400000"/>
            <a:ext cx="4600000" cy="1100000"/>
          </a:xfrm>
          <a:prstGeom prst="rect">
            <a:avLst/>
          </a:prstGeom>
          <a:solidFill>
            <a:srgbClr val="E8EEF4"/>
          </a:solidFill>
          <a:ln>
            <a:noFill/>
          </a:ln>
        </p:spPr>
        <p:txBody>
          <a:bodyPr rtlCol="0" anchor="ctr"/>
          <a:lstStyle/>
          <a:p>
            <a:endParaRPr lang="en-US"/>
          </a:p>
        </p:txBody>
      </p:sp>
      <p:sp>
        <p:nvSpPr>
          <p:cNvPr id="8" name="p3"/>
          <p:cNvSpPr txBox="1"/>
          <p:nvPr/>
        </p:nvSpPr>
        <p:spPr>
          <a:xfrm>
            <a:off x="964000" y="3480000"/>
            <a:ext cx="4400000" cy="900000"/>
          </a:xfrm>
          <a:prstGeom prst="rect">
            <a:avLst/>
          </a:prstGeom>
          <a:noFill/>
        </p:spPr>
        <p:txBody>
          <a:bodyPr lIns="91440" tIns="45720" rIns="91440" bIns="45720" rtlCol="0" anchor="t">
            <a:noAutofit/>
          </a:bodyPr>
          <a:lstStyle/>
          <a:p>
            <a:pPr algn="l">
              <a:buNone/>
            </a:pPr>
            <a:r>
              <a:rPr lang="en-US" sz="1400" b="1" dirty="0">
                <a:solidFill>
                  <a:srgbClr val="1B3A5C"/>
                </a:solidFill>
                <a:latin typeface="Source Sans Pro"/>
                <a:cs typeface="Source Sans Pro"/>
              </a:rPr>
              <a:t>3. EDF Equivalence (Lemma 6.7 - Buttazzo)</a:t>
            </a:r>
          </a:p>
          <a:p>
            <a:pPr algn="l">
              <a:spcBef>
                <a:spcPts val="200"/>
              </a:spcBef>
              <a:buNone/>
            </a:pPr>
            <a:r>
              <a:rPr lang="en-US" sz="1200" dirty="0">
                <a:solidFill>
                  <a:srgbClr val="333333"/>
                </a:solidFill>
                <a:latin typeface="Source Sans Pro"/>
                <a:cs typeface="Source Sans Pro"/>
              </a:rPr>
              <a:t>When Ci ≤ Qs and Ti = Ts, CBS behaves identically to plain EDF. Zero overhead in the ideal case.</a:t>
            </a:r>
          </a:p>
        </p:txBody>
      </p:sp>
      <p:sp>
        <p:nvSpPr>
          <p:cNvPr id="9" name="p4bg"/>
          <p:cNvSpPr/>
          <p:nvPr/>
        </p:nvSpPr>
        <p:spPr>
          <a:xfrm>
            <a:off x="5700000" y="3400000"/>
            <a:ext cx="4900000" cy="1100000"/>
          </a:xfrm>
          <a:prstGeom prst="rect">
            <a:avLst/>
          </a:prstGeom>
          <a:solidFill>
            <a:srgbClr val="E8EEF4"/>
          </a:solidFill>
          <a:ln>
            <a:noFill/>
          </a:ln>
        </p:spPr>
        <p:txBody>
          <a:bodyPr rtlCol="0" anchor="ctr"/>
          <a:lstStyle/>
          <a:p>
            <a:endParaRPr lang="en-US"/>
          </a:p>
        </p:txBody>
      </p:sp>
      <p:sp>
        <p:nvSpPr>
          <p:cNvPr id="10" name="p4"/>
          <p:cNvSpPr txBox="1"/>
          <p:nvPr/>
        </p:nvSpPr>
        <p:spPr>
          <a:xfrm>
            <a:off x="5800000" y="3480000"/>
            <a:ext cx="4700000" cy="900000"/>
          </a:xfrm>
          <a:prstGeom prst="rect">
            <a:avLst/>
          </a:prstGeom>
          <a:noFill/>
        </p:spPr>
        <p:txBody>
          <a:bodyPr lIns="91440" tIns="45720" rIns="91440" bIns="45720" rtlCol="0" anchor="t">
            <a:noAutofit/>
          </a:bodyPr>
          <a:lstStyle/>
          <a:p>
            <a:pPr algn="l">
              <a:buNone/>
            </a:pPr>
            <a:r>
              <a:rPr lang="en-US" sz="1400" b="1" dirty="0">
                <a:solidFill>
                  <a:srgbClr val="1B3A5C"/>
                </a:solidFill>
                <a:latin typeface="Source Sans Pro"/>
                <a:cs typeface="Source Sans Pro"/>
              </a:rPr>
              <a:t>4. Work-Conserving</a:t>
            </a:r>
          </a:p>
          <a:p>
            <a:pPr algn="l">
              <a:spcBef>
                <a:spcPts val="200"/>
              </a:spcBef>
              <a:buNone/>
            </a:pPr>
            <a:r>
              <a:rPr lang="en-US" sz="1200" dirty="0">
                <a:solidFill>
                  <a:srgbClr val="333333"/>
                </a:solidFill>
                <a:latin typeface="Source Sans Pro"/>
                <a:cs typeface="Source Sans Pro"/>
              </a:rPr>
              <a:t>CBS never wastes idle CPU. Budget is recharged immediately when exhausted. All available slack is automatically reclaimed.</a:t>
            </a:r>
          </a:p>
        </p:txBody>
      </p:sp>
      <p:sp>
        <p:nvSpPr>
          <p:cNvPr id="11" name="summary"/>
          <p:cNvSpPr txBox="1"/>
          <p:nvPr/>
        </p:nvSpPr>
        <p:spPr>
          <a:xfrm>
            <a:off x="864000" y="4800000"/>
            <a:ext cx="9700000" cy="1200000"/>
          </a:xfrm>
          <a:prstGeom prst="rect">
            <a:avLst/>
          </a:prstGeom>
          <a:noFill/>
        </p:spPr>
        <p:txBody>
          <a:bodyPr lIns="91440" tIns="45720" rIns="91440" bIns="45720" rtlCol="0" anchor="t">
            <a:noAutofit/>
          </a:bodyPr>
          <a:lstStyle/>
          <a:p>
            <a:pPr algn="l">
              <a:spcBef>
                <a:spcPts val="200"/>
              </a:spcBef>
              <a:buNone/>
            </a:pPr>
            <a:r>
              <a:rPr lang="en-US" sz="1500" b="1" dirty="0">
                <a:solidFill>
                  <a:srgbClr val="1B3A5C"/>
                </a:solidFill>
                <a:latin typeface="Source Sans Pro"/>
                <a:cs typeface="Source Sans Pro"/>
              </a:rPr>
              <a:t>Key Insight</a:t>
            </a:r>
          </a:p>
          <a:p>
            <a:pPr algn="l">
              <a:spcBef>
                <a:spcPts val="200"/>
              </a:spcBef>
              <a:buNone/>
            </a:pPr>
            <a:r>
              <a:rPr lang="en-US" sz="1300" dirty="0">
                <a:solidFill>
                  <a:srgbClr val="333333"/>
                </a:solidFill>
                <a:latin typeface="Source Sans Pro"/>
                <a:cs typeface="Source Sans Pro"/>
              </a:rPr>
              <a:t>The isolation property is the core guarantee. It ensures the CBS server contributes exactly Us to total utilization, no matter what the soft task does. This is what DSS achieves but TBS cannot (under unknown WCET).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864000" y="780000"/>
            <a:ext cx="9600000" cy="900000"/>
          </a:xfrm>
          <a:prstGeom prst="rect">
            <a:avLst/>
          </a:prstGeom>
          <a:noFill/>
        </p:spPr>
        <p:txBody>
          <a:bodyPr lIns="91440" tIns="45720" rIns="91440" bIns="45720" rtlCol="0" anchor="t">
            <a:noAutofit/>
          </a:bodyPr>
          <a:lstStyle/>
          <a:p>
            <a:pPr algn="l">
              <a:buNone/>
            </a:pPr>
            <a:r>
              <a:rPr lang="en-US" sz="2800" b="1" dirty="0">
                <a:solidFill>
                  <a:srgbClr val="1B3A5C"/>
                </a:solidFill>
                <a:latin typeface="Source Sans Pro"/>
                <a:cs typeface="Source Sans Pro"/>
              </a:rPr>
              <a:t>Performance Evaluation</a:t>
            </a:r>
          </a:p>
        </p:txBody>
      </p:sp>
      <p:sp>
        <p:nvSpPr>
          <p:cNvPr id="3" name="exp1"/>
          <p:cNvSpPr txBox="1"/>
          <p:nvPr/>
        </p:nvSpPr>
        <p:spPr>
          <a:xfrm>
            <a:off x="864000" y="2100000"/>
            <a:ext cx="5000000" cy="1200000"/>
          </a:xfrm>
          <a:prstGeom prst="rect">
            <a:avLst/>
          </a:prstGeom>
          <a:noFill/>
        </p:spPr>
        <p:txBody>
          <a:bodyPr lIns="91440" tIns="45720" rIns="91440" bIns="45720" rtlCol="0" anchor="t">
            <a:noAutofit/>
          </a:bodyPr>
          <a:lstStyle/>
          <a:p>
            <a:pPr algn="l">
              <a:buNone/>
            </a:pPr>
            <a:r>
              <a:rPr lang="en-US" sz="1500" b="1" dirty="0">
                <a:solidFill>
                  <a:srgbClr val="1B3A5C"/>
                </a:solidFill>
                <a:latin typeface="Source Sans Pro"/>
                <a:cs typeface="Source Sans Pro"/>
              </a:rPr>
              <a:t>Experiment 1: U-hard = 0.5 (hard task load at 50%)</a:t>
            </a:r>
          </a:p>
          <a:p>
            <a:pPr marL="228600" indent="-228600" algn="l">
              <a:spcBef>
                <a:spcPts val="200"/>
              </a:spcBef>
              <a:buFont typeface="Arial"/>
              <a:buChar char="•"/>
            </a:pPr>
            <a:r>
              <a:rPr lang="en-US" sz="1300" dirty="0">
                <a:solidFill>
                  <a:srgbClr val="CC3333"/>
                </a:solidFill>
                <a:latin typeface="Source Sans Pro"/>
                <a:cs typeface="Source Sans Pro"/>
              </a:rPr>
              <a:t>DSS: very high tardiness (goes idle, wastes CPU)</a:t>
            </a:r>
          </a:p>
          <a:p>
            <a:pPr marL="228600" indent="-228600" algn="l">
              <a:spcBef>
                <a:spcPts val="100"/>
              </a:spcBef>
              <a:buFont typeface="Arial"/>
              <a:buChar char="•"/>
            </a:pPr>
            <a:r>
              <a:rPr lang="en-US" sz="1300" dirty="0">
                <a:solidFill>
                  <a:srgbClr val="2E8B57"/>
                </a:solidFill>
                <a:latin typeface="Source Sans Pro"/>
                <a:cs typeface="Source Sans Pro"/>
              </a:rPr>
              <a:t>CBS and TBS: both achieve low tardiness</a:t>
            </a:r>
          </a:p>
          <a:p>
            <a:pPr marL="228600" indent="-228600" algn="l">
              <a:spcBef>
                <a:spcPts val="100"/>
              </a:spcBef>
              <a:buFont typeface="Arial"/>
              <a:buChar char="•"/>
            </a:pPr>
            <a:r>
              <a:rPr lang="en-US" sz="1300" dirty="0">
                <a:solidFill>
                  <a:srgbClr val="333333"/>
                </a:solidFill>
                <a:latin typeface="Source Sans Pro"/>
                <a:cs typeface="Source Sans Pro"/>
              </a:rPr>
              <a:t>DSS is dramatically worse than CBS and TBS</a:t>
            </a:r>
          </a:p>
        </p:txBody>
      </p:sp>
      <p:sp>
        <p:nvSpPr>
          <p:cNvPr id="4" name="exp2"/>
          <p:cNvSpPr txBox="1"/>
          <p:nvPr/>
        </p:nvSpPr>
        <p:spPr>
          <a:xfrm>
            <a:off x="5700000" y="2100000"/>
            <a:ext cx="4900000" cy="1200000"/>
          </a:xfrm>
          <a:prstGeom prst="rect">
            <a:avLst/>
          </a:prstGeom>
          <a:noFill/>
        </p:spPr>
        <p:txBody>
          <a:bodyPr lIns="91440" tIns="45720" rIns="91440" bIns="45720" rtlCol="0" anchor="t">
            <a:noAutofit/>
          </a:bodyPr>
          <a:lstStyle/>
          <a:p>
            <a:pPr algn="l">
              <a:buNone/>
            </a:pPr>
            <a:r>
              <a:rPr lang="en-US" sz="1500" b="1" dirty="0">
                <a:solidFill>
                  <a:srgbClr val="1B3A5C"/>
                </a:solidFill>
                <a:latin typeface="Source Sans Pro"/>
                <a:cs typeface="Source Sans Pro"/>
              </a:rPr>
              <a:t>Experiment 2: U-hard = 0.7 (hard task load at 70%)</a:t>
            </a:r>
          </a:p>
          <a:p>
            <a:pPr marL="228600" indent="-228600" algn="l">
              <a:spcBef>
                <a:spcPts val="200"/>
              </a:spcBef>
              <a:buFont typeface="Arial"/>
              <a:buChar char="•"/>
            </a:pPr>
            <a:r>
              <a:rPr lang="en-US" sz="1300" dirty="0">
                <a:solidFill>
                  <a:srgbClr val="333333"/>
                </a:solidFill>
                <a:latin typeface="Source Sans Pro"/>
                <a:cs typeface="Source Sans Pro"/>
              </a:rPr>
              <a:t>TBS slightly outperforms CBS</a:t>
            </a:r>
          </a:p>
          <a:p>
            <a:pPr marL="228600" indent="-228600" algn="l">
              <a:spcBef>
                <a:spcPts val="100"/>
              </a:spcBef>
              <a:buFont typeface="Arial"/>
              <a:buChar char="•"/>
            </a:pPr>
            <a:r>
              <a:rPr lang="en-US" sz="1300" dirty="0">
                <a:solidFill>
                  <a:srgbClr val="CC3333"/>
                </a:solidFill>
                <a:latin typeface="Source Sans Pro"/>
                <a:cs typeface="Source Sans Pro"/>
              </a:rPr>
              <a:t>But TBS does not protect hard tasks</a:t>
            </a:r>
          </a:p>
          <a:p>
            <a:pPr marL="228600" algn="l">
              <a:buNone/>
            </a:pPr>
            <a:r>
              <a:rPr lang="en-US" sz="1300" dirty="0">
                <a:solidFill>
                  <a:srgbClr val="CC3333"/>
                </a:solidFill>
                <a:latin typeface="Source Sans Pro"/>
                <a:cs typeface="Source Sans Pro"/>
              </a:rPr>
              <a:t>from transient overruns</a:t>
            </a:r>
          </a:p>
        </p:txBody>
      </p:sp>
      <p:sp>
        <p:nvSpPr>
          <p:cNvPr id="5" name="exp3"/>
          <p:cNvSpPr txBox="1"/>
          <p:nvPr/>
        </p:nvSpPr>
        <p:spPr>
          <a:xfrm>
            <a:off x="864000" y="3500000"/>
            <a:ext cx="9700000" cy="1500000"/>
          </a:xfrm>
          <a:prstGeom prst="rect">
            <a:avLst/>
          </a:prstGeom>
          <a:noFill/>
        </p:spPr>
        <p:txBody>
          <a:bodyPr lIns="91440" tIns="45720" rIns="91440" bIns="45720" rtlCol="0" anchor="t">
            <a:noAutofit/>
          </a:bodyPr>
          <a:lstStyle/>
          <a:p>
            <a:pPr algn="l">
              <a:buNone/>
            </a:pPr>
            <a:r>
              <a:rPr lang="en-US" sz="1500" b="1" dirty="0">
                <a:solidFill>
                  <a:srgbClr val="1B3A5C"/>
                </a:solidFill>
                <a:latin typeface="Source Sans Pro"/>
                <a:cs typeface="Source Sans Pro"/>
              </a:rPr>
              <a:t>Experiment 3: Variable Execution Times (Key Result)</a:t>
            </a:r>
          </a:p>
          <a:p>
            <a:pPr algn="l">
              <a:spcBef>
                <a:spcPts val="200"/>
              </a:spcBef>
              <a:buNone/>
            </a:pPr>
            <a:r>
              <a:rPr lang="en-US" sz="1300" dirty="0">
                <a:solidFill>
                  <a:srgbClr val="333333"/>
                </a:solidFill>
                <a:latin typeface="Source Sans Pro"/>
                <a:cs typeface="Source Sans Pro"/>
              </a:rPr>
              <a:t>When WCET is much larger than average execution time, TBS over-reserves and underutilizes the processor.</a:t>
            </a:r>
          </a:p>
          <a:p>
            <a:pPr algn="l">
              <a:spcBef>
                <a:spcPts val="200"/>
              </a:spcBef>
              <a:buNone/>
            </a:pPr>
            <a:r>
              <a:rPr lang="en-US" sz="1300" b="1" dirty="0">
                <a:solidFill>
                  <a:srgbClr val="2E8B57"/>
                </a:solidFill>
                <a:latin typeface="Source Sans Pro"/>
                <a:cs typeface="Source Sans Pro"/>
              </a:rPr>
              <a:t>CBS adapts dynamically and outperforms TBS significantly as execution time variance increases.</a:t>
            </a:r>
          </a:p>
          <a:p>
            <a:pPr algn="l">
              <a:spcBef>
                <a:spcPts val="200"/>
              </a:spcBef>
              <a:buNone/>
            </a:pPr>
            <a:r>
              <a:rPr lang="en-US" sz="1300" dirty="0">
                <a:solidFill>
                  <a:srgbClr val="333333"/>
                </a:solidFill>
                <a:latin typeface="Source Sans Pro"/>
                <a:cs typeface="Source Sans Pro"/>
              </a:rPr>
              <a:t>This is the key advantage of CBS: it thrives in the exact conditions where TBS breaks down.</a:t>
            </a:r>
          </a:p>
        </p:txBody>
      </p:sp>
      <p:graphicFrame>
        <p:nvGraphicFramePr>
          <p:cNvPr id="6" name="tbl2"/>
          <p:cNvGraphicFramePr>
            <a:graphicFrameLocks noGrp="1"/>
          </p:cNvGraphicFramePr>
          <p:nvPr/>
        </p:nvGraphicFramePr>
        <p:xfrm>
          <a:off x="864000" y="5200000"/>
          <a:ext cx="9500000" cy="1080000"/>
        </p:xfrm>
        <a:graphic>
          <a:graphicData uri="http://schemas.openxmlformats.org/drawingml/2006/table">
            <a:tbl>
              <a:tblPr firstRow="1" bandRow="1"/>
              <a:tblGrid>
                <a:gridCol w="2200000">
                  <a:extLst>
                    <a:ext uri="{9D8B030D-6E8A-4147-A177-3AD203B41FA5}">
                      <a16:colId xmlns:a16="http://schemas.microsoft.com/office/drawing/2014/main" val="20000"/>
                    </a:ext>
                  </a:extLst>
                </a:gridCol>
                <a:gridCol w="2000000">
                  <a:extLst>
                    <a:ext uri="{9D8B030D-6E8A-4147-A177-3AD203B41FA5}">
                      <a16:colId xmlns:a16="http://schemas.microsoft.com/office/drawing/2014/main" val="20001"/>
                    </a:ext>
                  </a:extLst>
                </a:gridCol>
                <a:gridCol w="3000000">
                  <a:extLst>
                    <a:ext uri="{9D8B030D-6E8A-4147-A177-3AD203B41FA5}">
                      <a16:colId xmlns:a16="http://schemas.microsoft.com/office/drawing/2014/main" val="20002"/>
                    </a:ext>
                  </a:extLst>
                </a:gridCol>
                <a:gridCol w="2300000">
                  <a:extLst>
                    <a:ext uri="{9D8B030D-6E8A-4147-A177-3AD203B41FA5}">
                      <a16:colId xmlns:a16="http://schemas.microsoft.com/office/drawing/2014/main" val="20003"/>
                    </a:ext>
                  </a:extLst>
                </a:gridCol>
              </a:tblGrid>
              <a:tr h="400000">
                <a:tc>
                  <a:txBody>
                    <a:bodyPr/>
                    <a:lstStyle/>
                    <a:p>
                      <a:pPr algn="l">
                        <a:buNone/>
                      </a:pPr>
                      <a:r>
                        <a:rPr lang="en-US" sz="1200" b="1" dirty="0">
                          <a:solidFill>
                            <a:srgbClr val="FFFFFF"/>
                          </a:solidFill>
                          <a:latin typeface="Source Sans Pro"/>
                          <a:cs typeface="Source Sans Pro"/>
                        </a:rPr>
                        <a:t>Property</a:t>
                      </a:r>
                    </a:p>
                  </a:txBody>
                  <a:tcPr>
                    <a:solidFill>
                      <a:srgbClr val="1B3A5C"/>
                    </a:solidFill>
                  </a:tcPr>
                </a:tc>
                <a:tc>
                  <a:txBody>
                    <a:bodyPr/>
                    <a:lstStyle/>
                    <a:p>
                      <a:pPr algn="l">
                        <a:buNone/>
                      </a:pPr>
                      <a:r>
                        <a:rPr lang="en-US" sz="1200" b="1" dirty="0">
                          <a:solidFill>
                            <a:srgbClr val="FFFFFF"/>
                          </a:solidFill>
                          <a:latin typeface="Source Sans Pro"/>
                          <a:cs typeface="Source Sans Pro"/>
                        </a:rPr>
                        <a:t>DSS</a:t>
                      </a:r>
                    </a:p>
                  </a:txBody>
                  <a:tcPr>
                    <a:solidFill>
                      <a:srgbClr val="1B3A5C"/>
                    </a:solidFill>
                  </a:tcPr>
                </a:tc>
                <a:tc>
                  <a:txBody>
                    <a:bodyPr/>
                    <a:lstStyle/>
                    <a:p>
                      <a:pPr algn="l">
                        <a:buNone/>
                      </a:pPr>
                      <a:r>
                        <a:rPr lang="en-US" sz="1200" b="1" dirty="0">
                          <a:solidFill>
                            <a:srgbClr val="FFFFFF"/>
                          </a:solidFill>
                          <a:latin typeface="Source Sans Pro"/>
                          <a:cs typeface="Source Sans Pro"/>
                        </a:rPr>
                        <a:t>TBS</a:t>
                      </a:r>
                    </a:p>
                  </a:txBody>
                  <a:tcPr>
                    <a:solidFill>
                      <a:srgbClr val="1B3A5C"/>
                    </a:solidFill>
                  </a:tcPr>
                </a:tc>
                <a:tc>
                  <a:txBody>
                    <a:bodyPr/>
                    <a:lstStyle/>
                    <a:p>
                      <a:pPr algn="l">
                        <a:buNone/>
                      </a:pPr>
                      <a:r>
                        <a:rPr lang="en-US" sz="1200" b="1" dirty="0">
                          <a:solidFill>
                            <a:srgbClr val="FFFFFF"/>
                          </a:solidFill>
                          <a:latin typeface="Source Sans Pro"/>
                          <a:cs typeface="Source Sans Pro"/>
                        </a:rPr>
                        <a:t>CBS</a:t>
                      </a:r>
                    </a:p>
                  </a:txBody>
                  <a:tcPr>
                    <a:solidFill>
                      <a:srgbClr val="1B3A5C"/>
                    </a:solidFill>
                  </a:tcPr>
                </a:tc>
                <a:extLst>
                  <a:ext uri="{0D108BD9-81ED-4DB2-BD59-A6C34878D82A}">
                    <a16:rowId xmlns:a16="http://schemas.microsoft.com/office/drawing/2014/main" val="10000"/>
                  </a:ext>
                </a:extLst>
              </a:tr>
              <a:tr h="340000">
                <a:tc>
                  <a:txBody>
                    <a:bodyPr/>
                    <a:lstStyle/>
                    <a:p>
                      <a:pPr algn="l">
                        <a:buNone/>
                      </a:pPr>
                      <a:r>
                        <a:rPr lang="en-US" sz="1200" dirty="0">
                          <a:solidFill>
                            <a:srgbClr val="333333"/>
                          </a:solidFill>
                          <a:latin typeface="Source Sans Pro"/>
                          <a:cs typeface="Source Sans Pro"/>
                        </a:rPr>
                        <a:t>Protects hard tasks</a:t>
                      </a:r>
                    </a:p>
                  </a:txBody>
                  <a:tcPr>
                    <a:solidFill>
                      <a:srgbClr val="F2F2F2"/>
                    </a:solidFill>
                  </a:tcPr>
                </a:tc>
                <a:tc>
                  <a:txBody>
                    <a:bodyPr/>
                    <a:lstStyle/>
                    <a:p>
                      <a:pPr algn="l">
                        <a:buNone/>
                      </a:pPr>
                      <a:r>
                        <a:rPr lang="en-US" sz="1200" dirty="0">
                          <a:solidFill>
                            <a:srgbClr val="333333"/>
                          </a:solidFill>
                          <a:latin typeface="Source Sans Pro"/>
                          <a:cs typeface="Source Sans Pro"/>
                        </a:rPr>
                        <a:t>✓ Yes</a:t>
                      </a:r>
                    </a:p>
                  </a:txBody>
                  <a:tcPr>
                    <a:solidFill>
                      <a:srgbClr val="F2F2F2"/>
                    </a:solidFill>
                  </a:tcPr>
                </a:tc>
                <a:tc>
                  <a:txBody>
                    <a:bodyPr/>
                    <a:lstStyle/>
                    <a:p>
                      <a:pPr algn="l">
                        <a:buNone/>
                      </a:pPr>
                      <a:r>
                        <a:rPr lang="en-US" sz="1200" dirty="0">
                          <a:solidFill>
                            <a:srgbClr val="333333"/>
                          </a:solidFill>
                          <a:latin typeface="Source Sans Pro"/>
                          <a:cs typeface="Source Sans Pro"/>
                        </a:rPr>
                        <a:t>✗ Only if WCET known</a:t>
                      </a:r>
                    </a:p>
                  </a:txBody>
                  <a:tcPr>
                    <a:solidFill>
                      <a:srgbClr val="F2F2F2"/>
                    </a:solidFill>
                  </a:tcPr>
                </a:tc>
                <a:tc>
                  <a:txBody>
                    <a:bodyPr/>
                    <a:lstStyle/>
                    <a:p>
                      <a:pPr algn="l">
                        <a:buNone/>
                      </a:pPr>
                      <a:r>
                        <a:rPr lang="en-US" sz="1200" dirty="0">
                          <a:solidFill>
                            <a:srgbClr val="333333"/>
                          </a:solidFill>
                          <a:latin typeface="Source Sans Pro"/>
                          <a:cs typeface="Source Sans Pro"/>
                        </a:rPr>
                        <a:t>✓ Always</a:t>
                      </a:r>
                    </a:p>
                  </a:txBody>
                  <a:tcPr>
                    <a:solidFill>
                      <a:srgbClr val="F2F2F2"/>
                    </a:solidFill>
                  </a:tcPr>
                </a:tc>
                <a:extLst>
                  <a:ext uri="{0D108BD9-81ED-4DB2-BD59-A6C34878D82A}">
                    <a16:rowId xmlns:a16="http://schemas.microsoft.com/office/drawing/2014/main" val="10001"/>
                  </a:ext>
                </a:extLst>
              </a:tr>
              <a:tr h="340000">
                <a:tc>
                  <a:txBody>
                    <a:bodyPr/>
                    <a:lstStyle/>
                    <a:p>
                      <a:pPr algn="l">
                        <a:buNone/>
                      </a:pPr>
                      <a:r>
                        <a:rPr lang="en-US" sz="1200" dirty="0">
                          <a:solidFill>
                            <a:srgbClr val="333333"/>
                          </a:solidFill>
                          <a:latin typeface="Source Sans Pro"/>
                          <a:cs typeface="Source Sans Pro"/>
                        </a:rPr>
                        <a:t>Work-conserving</a:t>
                      </a:r>
                    </a:p>
                  </a:txBody>
                  <a:tcPr>
                    <a:solidFill>
                      <a:srgbClr val="FFFFFF"/>
                    </a:solidFill>
                  </a:tcPr>
                </a:tc>
                <a:tc>
                  <a:txBody>
                    <a:bodyPr/>
                    <a:lstStyle/>
                    <a:p>
                      <a:pPr algn="l">
                        <a:buNone/>
                      </a:pPr>
                      <a:r>
                        <a:rPr lang="en-US" sz="1200" dirty="0">
                          <a:solidFill>
                            <a:srgbClr val="333333"/>
                          </a:solidFill>
                          <a:latin typeface="Source Sans Pro"/>
                          <a:cs typeface="Source Sans Pro"/>
                        </a:rPr>
                        <a:t>✗ No</a:t>
                      </a:r>
                    </a:p>
                  </a:txBody>
                  <a:tcPr>
                    <a:solidFill>
                      <a:srgbClr val="FFFFFF"/>
                    </a:solidFill>
                  </a:tcPr>
                </a:tc>
                <a:tc>
                  <a:txBody>
                    <a:bodyPr/>
                    <a:lstStyle/>
                    <a:p>
                      <a:pPr algn="l">
                        <a:buNone/>
                      </a:pPr>
                      <a:r>
                        <a:rPr lang="en-US" sz="1200" dirty="0">
                          <a:solidFill>
                            <a:srgbClr val="333333"/>
                          </a:solidFill>
                          <a:latin typeface="Source Sans Pro"/>
                          <a:cs typeface="Source Sans Pro"/>
                        </a:rPr>
                        <a:t>✓ Yes</a:t>
                      </a:r>
                    </a:p>
                  </a:txBody>
                  <a:tcPr>
                    <a:solidFill>
                      <a:srgbClr val="FFFFFF"/>
                    </a:solidFill>
                  </a:tcPr>
                </a:tc>
                <a:tc>
                  <a:txBody>
                    <a:bodyPr/>
                    <a:lstStyle/>
                    <a:p>
                      <a:pPr algn="l">
                        <a:buNone/>
                      </a:pPr>
                      <a:r>
                        <a:rPr lang="en-US" sz="1200" dirty="0">
                          <a:solidFill>
                            <a:srgbClr val="333333"/>
                          </a:solidFill>
                          <a:latin typeface="Source Sans Pro"/>
                          <a:cs typeface="Source Sans Pro"/>
                        </a:rPr>
                        <a:t>✓ Yes</a:t>
                      </a:r>
                    </a:p>
                  </a:txBody>
                  <a:tcPr>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864000" y="780000"/>
            <a:ext cx="9600000" cy="900000"/>
          </a:xfrm>
          <a:prstGeom prst="rect">
            <a:avLst/>
          </a:prstGeom>
          <a:noFill/>
        </p:spPr>
        <p:txBody>
          <a:bodyPr lIns="91440" tIns="45720" rIns="91440" bIns="45720" rtlCol="0" anchor="t">
            <a:noAutofit/>
          </a:bodyPr>
          <a:lstStyle/>
          <a:p>
            <a:pPr algn="l">
              <a:buNone/>
            </a:pPr>
            <a:r>
              <a:rPr lang="en-US" sz="2600" b="1" dirty="0">
                <a:solidFill>
                  <a:srgbClr val="1B3A5C"/>
                </a:solidFill>
                <a:latin typeface="Source Sans Pro"/>
                <a:cs typeface="Source Sans Pro"/>
              </a:rPr>
              <a:t>Worst-Case Response Time and Parameter Selection</a:t>
            </a:r>
          </a:p>
        </p:txBody>
      </p:sp>
      <p:sp>
        <p:nvSpPr>
          <p:cNvPr id="3" name="formula"/>
          <p:cNvSpPr txBox="1"/>
          <p:nvPr/>
        </p:nvSpPr>
        <p:spPr>
          <a:xfrm>
            <a:off x="864000" y="2100000"/>
            <a:ext cx="5000000" cy="1600000"/>
          </a:xfrm>
          <a:prstGeom prst="rect">
            <a:avLst/>
          </a:prstGeom>
          <a:noFill/>
        </p:spPr>
        <p:txBody>
          <a:bodyPr lIns="91440" tIns="45720" rIns="91440" bIns="45720" rtlCol="0" anchor="t">
            <a:noAutofit/>
          </a:bodyPr>
          <a:lstStyle/>
          <a:p>
            <a:pPr algn="l">
              <a:buNone/>
            </a:pPr>
            <a:r>
              <a:rPr lang="en-US" sz="1500" b="1" dirty="0">
                <a:solidFill>
                  <a:srgbClr val="1B3A5C"/>
                </a:solidFill>
                <a:latin typeface="Source Sans Pro"/>
                <a:cs typeface="Source Sans Pro"/>
              </a:rPr>
              <a:t>Worst-Case Response Time</a:t>
            </a:r>
          </a:p>
          <a:p>
            <a:pPr algn="ctr">
              <a:spcBef>
                <a:spcPts val="300"/>
              </a:spcBef>
              <a:buNone/>
            </a:pPr>
            <a:r>
              <a:rPr lang="en-US" sz="1600" b="1" dirty="0">
                <a:solidFill>
                  <a:srgbClr val="333333"/>
                </a:solidFill>
                <a:latin typeface="Source Sans Pro"/>
                <a:cs typeface="Source Sans Pro"/>
              </a:rPr>
              <a:t>Ri = Ci + ⌈Ci / Qs⌉ × (Ts - Qs)</a:t>
            </a:r>
          </a:p>
          <a:p>
            <a:pPr algn="l">
              <a:spcBef>
                <a:spcPts val="400"/>
              </a:spcBef>
              <a:buNone/>
            </a:pPr>
            <a:r>
              <a:rPr lang="en-US" sz="1300" dirty="0">
                <a:solidFill>
                  <a:srgbClr val="333333"/>
                </a:solidFill>
                <a:latin typeface="Source Sans Pro"/>
                <a:cs typeface="Source Sans Pro"/>
              </a:rPr>
              <a:t>Minimum (when Ci is a multiple of Qs):</a:t>
            </a:r>
          </a:p>
          <a:p>
            <a:pPr algn="ctr">
              <a:spcBef>
                <a:spcPts val="100"/>
              </a:spcBef>
              <a:buNone/>
            </a:pPr>
            <a:r>
              <a:rPr lang="en-US" sz="1600" b="1" dirty="0">
                <a:solidFill>
                  <a:srgbClr val="2E8B57"/>
                </a:solidFill>
                <a:latin typeface="Source Sans Pro"/>
                <a:cs typeface="Source Sans Pro"/>
              </a:rPr>
              <a:t>Ri = Ci / Us</a:t>
            </a:r>
          </a:p>
        </p:txBody>
      </p:sp>
      <p:sp>
        <p:nvSpPr>
          <p:cNvPr id="4" name="tradeoff"/>
          <p:cNvSpPr txBox="1"/>
          <p:nvPr/>
        </p:nvSpPr>
        <p:spPr>
          <a:xfrm>
            <a:off x="5700000" y="2100000"/>
            <a:ext cx="4900000" cy="1600000"/>
          </a:xfrm>
          <a:prstGeom prst="rect">
            <a:avLst/>
          </a:prstGeom>
          <a:noFill/>
        </p:spPr>
        <p:txBody>
          <a:bodyPr lIns="91440" tIns="45720" rIns="91440" bIns="45720" rtlCol="0" anchor="t">
            <a:noAutofit/>
          </a:bodyPr>
          <a:lstStyle/>
          <a:p>
            <a:pPr algn="l">
              <a:buNone/>
            </a:pPr>
            <a:r>
              <a:rPr lang="en-US" sz="1500" b="1" dirty="0">
                <a:solidFill>
                  <a:srgbClr val="1B3A5C"/>
                </a:solidFill>
                <a:latin typeface="Source Sans Pro"/>
                <a:cs typeface="Source Sans Pro"/>
              </a:rPr>
              <a:t>The Trade-Off</a:t>
            </a:r>
          </a:p>
          <a:p>
            <a:pPr algn="l">
              <a:spcBef>
                <a:spcPts val="300"/>
              </a:spcBef>
              <a:buNone/>
            </a:pPr>
            <a:r>
              <a:rPr lang="en-US" sz="1300" b="1" dirty="0">
                <a:solidFill>
                  <a:srgbClr val="333333"/>
                </a:solidFill>
                <a:latin typeface="Source Sans Pro"/>
                <a:cs typeface="Source Sans Pro"/>
              </a:rPr>
              <a:t>Small Qs (short period):</a:t>
            </a:r>
          </a:p>
          <a:p>
            <a:pPr algn="l">
              <a:spcBef>
                <a:spcPts val="100"/>
              </a:spcBef>
              <a:buNone/>
            </a:pPr>
            <a:r>
              <a:rPr lang="en-US" sz="1200" dirty="0">
                <a:solidFill>
                  <a:srgbClr val="333333"/>
                </a:solidFill>
                <a:latin typeface="Source Sans Pro"/>
                <a:cs typeface="Source Sans Pro"/>
              </a:rPr>
              <a:t>Smoother execution, lower response time, but more context switches (overhead).</a:t>
            </a:r>
          </a:p>
          <a:p>
            <a:pPr algn="l">
              <a:spcBef>
                <a:spcPts val="300"/>
              </a:spcBef>
              <a:buNone/>
            </a:pPr>
            <a:r>
              <a:rPr lang="en-US" sz="1300" b="1" dirty="0">
                <a:solidFill>
                  <a:srgbClr val="333333"/>
                </a:solidFill>
                <a:latin typeface="Source Sans Pro"/>
                <a:cs typeface="Source Sans Pro"/>
              </a:rPr>
              <a:t>Large Qs (long period):</a:t>
            </a:r>
          </a:p>
          <a:p>
            <a:pPr algn="l">
              <a:spcBef>
                <a:spcPts val="100"/>
              </a:spcBef>
              <a:buNone/>
            </a:pPr>
            <a:r>
              <a:rPr lang="en-US" sz="1200" dirty="0">
                <a:solidFill>
                  <a:srgbClr val="333333"/>
                </a:solidFill>
                <a:latin typeface="Source Sans Pro"/>
                <a:cs typeface="Source Sans Pro"/>
              </a:rPr>
              <a:t>Fewer context switches, but choppier execution and higher response time.</a:t>
            </a:r>
          </a:p>
        </p:txBody>
      </p:sp>
      <p:sp>
        <p:nvSpPr>
          <p:cNvPr id="5" name="optimal"/>
          <p:cNvSpPr txBox="1"/>
          <p:nvPr/>
        </p:nvSpPr>
        <p:spPr>
          <a:xfrm>
            <a:off x="864000" y="4000000"/>
            <a:ext cx="9700000" cy="2000000"/>
          </a:xfrm>
          <a:prstGeom prst="rect">
            <a:avLst/>
          </a:prstGeom>
          <a:noFill/>
        </p:spPr>
        <p:txBody>
          <a:bodyPr lIns="91440" tIns="45720" rIns="91440" bIns="45720" rtlCol="0" anchor="t">
            <a:noAutofit/>
          </a:bodyPr>
          <a:lstStyle/>
          <a:p>
            <a:pPr algn="l">
              <a:spcBef>
                <a:spcPts val="200"/>
              </a:spcBef>
              <a:buNone/>
            </a:pPr>
            <a:r>
              <a:rPr lang="en-US" sz="1500" b="1" dirty="0">
                <a:solidFill>
                  <a:srgbClr val="1B3A5C"/>
                </a:solidFill>
                <a:latin typeface="Source Sans Pro"/>
                <a:cs typeface="Source Sans Pro"/>
              </a:rPr>
              <a:t>Optimal Server Period (with overhead ε)</a:t>
            </a:r>
          </a:p>
          <a:p>
            <a:pPr algn="ctr">
              <a:spcBef>
                <a:spcPts val="300"/>
              </a:spcBef>
              <a:buNone/>
            </a:pPr>
            <a:r>
              <a:rPr lang="en-US" sz="1600" b="1" dirty="0">
                <a:solidFill>
                  <a:srgbClr val="333333"/>
                </a:solidFill>
                <a:latin typeface="Source Sans Pro"/>
                <a:cs typeface="Source Sans Pro"/>
              </a:rPr>
              <a:t>Ts = (1/Us) × (ε + √(ε × Cavg / (1 - Us)))</a:t>
            </a:r>
            <a:br>
              <a:rPr lang="en-US" sz="1600" b="1" dirty="0">
                <a:solidFill>
                  <a:srgbClr val="333333"/>
                </a:solidFill>
                <a:latin typeface="Source Sans Pro"/>
                <a:cs typeface="Source Sans Pro"/>
              </a:rPr>
            </a:br>
            <a:r>
              <a:rPr lang="en-US" sz="1600" b="1" dirty="0">
                <a:solidFill>
                  <a:srgbClr val="333333"/>
                </a:solidFill>
                <a:latin typeface="Source Sans Pro"/>
                <a:cs typeface="Source Sans Pro"/>
              </a:rPr>
              <a:t>ε = </a:t>
            </a:r>
            <a:r>
              <a:rPr lang="de-DE" sz="1600" dirty="0"/>
              <a:t>context switch cost, Cavg = average </a:t>
            </a:r>
            <a:r>
              <a:rPr lang="de-DE" sz="1600" dirty="0" err="1"/>
              <a:t>execution</a:t>
            </a:r>
            <a:r>
              <a:rPr lang="de-DE" sz="1600" dirty="0"/>
              <a:t> time</a:t>
            </a:r>
            <a:endParaRPr lang="en-US" sz="1600" b="1" dirty="0">
              <a:solidFill>
                <a:srgbClr val="333333"/>
              </a:solidFill>
              <a:latin typeface="Source Sans Pro"/>
              <a:cs typeface="Source Sans Pro"/>
            </a:endParaRPr>
          </a:p>
          <a:p>
            <a:pPr algn="l">
              <a:spcBef>
                <a:spcPts val="300"/>
              </a:spcBef>
              <a:buNone/>
            </a:pPr>
            <a:r>
              <a:rPr lang="en-US" sz="1300" dirty="0">
                <a:solidFill>
                  <a:srgbClr val="333333"/>
                </a:solidFill>
                <a:latin typeface="Source Sans Pro"/>
                <a:cs typeface="Source Sans Pro"/>
              </a:rPr>
              <a:t>This formula finds the server period that minimizes the average response time, balancing the cost of context switch overhead against the benefit of smoother execution.</a:t>
            </a:r>
          </a:p>
          <a:p>
            <a:pPr algn="l">
              <a:spcBef>
                <a:spcPts val="300"/>
              </a:spcBef>
              <a:buNone/>
            </a:pPr>
            <a:r>
              <a:rPr lang="en-US" sz="1300" b="1" dirty="0">
                <a:solidFill>
                  <a:srgbClr val="1B3A5C"/>
                </a:solidFill>
                <a:latin typeface="Source Sans Pro"/>
                <a:cs typeface="Source Sans Pro"/>
              </a:rPr>
              <a:t>Example: Ci=10, Us=0.25, ε=0.2  →  Ts ≈ 7.33, Qs ≈ 1.83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864000" y="780000"/>
            <a:ext cx="9600000" cy="900000"/>
          </a:xfrm>
          <a:prstGeom prst="rect">
            <a:avLst/>
          </a:prstGeom>
          <a:noFill/>
        </p:spPr>
        <p:txBody>
          <a:bodyPr lIns="91440" tIns="45720" rIns="91440" bIns="45720" rtlCol="0" anchor="t">
            <a:noAutofit/>
          </a:bodyPr>
          <a:lstStyle/>
          <a:p>
            <a:pPr algn="l">
              <a:buNone/>
            </a:pPr>
            <a:r>
              <a:rPr lang="en-US" sz="2800" b="1" dirty="0">
                <a:solidFill>
                  <a:srgbClr val="1B3A5C"/>
                </a:solidFill>
                <a:latin typeface="Source Sans Pro"/>
                <a:cs typeface="Source Sans Pro"/>
              </a:rPr>
              <a:t>Conclusion</a:t>
            </a:r>
          </a:p>
        </p:txBody>
      </p:sp>
      <p:sp>
        <p:nvSpPr>
          <p:cNvPr id="3" name="body"/>
          <p:cNvSpPr txBox="1"/>
          <p:nvPr/>
        </p:nvSpPr>
        <p:spPr>
          <a:xfrm>
            <a:off x="864000" y="2100000"/>
            <a:ext cx="5000000" cy="3000000"/>
          </a:xfrm>
          <a:prstGeom prst="rect">
            <a:avLst/>
          </a:prstGeom>
          <a:noFill/>
        </p:spPr>
        <p:txBody>
          <a:bodyPr lIns="91440" tIns="45720" rIns="91440" bIns="45720" rtlCol="0" anchor="t">
            <a:noAutofit/>
          </a:bodyPr>
          <a:lstStyle/>
          <a:p>
            <a:pPr algn="l">
              <a:buNone/>
            </a:pPr>
            <a:r>
              <a:rPr lang="en-US" sz="1500" b="1" dirty="0">
                <a:solidFill>
                  <a:srgbClr val="1B3A5C"/>
                </a:solidFill>
                <a:latin typeface="Source Sans Pro"/>
                <a:cs typeface="Source Sans Pro"/>
              </a:rPr>
              <a:t>CBS provides:</a:t>
            </a:r>
          </a:p>
          <a:p>
            <a:pPr marL="228600" indent="-228600" algn="l">
              <a:spcBef>
                <a:spcPts val="300"/>
              </a:spcBef>
              <a:buFont typeface="Arial"/>
              <a:buChar char="•"/>
            </a:pPr>
            <a:r>
              <a:rPr lang="en-US" sz="1300" dirty="0">
                <a:solidFill>
                  <a:srgbClr val="333333"/>
                </a:solidFill>
                <a:latin typeface="Source Sans Pro"/>
                <a:cs typeface="Source Sans Pro"/>
              </a:rPr>
              <a:t>Temporal isolation: hard tasks are always protected, even under soft task overruns</a:t>
            </a:r>
          </a:p>
          <a:p>
            <a:pPr marL="228600" indent="-228600" algn="l">
              <a:spcBef>
                <a:spcPts val="200"/>
              </a:spcBef>
              <a:buFont typeface="Arial"/>
              <a:buChar char="•"/>
            </a:pPr>
            <a:r>
              <a:rPr lang="en-US" sz="1300" dirty="0">
                <a:solidFill>
                  <a:srgbClr val="333333"/>
                </a:solidFill>
                <a:latin typeface="Source Sans Pro"/>
                <a:cs typeface="Source Sans Pro"/>
              </a:rPr>
              <a:t>Work-conserving behavior: no CPU time is ever wasted</a:t>
            </a:r>
          </a:p>
          <a:p>
            <a:pPr marL="228600" indent="-228600" algn="l">
              <a:spcBef>
                <a:spcPts val="200"/>
              </a:spcBef>
              <a:buFont typeface="Arial"/>
              <a:buChar char="•"/>
            </a:pPr>
            <a:r>
              <a:rPr lang="en-US" sz="1300" dirty="0">
                <a:solidFill>
                  <a:srgbClr val="333333"/>
                </a:solidFill>
                <a:latin typeface="Source Sans Pro"/>
                <a:cs typeface="Source Sans Pro"/>
              </a:rPr>
              <a:t>No WCET requirement: works with unknown and highly variable execution times</a:t>
            </a:r>
          </a:p>
          <a:p>
            <a:pPr marL="228600" indent="-228600" algn="l">
              <a:spcBef>
                <a:spcPts val="200"/>
              </a:spcBef>
              <a:buFont typeface="Arial"/>
              <a:buChar char="•"/>
            </a:pPr>
            <a:r>
              <a:rPr lang="en-US" sz="1300" dirty="0">
                <a:solidFill>
                  <a:srgbClr val="333333"/>
                </a:solidFill>
                <a:latin typeface="Source Sans Pro"/>
                <a:cs typeface="Source Sans Pro"/>
              </a:rPr>
              <a:t>Simple schedulability test: Up + Us ≤ 1</a:t>
            </a:r>
          </a:p>
          <a:p>
            <a:pPr marL="228600" indent="-228600" algn="l">
              <a:spcBef>
                <a:spcPts val="200"/>
              </a:spcBef>
              <a:buFont typeface="Arial"/>
              <a:buChar char="•"/>
            </a:pPr>
            <a:r>
              <a:rPr lang="en-US" sz="1300" dirty="0">
                <a:solidFill>
                  <a:srgbClr val="333333"/>
                </a:solidFill>
                <a:latin typeface="Source Sans Pro"/>
                <a:cs typeface="Source Sans Pro"/>
              </a:rPr>
              <a:t>EDF equivalence for well-behaved tasks</a:t>
            </a:r>
          </a:p>
        </p:txBody>
      </p:sp>
      <p:sp>
        <p:nvSpPr>
          <p:cNvPr id="4" name="refbg"/>
          <p:cNvSpPr/>
          <p:nvPr/>
        </p:nvSpPr>
        <p:spPr>
          <a:xfrm>
            <a:off x="5864000" y="1680000"/>
            <a:ext cx="4900000" cy="3200000"/>
          </a:xfrm>
          <a:prstGeom prst="rect">
            <a:avLst/>
          </a:prstGeom>
          <a:solidFill>
            <a:srgbClr val="E8EEF4"/>
          </a:solidFill>
          <a:ln>
            <a:noFill/>
          </a:ln>
        </p:spPr>
        <p:txBody>
          <a:bodyPr rtlCol="0" anchor="ctr"/>
          <a:lstStyle/>
          <a:p>
            <a:endParaRPr lang="en-US"/>
          </a:p>
        </p:txBody>
      </p:sp>
      <p:sp>
        <p:nvSpPr>
          <p:cNvPr id="5" name="refs"/>
          <p:cNvSpPr txBox="1"/>
          <p:nvPr/>
        </p:nvSpPr>
        <p:spPr>
          <a:xfrm>
            <a:off x="6096000" y="1990000"/>
            <a:ext cx="4700000" cy="3000000"/>
          </a:xfrm>
          <a:prstGeom prst="rect">
            <a:avLst/>
          </a:prstGeom>
          <a:noFill/>
        </p:spPr>
        <p:txBody>
          <a:bodyPr lIns="91440" tIns="45720" rIns="91440" bIns="45720" rtlCol="0" anchor="t">
            <a:noAutofit/>
          </a:bodyPr>
          <a:lstStyle/>
          <a:p>
            <a:pPr algn="l">
              <a:buNone/>
            </a:pPr>
            <a:r>
              <a:rPr lang="en-US" sz="1500" b="1" dirty="0">
                <a:solidFill>
                  <a:srgbClr val="1B3A5C"/>
                </a:solidFill>
                <a:latin typeface="Source Sans Pro"/>
                <a:cs typeface="Source Sans Pro"/>
              </a:rPr>
              <a:t>Key References</a:t>
            </a:r>
          </a:p>
          <a:p>
            <a:pPr algn="l">
              <a:spcBef>
                <a:spcPts val="300"/>
              </a:spcBef>
              <a:buNone/>
            </a:pPr>
            <a:r>
              <a:rPr lang="en-US" sz="1100" dirty="0">
                <a:solidFill>
                  <a:srgbClr val="333333"/>
                </a:solidFill>
                <a:latin typeface="Source Sans Pro"/>
                <a:cs typeface="Source Sans Pro"/>
              </a:rPr>
              <a:t>L. Abeni, G. Buttazzo, “Integrating Multimedia Applications in Hard Real-Time Systems,” RTSS, 1998.</a:t>
            </a:r>
          </a:p>
          <a:p>
            <a:pPr algn="l">
              <a:spcBef>
                <a:spcPts val="200"/>
              </a:spcBef>
              <a:buNone/>
            </a:pPr>
            <a:r>
              <a:rPr lang="en-US" sz="1100" dirty="0">
                <a:solidFill>
                  <a:srgbClr val="333333"/>
                </a:solidFill>
                <a:latin typeface="Source Sans Pro"/>
                <a:cs typeface="Source Sans Pro"/>
              </a:rPr>
              <a:t>L. Abeni, G. Buttazzo, “Resource Reservation in Dynamic Real-Time Systems,” Real-Time Systems, vol. 27(2), 2004.</a:t>
            </a:r>
          </a:p>
          <a:p>
            <a:pPr algn="l">
              <a:spcBef>
                <a:spcPts val="200"/>
              </a:spcBef>
              <a:buNone/>
            </a:pPr>
            <a:r>
              <a:rPr lang="en-US" sz="1100" dirty="0">
                <a:solidFill>
                  <a:srgbClr val="333333"/>
                </a:solidFill>
                <a:latin typeface="Source Sans Pro"/>
                <a:cs typeface="Source Sans Pro"/>
              </a:rPr>
              <a:t>G. Buttazzo, Hard Real-Time Computing Systems, 4th ed., Springer, 2024.</a:t>
            </a:r>
          </a:p>
          <a:p>
            <a:pPr algn="l">
              <a:spcBef>
                <a:spcPts val="200"/>
              </a:spcBef>
              <a:buNone/>
            </a:pPr>
            <a:endParaRPr lang="en-US" sz="1100" dirty="0">
              <a:solidFill>
                <a:srgbClr val="333333"/>
              </a:solidFill>
              <a:latin typeface="Source Sans Pro"/>
              <a:cs typeface="Source Sans Pro"/>
            </a:endParaRPr>
          </a:p>
          <a:p>
            <a:pPr algn="l">
              <a:spcBef>
                <a:spcPts val="200"/>
              </a:spcBef>
              <a:buNone/>
            </a:pPr>
            <a:endParaRPr lang="en-US" sz="1100" dirty="0">
              <a:solidFill>
                <a:srgbClr val="333333"/>
              </a:solidFill>
              <a:latin typeface="Source Sans Pro"/>
              <a:cs typeface="Source Sans Pro"/>
            </a:endParaRPr>
          </a:p>
          <a:p>
            <a:pPr algn="l">
              <a:spcBef>
                <a:spcPts val="200"/>
              </a:spcBef>
              <a:buNone/>
            </a:pPr>
            <a:endParaRPr lang="en-US" sz="1100" dirty="0">
              <a:solidFill>
                <a:srgbClr val="333333"/>
              </a:solidFill>
              <a:latin typeface="Source Sans Pro"/>
              <a:cs typeface="Source Sans Pro"/>
            </a:endParaRPr>
          </a:p>
          <a:p>
            <a:pPr algn="l">
              <a:spcBef>
                <a:spcPts val="500"/>
              </a:spcBef>
              <a:buNone/>
            </a:pPr>
            <a:r>
              <a:rPr lang="en-US" sz="1500" b="1" dirty="0">
                <a:solidFill>
                  <a:srgbClr val="1B3A5C"/>
                </a:solidFill>
                <a:latin typeface="Source Sans Pro"/>
                <a:cs typeface="Source Sans Pro"/>
              </a:rPr>
              <a:t>Real-World Impact</a:t>
            </a:r>
          </a:p>
          <a:p>
            <a:pPr algn="l">
              <a:spcBef>
                <a:spcPts val="200"/>
              </a:spcBef>
              <a:buNone/>
            </a:pPr>
            <a:r>
              <a:rPr lang="en-US" sz="1200" b="1" dirty="0">
                <a:solidFill>
                  <a:srgbClr val="333333"/>
                </a:solidFill>
                <a:latin typeface="Source Sans Pro"/>
                <a:cs typeface="Source Sans Pro"/>
              </a:rPr>
              <a:t>CBS theory is implemented in the Linux kernel as SCHED_DEADLINE (since kernel 3.14).</a:t>
            </a:r>
          </a:p>
        </p:txBody>
      </p:sp>
    </p:spTree>
  </p:cSld>
  <p:clrMapOvr>
    <a:masterClrMapping/>
  </p:clrMapOvr>
</p:sld>
</file>

<file path=ppt/theme/theme1.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ki-ProjektMeeting.potx" id="{E3380594-1F68-41BF-B00D-D278C55573EE}" vid="{1F2C3E56-6124-438B-95EF-9390E48F948A}"/>
    </a:ext>
  </a:extLst>
</a:theme>
</file>

<file path=docProps/app.xml><?xml version="1.0" encoding="utf-8"?>
<Properties xmlns="http://schemas.openxmlformats.org/officeDocument/2006/extended-properties" xmlns:vt="http://schemas.openxmlformats.org/officeDocument/2006/docPropsVTypes">
  <Template>Presentation</Template>
  <TotalTime>0</TotalTime>
  <Words>1358</Words>
  <Application>Microsoft Office PowerPoint</Application>
  <PresentationFormat>Widescreen</PresentationFormat>
  <Paragraphs>188</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Source Sans Pro</vt:lpstr>
      <vt:lpstr>Office-Design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Scalora, Giuseppe</dc:creator>
  <cp:lastModifiedBy>zfw</cp:lastModifiedBy>
  <cp:revision>11</cp:revision>
  <dcterms:created xsi:type="dcterms:W3CDTF">2025-03-17T09:02:15Z</dcterms:created>
  <dcterms:modified xsi:type="dcterms:W3CDTF">2026-06-29T09:56:24Z</dcterms:modified>
</cp:coreProperties>
</file>