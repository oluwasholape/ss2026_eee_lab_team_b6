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77" r:id="rId27"/>
    <p:sldId id="262" r:id="rId9"/>
    <p:sldId id="263" r:id="rId10"/>
    <p:sldId id="278" r:id="rId28"/>
    <p:sldId id="264" r:id="rId11"/>
    <p:sldId id="265" r:id="rId12"/>
    <p:sldId id="276" r:id="rId26"/>
    <p:sldId id="274" r:id="rId13"/>
    <p:sldId id="275" r:id="rId14"/>
    <p:sldId id="266" r:id="rId15"/>
    <p:sldId id="267" r:id="rId16"/>
    <p:sldId id="268" r:id="rId17"/>
    <p:sldId id="269" r:id="rId18"/>
    <p:sldId id="271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6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14.xml"/><Relationship Id="rId27" Type="http://schemas.openxmlformats.org/officeDocument/2006/relationships/slide" Target="slides/slide8.xml"/><Relationship Id="rId2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6820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3.jpg"/><Relationship Id="rId4" Type="http://schemas.openxmlformats.org/officeDocument/2006/relationships/image" Target="../media/image3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23.jpg"/><Relationship Id="rId4" Type="http://schemas.openxmlformats.org/officeDocument/2006/relationships/image" Target="../media/image2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4206240" cy="4206240"/>
          </a:xfrm>
          <a:prstGeom prst="ellipse">
            <a:avLst/>
          </a:prstGeom>
          <a:solidFill>
            <a:srgbClr val="2E3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-1280160" y="3017520"/>
            <a:ext cx="3291840" cy="3291840"/>
          </a:xfrm>
          <a:prstGeom prst="ellipse">
            <a:avLst/>
          </a:prstGeom>
          <a:solidFill>
            <a:srgbClr val="141A4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MODEL  -  EMBEDDED SOFTWARE  -  HARDWARE RTL  -  REQUIREMENTS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 Traffic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B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four-leg, single-lane crossroad coordinated entirely through V2I / V2V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B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- no traffic lights, no collisions.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3649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54864" cy="5486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804672" y="3639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Boiddo Sumon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3703320"/>
            <a:ext cx="54864" cy="5486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010912" y="3639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Ferdous Soaib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4864" cy="5486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804672" y="3913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Nnachi-Egwu Nnaemeka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0" y="3977640"/>
            <a:ext cx="54864" cy="5486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010912" y="3913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Oyemade Oluwasholape Daniel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252E6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676656" y="447141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42" y="4517502"/>
            <a:ext cx="291876" cy="29187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43000" y="441655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UPPAAL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143000" y="4690872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2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Timed-automata formal model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3383280" y="434340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252E6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Shape 19"/>
          <p:cNvSpPr/>
          <p:nvPr/>
        </p:nvSpPr>
        <p:spPr>
          <a:xfrm>
            <a:off x="3511296" y="447141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382" y="4517502"/>
            <a:ext cx="291876" cy="29187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977640" y="441655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FreeRTOS / C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3977640" y="4690872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2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IMTask + LaneTask x4 implementation</a:t>
            </a:r>
            <a:endParaRPr lang="en-US" sz="820" dirty="0"/>
          </a:p>
        </p:txBody>
      </p:sp>
      <p:sp>
        <p:nvSpPr>
          <p:cNvPr id="26" name="Shape 22"/>
          <p:cNvSpPr/>
          <p:nvPr/>
        </p:nvSpPr>
        <p:spPr>
          <a:xfrm>
            <a:off x="6217920" y="434340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252E6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Shape 23"/>
          <p:cNvSpPr/>
          <p:nvPr/>
        </p:nvSpPr>
        <p:spPr>
          <a:xfrm>
            <a:off x="6345936" y="447141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2022" y="4517502"/>
            <a:ext cx="291876" cy="29187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812280" y="441655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VHDL / RTL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6812280" y="4690872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2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aim_intersection_manager + testbench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3891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108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5156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is, and who it serves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50292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731520" y="146304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models an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traffic management</a:t>
            </a: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 for a four-leg, single-lane crossroad.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 cross a shared intersection 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traffic lights, without collisions, and with minimal waiting time.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V2I (vehicle-to-infrastructure) and V2V (vehicle-to-vehicle) communication fully replace traditional signal control.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15000" y="1234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15000" y="1572768"/>
            <a:ext cx="2971800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5824728" y="17099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078" y="1770278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1645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Vehicles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446520" y="19385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safely and quickly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715000" y="2468880"/>
            <a:ext cx="2971800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Shape 11"/>
          <p:cNvSpPr/>
          <p:nvPr/>
        </p:nvSpPr>
        <p:spPr>
          <a:xfrm>
            <a:off x="5824728" y="2606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5078" y="2666390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25420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Intersection Manager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44652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crossing, prevent conflicts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715000" y="3364992"/>
            <a:ext cx="2971800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Shape 15"/>
          <p:cNvSpPr/>
          <p:nvPr/>
        </p:nvSpPr>
        <p:spPr>
          <a:xfrm>
            <a:off x="5824728" y="350215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5078" y="3562502"/>
            <a:ext cx="382219" cy="3822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46520" y="34381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Infrastructure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446520" y="37307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the V2I communication point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715000" y="4261104"/>
            <a:ext cx="2971800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Shape 19"/>
          <p:cNvSpPr/>
          <p:nvPr/>
        </p:nvSpPr>
        <p:spPr>
          <a:xfrm>
            <a:off x="5824728" y="439826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5078" y="4458614"/>
            <a:ext cx="382219" cy="3822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46520" y="433425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Vehicles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446520" y="46268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V2V awareness of active crossings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3891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108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Topology, Actors &amp; Use Cases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5156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approaches, three actors, ten coordinated use cases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320040" y="2377440"/>
            <a:ext cx="3657600" cy="100584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4"/>
          <p:cNvSpPr/>
          <p:nvPr/>
        </p:nvSpPr>
        <p:spPr>
          <a:xfrm>
            <a:off x="1645920" y="1051560"/>
            <a:ext cx="1005840" cy="3657600"/>
          </a:xfrm>
          <a:prstGeom prst="rect">
            <a:avLst/>
          </a:prstGeom>
          <a:solidFill>
            <a:srgbClr val="DDE3E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5"/>
          <p:cNvSpPr/>
          <p:nvPr/>
        </p:nvSpPr>
        <p:spPr>
          <a:xfrm>
            <a:off x="1645920" y="2377440"/>
            <a:ext cx="100584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6"/>
          <p:cNvSpPr/>
          <p:nvPr/>
        </p:nvSpPr>
        <p:spPr>
          <a:xfrm>
            <a:off x="1975104" y="1014984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1975104" y="1014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975104" y="4169664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1975104" y="4169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575304" y="2706624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3575304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92024" y="2706624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192024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74320" y="4709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4-leg intersection - single lane per approach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(German right-hand traffic)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09160" y="1280160"/>
            <a:ext cx="4251960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6"/>
          <p:cNvSpPr/>
          <p:nvPr/>
        </p:nvSpPr>
        <p:spPr>
          <a:xfrm>
            <a:off x="484632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6670" y="1477670"/>
            <a:ext cx="382219" cy="382219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86400" y="13716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Vehicle (AV)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486400" y="166420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- request - receive grant/defer - broadcast intent - cross - notify exit</a:t>
            </a:r>
            <a:endParaRPr lang="en-US" sz="930" dirty="0"/>
          </a:p>
        </p:txBody>
      </p:sp>
      <p:sp>
        <p:nvSpPr>
          <p:cNvPr id="23" name="Shape 19"/>
          <p:cNvSpPr/>
          <p:nvPr/>
        </p:nvSpPr>
        <p:spPr>
          <a:xfrm>
            <a:off x="4709160" y="2468880"/>
            <a:ext cx="4251960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Shape 20"/>
          <p:cNvSpPr/>
          <p:nvPr/>
        </p:nvSpPr>
        <p:spPr>
          <a:xfrm>
            <a:off x="4846320" y="2606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670" y="2666390"/>
            <a:ext cx="382219" cy="382219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486400" y="2560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Intersection Manager (IM/RSU)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486400" y="285292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compatibility - grant or defer - update crossing state</a:t>
            </a:r>
            <a:endParaRPr lang="en-US" sz="930" dirty="0"/>
          </a:p>
        </p:txBody>
      </p:sp>
      <p:sp>
        <p:nvSpPr>
          <p:cNvPr id="28" name="Shape 23"/>
          <p:cNvSpPr/>
          <p:nvPr/>
        </p:nvSpPr>
        <p:spPr>
          <a:xfrm>
            <a:off x="4709160" y="3657600"/>
            <a:ext cx="4251960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Shape 24"/>
          <p:cNvSpPr/>
          <p:nvPr/>
        </p:nvSpPr>
        <p:spPr>
          <a:xfrm>
            <a:off x="4846320" y="37947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6670" y="3855110"/>
            <a:ext cx="382219" cy="382219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86400" y="37490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Vehicles (V2V peers)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486400" y="404164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crossing-intent broadcasts from active vehicles</a:t>
            </a:r>
            <a:endParaRPr lang="en-US" sz="930" dirty="0"/>
          </a:p>
        </p:txBody>
      </p:sp>
      <p:sp>
        <p:nvSpPr>
          <p:cNvPr id="33" name="Text 27"/>
          <p:cNvSpPr/>
          <p:nvPr/>
        </p:nvSpPr>
        <p:spPr>
          <a:xfrm>
            <a:off x="4709160" y="48646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use case diagram (UC1-UC10) provided in the Requirements Specification.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3891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108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5156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shall do (FR1-FR10)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4"/>
          <p:cNvSpPr/>
          <p:nvPr/>
        </p:nvSpPr>
        <p:spPr>
          <a:xfrm>
            <a:off x="548640" y="1353312"/>
            <a:ext cx="566928" cy="420624"/>
          </a:xfrm>
          <a:prstGeom prst="roundRect">
            <a:avLst>
              <a:gd name="adj" fmla="val 1087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548640" y="1353312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234440" y="128016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topology  -  </a:t>
            </a:r>
            <a:r>
              <a:rPr lang="en-US" sz="96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approaches (N/S/E/W), one entry + one exit lane each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457200" y="2002536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548640" y="2121408"/>
            <a:ext cx="566928" cy="420624"/>
          </a:xfrm>
          <a:prstGeom prst="roundRect">
            <a:avLst>
              <a:gd name="adj" fmla="val 1087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548640" y="212140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FR2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234440" y="204825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types  -  </a:t>
            </a:r>
            <a:r>
              <a:rPr lang="en-US" sz="96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Straight, right turn, or left turn per vehicle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457200" y="2770632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Shape 12"/>
          <p:cNvSpPr/>
          <p:nvPr/>
        </p:nvSpPr>
        <p:spPr>
          <a:xfrm>
            <a:off x="548640" y="2889504"/>
            <a:ext cx="566928" cy="420624"/>
          </a:xfrm>
          <a:prstGeom prst="roundRect">
            <a:avLst>
              <a:gd name="adj" fmla="val 1087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548640" y="288950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234440" y="281635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V2I request  -  </a:t>
            </a:r>
            <a:r>
              <a:rPr lang="en-US" sz="96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sends direction + movement to the IM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457200" y="3538728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6"/>
          <p:cNvSpPr/>
          <p:nvPr/>
        </p:nvSpPr>
        <p:spPr>
          <a:xfrm>
            <a:off x="548640" y="3657600"/>
            <a:ext cx="566928" cy="420624"/>
          </a:xfrm>
          <a:prstGeom prst="roundRect">
            <a:avLst>
              <a:gd name="adj" fmla="val 1087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548640" y="365760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FR4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234440" y="35844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check  -  </a:t>
            </a:r>
            <a:r>
              <a:rPr lang="en-US" sz="96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checks request against active crossings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457200" y="4306824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566928" cy="420624"/>
          </a:xfrm>
          <a:prstGeom prst="roundRect">
            <a:avLst>
              <a:gd name="adj" fmla="val 1087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1"/>
          <p:cNvSpPr/>
          <p:nvPr/>
        </p:nvSpPr>
        <p:spPr>
          <a:xfrm>
            <a:off x="548640" y="442569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FR5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234440" y="435254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 -  </a:t>
            </a:r>
            <a:r>
              <a:rPr lang="en-US" sz="96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grants when compatible; vehicle must wait for it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4892040" y="1234440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Shape 24"/>
          <p:cNvSpPr/>
          <p:nvPr/>
        </p:nvSpPr>
        <p:spPr>
          <a:xfrm>
            <a:off x="4983480" y="1353312"/>
            <a:ext cx="566928" cy="420624"/>
          </a:xfrm>
          <a:prstGeom prst="roundRect">
            <a:avLst>
              <a:gd name="adj" fmla="val 1087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5"/>
          <p:cNvSpPr/>
          <p:nvPr/>
        </p:nvSpPr>
        <p:spPr>
          <a:xfrm>
            <a:off x="4983480" y="1353312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FR6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669280" y="128016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 -  </a:t>
            </a:r>
            <a:r>
              <a:rPr lang="en-US" sz="96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defers on conflict; vehicle waits, then retries</a:t>
            </a:r>
            <a:endParaRPr lang="en-US" sz="960" dirty="0"/>
          </a:p>
        </p:txBody>
      </p:sp>
      <p:sp>
        <p:nvSpPr>
          <p:cNvPr id="30" name="Shape 27"/>
          <p:cNvSpPr/>
          <p:nvPr/>
        </p:nvSpPr>
        <p:spPr>
          <a:xfrm>
            <a:off x="4892040" y="2002536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Shape 28"/>
          <p:cNvSpPr/>
          <p:nvPr/>
        </p:nvSpPr>
        <p:spPr>
          <a:xfrm>
            <a:off x="4983480" y="2121408"/>
            <a:ext cx="566928" cy="420624"/>
          </a:xfrm>
          <a:prstGeom prst="roundRect">
            <a:avLst>
              <a:gd name="adj" fmla="val 1087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29"/>
          <p:cNvSpPr/>
          <p:nvPr/>
        </p:nvSpPr>
        <p:spPr>
          <a:xfrm>
            <a:off x="4983480" y="212140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FR7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669280" y="204825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V2V broadcast  -  </a:t>
            </a:r>
            <a:r>
              <a:rPr lang="en-US" sz="96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broadcasts crossing intent after grant</a:t>
            </a:r>
            <a:endParaRPr lang="en-US" sz="960" dirty="0"/>
          </a:p>
        </p:txBody>
      </p:sp>
      <p:sp>
        <p:nvSpPr>
          <p:cNvPr id="34" name="Shape 31"/>
          <p:cNvSpPr/>
          <p:nvPr/>
        </p:nvSpPr>
        <p:spPr>
          <a:xfrm>
            <a:off x="4892040" y="2770632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Shape 32"/>
          <p:cNvSpPr/>
          <p:nvPr/>
        </p:nvSpPr>
        <p:spPr>
          <a:xfrm>
            <a:off x="4983480" y="2889504"/>
            <a:ext cx="566928" cy="420624"/>
          </a:xfrm>
          <a:prstGeom prst="roundRect">
            <a:avLst>
              <a:gd name="adj" fmla="val 1087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6" name="Text 33"/>
          <p:cNvSpPr/>
          <p:nvPr/>
        </p:nvSpPr>
        <p:spPr>
          <a:xfrm>
            <a:off x="4983480" y="288950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FR8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669280" y="281635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 -  </a:t>
            </a:r>
            <a:r>
              <a:rPr lang="en-US" sz="96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crosses within the defined service time</a:t>
            </a:r>
            <a:endParaRPr lang="en-US" sz="960" dirty="0"/>
          </a:p>
        </p:txBody>
      </p:sp>
      <p:sp>
        <p:nvSpPr>
          <p:cNvPr id="38" name="Shape 35"/>
          <p:cNvSpPr/>
          <p:nvPr/>
        </p:nvSpPr>
        <p:spPr>
          <a:xfrm>
            <a:off x="4892040" y="3538728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Shape 36"/>
          <p:cNvSpPr/>
          <p:nvPr/>
        </p:nvSpPr>
        <p:spPr>
          <a:xfrm>
            <a:off x="4983480" y="3657600"/>
            <a:ext cx="566928" cy="420624"/>
          </a:xfrm>
          <a:prstGeom prst="roundRect">
            <a:avLst>
              <a:gd name="adj" fmla="val 1087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0" name="Text 37"/>
          <p:cNvSpPr/>
          <p:nvPr/>
        </p:nvSpPr>
        <p:spPr>
          <a:xfrm>
            <a:off x="4983480" y="365760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FR9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5669280" y="35844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notification  -  </a:t>
            </a:r>
            <a:r>
              <a:rPr lang="en-US" sz="96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notifies IM on completion to free state</a:t>
            </a:r>
            <a:endParaRPr lang="en-US" sz="960" dirty="0"/>
          </a:p>
        </p:txBody>
      </p:sp>
      <p:sp>
        <p:nvSpPr>
          <p:cNvPr id="42" name="Shape 39"/>
          <p:cNvSpPr/>
          <p:nvPr/>
        </p:nvSpPr>
        <p:spPr>
          <a:xfrm>
            <a:off x="4892040" y="4306824"/>
            <a:ext cx="4160520" cy="658368"/>
          </a:xfrm>
          <a:prstGeom prst="roundRect">
            <a:avLst>
              <a:gd name="adj" fmla="val 1111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3" name="Shape 40"/>
          <p:cNvSpPr/>
          <p:nvPr/>
        </p:nvSpPr>
        <p:spPr>
          <a:xfrm>
            <a:off x="4983480" y="4425696"/>
            <a:ext cx="566928" cy="420624"/>
          </a:xfrm>
          <a:prstGeom prst="roundRect">
            <a:avLst>
              <a:gd name="adj" fmla="val 1087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4" name="Text 41"/>
          <p:cNvSpPr/>
          <p:nvPr/>
        </p:nvSpPr>
        <p:spPr>
          <a:xfrm>
            <a:off x="4983480" y="442569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FR10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5669280" y="435254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96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traffic lights  -  </a:t>
            </a:r>
            <a:r>
              <a:rPr lang="en-US" sz="96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coordination via V2I reservation + V2V awareness</a:t>
            </a:r>
            <a:endParaRPr lang="en-US" sz="960" dirty="0"/>
          </a:p>
        </p:txBody>
      </p:sp>
      <p:sp>
        <p:nvSpPr>
          <p:cNvPr id="46" name="Text 43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3891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108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 &amp; the M/M/2 Rule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5156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the system must perform, and the compatibility rule behind it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4"/>
          <p:cNvSpPr/>
          <p:nvPr/>
        </p:nvSpPr>
        <p:spPr>
          <a:xfrm>
            <a:off x="758952" y="1371600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205" y="1430853"/>
            <a:ext cx="375270" cy="3752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1920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930" dirty="0"/>
          </a:p>
        </p:txBody>
      </p:sp>
      <p:sp>
        <p:nvSpPr>
          <p:cNvPr id="10" name="Text 6"/>
          <p:cNvSpPr/>
          <p:nvPr/>
        </p:nvSpPr>
        <p:spPr>
          <a:xfrm>
            <a:off x="502920" y="22219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conflicting crossings, ever</a:t>
            </a:r>
            <a:endParaRPr lang="en-US" sz="760" dirty="0"/>
          </a:p>
        </p:txBody>
      </p:sp>
      <p:sp>
        <p:nvSpPr>
          <p:cNvPr id="11" name="Shape 7"/>
          <p:cNvSpPr/>
          <p:nvPr/>
        </p:nvSpPr>
        <p:spPr>
          <a:xfrm>
            <a:off x="1645920" y="123444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8"/>
          <p:cNvSpPr/>
          <p:nvPr/>
        </p:nvSpPr>
        <p:spPr>
          <a:xfrm>
            <a:off x="1947672" y="1371600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6925" y="1430853"/>
            <a:ext cx="375270" cy="37527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1920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Liveness</a:t>
            </a:r>
            <a:endParaRPr lang="en-US" sz="930" dirty="0"/>
          </a:p>
        </p:txBody>
      </p:sp>
      <p:sp>
        <p:nvSpPr>
          <p:cNvPr id="15" name="Text 10"/>
          <p:cNvSpPr/>
          <p:nvPr/>
        </p:nvSpPr>
        <p:spPr>
          <a:xfrm>
            <a:off x="1691640" y="22219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eventually granted</a:t>
            </a:r>
            <a:endParaRPr lang="en-US" sz="760" dirty="0"/>
          </a:p>
        </p:txBody>
      </p:sp>
      <p:sp>
        <p:nvSpPr>
          <p:cNvPr id="16" name="Shape 11"/>
          <p:cNvSpPr/>
          <p:nvPr/>
        </p:nvSpPr>
        <p:spPr>
          <a:xfrm>
            <a:off x="2834640" y="123444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Shape 12"/>
          <p:cNvSpPr/>
          <p:nvPr/>
        </p:nvSpPr>
        <p:spPr>
          <a:xfrm>
            <a:off x="3136392" y="1371600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5645" y="1430853"/>
            <a:ext cx="375270" cy="37527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880360" y="1920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Deadlock-free</a:t>
            </a:r>
            <a:endParaRPr lang="en-US" sz="930" dirty="0"/>
          </a:p>
        </p:txBody>
      </p:sp>
      <p:sp>
        <p:nvSpPr>
          <p:cNvPr id="20" name="Text 14"/>
          <p:cNvSpPr/>
          <p:nvPr/>
        </p:nvSpPr>
        <p:spPr>
          <a:xfrm>
            <a:off x="2880360" y="22219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can always respond</a:t>
            </a:r>
            <a:endParaRPr lang="en-US" sz="760" dirty="0"/>
          </a:p>
        </p:txBody>
      </p:sp>
      <p:sp>
        <p:nvSpPr>
          <p:cNvPr id="21" name="Shape 15"/>
          <p:cNvSpPr/>
          <p:nvPr/>
        </p:nvSpPr>
        <p:spPr>
          <a:xfrm>
            <a:off x="4023360" y="123444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Shape 16"/>
          <p:cNvSpPr/>
          <p:nvPr/>
        </p:nvSpPr>
        <p:spPr>
          <a:xfrm>
            <a:off x="4325112" y="1371600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4365" y="1430853"/>
            <a:ext cx="375270" cy="37527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069080" y="1920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</a:t>
            </a:r>
            <a:endParaRPr lang="en-US" sz="930" dirty="0"/>
          </a:p>
        </p:txBody>
      </p:sp>
      <p:sp>
        <p:nvSpPr>
          <p:cNvPr id="25" name="Text 18"/>
          <p:cNvSpPr/>
          <p:nvPr/>
        </p:nvSpPr>
        <p:spPr>
          <a:xfrm>
            <a:off x="4069080" y="22219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4 vehicles crossing at once</a:t>
            </a:r>
            <a:endParaRPr lang="en-US" sz="760" dirty="0"/>
          </a:p>
        </p:txBody>
      </p:sp>
      <p:sp>
        <p:nvSpPr>
          <p:cNvPr id="26" name="Shape 19"/>
          <p:cNvSpPr/>
          <p:nvPr/>
        </p:nvSpPr>
        <p:spPr>
          <a:xfrm>
            <a:off x="5212080" y="123444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Shape 20"/>
          <p:cNvSpPr/>
          <p:nvPr/>
        </p:nvSpPr>
        <p:spPr>
          <a:xfrm>
            <a:off x="5513832" y="1371600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3085" y="1430853"/>
            <a:ext cx="375270" cy="37527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57800" y="1920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</a:t>
            </a:r>
            <a:endParaRPr lang="en-US" sz="930" dirty="0"/>
          </a:p>
        </p:txBody>
      </p:sp>
      <p:sp>
        <p:nvSpPr>
          <p:cNvPr id="30" name="Text 22"/>
          <p:cNvSpPr/>
          <p:nvPr/>
        </p:nvSpPr>
        <p:spPr>
          <a:xfrm>
            <a:off x="5257800" y="22219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M/M/2: 2 compatible streams at once</a:t>
            </a:r>
            <a:endParaRPr lang="en-US" sz="760" dirty="0"/>
          </a:p>
        </p:txBody>
      </p:sp>
      <p:sp>
        <p:nvSpPr>
          <p:cNvPr id="31" name="Shape 23"/>
          <p:cNvSpPr/>
          <p:nvPr/>
        </p:nvSpPr>
        <p:spPr>
          <a:xfrm>
            <a:off x="6400800" y="123444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Shape 24"/>
          <p:cNvSpPr/>
          <p:nvPr/>
        </p:nvSpPr>
        <p:spPr>
          <a:xfrm>
            <a:off x="6702552" y="1371600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1805" y="1430853"/>
            <a:ext cx="375270" cy="37527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446520" y="1920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930" dirty="0"/>
          </a:p>
        </p:txBody>
      </p:sp>
      <p:sp>
        <p:nvSpPr>
          <p:cNvPr id="35" name="Text 26"/>
          <p:cNvSpPr/>
          <p:nvPr/>
        </p:nvSpPr>
        <p:spPr>
          <a:xfrm>
            <a:off x="6446520" y="22219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Grant/defer decided in one step</a:t>
            </a:r>
            <a:endParaRPr lang="en-US" sz="760" dirty="0"/>
          </a:p>
        </p:txBody>
      </p:sp>
      <p:sp>
        <p:nvSpPr>
          <p:cNvPr id="36" name="Shape 27"/>
          <p:cNvSpPr/>
          <p:nvPr/>
        </p:nvSpPr>
        <p:spPr>
          <a:xfrm>
            <a:off x="7589520" y="123444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7" name="Shape 28"/>
          <p:cNvSpPr/>
          <p:nvPr/>
        </p:nvSpPr>
        <p:spPr>
          <a:xfrm>
            <a:off x="7891272" y="1371600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0525" y="1430853"/>
            <a:ext cx="375270" cy="37527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635240" y="1920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 format</a:t>
            </a:r>
            <a:endParaRPr lang="en-US" sz="930" dirty="0"/>
          </a:p>
        </p:txBody>
      </p:sp>
      <p:sp>
        <p:nvSpPr>
          <p:cNvPr id="40" name="Text 30"/>
          <p:cNvSpPr/>
          <p:nvPr/>
        </p:nvSpPr>
        <p:spPr>
          <a:xfrm>
            <a:off x="7635240" y="22219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6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+ movement + message type</a:t>
            </a:r>
            <a:endParaRPr lang="en-US" sz="760" dirty="0"/>
          </a:p>
        </p:txBody>
      </p:sp>
      <p:sp>
        <p:nvSpPr>
          <p:cNvPr id="41" name="Text 31"/>
          <p:cNvSpPr/>
          <p:nvPr/>
        </p:nvSpPr>
        <p:spPr>
          <a:xfrm>
            <a:off x="45720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RULE (M/M/2)</a:t>
            </a:r>
            <a:endParaRPr lang="en-US" sz="11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1837944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N-straight + S-straight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Opposite lanes, never cross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E-straight + W-straight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Opposite lanes, never cross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right turns together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stays in its own corner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N-straight + E-straight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Paths cross in the center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left turn + anything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turns sweep through center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3" name="Text 32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CC98F51B-281B-B3C2-0147-C21286DDAE52}"/>
              </a:ext>
            </a:extLst>
          </p:cNvPr>
          <p:cNvSpPr txBox="1">
            <a:spLocks/>
          </p:cNvSpPr>
          <p:nvPr/>
        </p:nvSpPr>
        <p:spPr>
          <a:xfrm>
            <a:off x="190500" y="211836"/>
            <a:ext cx="6816725" cy="524503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spcBef>
                <a:spcPts val="530"/>
              </a:spcBef>
            </a:pPr>
            <a:r>
              <a:rPr lang="en-US" sz="1800" dirty="0"/>
              <a:t>Cross</a:t>
            </a:r>
            <a:r>
              <a:rPr lang="en-US" sz="1800" spc="-5" dirty="0"/>
              <a:t> </a:t>
            </a:r>
            <a:r>
              <a:rPr lang="en-US" sz="1800" dirty="0"/>
              <a:t>Traffic Management - Use Case</a:t>
            </a:r>
            <a:r>
              <a:rPr lang="en-US" sz="1800" spc="-5" dirty="0"/>
              <a:t> </a:t>
            </a:r>
            <a:r>
              <a:rPr lang="en-US" sz="1800" spc="-10" dirty="0"/>
              <a:t>Diagram</a:t>
            </a:r>
          </a:p>
          <a:p>
            <a:pPr marL="12700">
              <a:spcBef>
                <a:spcPts val="240"/>
              </a:spcBef>
            </a:pPr>
            <a:r>
              <a:rPr lang="en-US" sz="1000" dirty="0">
                <a:solidFill>
                  <a:srgbClr val="8993A5"/>
                </a:solidFill>
                <a:latin typeface="Arial MT"/>
                <a:cs typeface="Arial MT"/>
              </a:rPr>
              <a:t>Three</a:t>
            </a:r>
            <a:r>
              <a:rPr lang="en-US" sz="1000" spc="-5" dirty="0">
                <a:solidFill>
                  <a:srgbClr val="8993A5"/>
                </a:solidFill>
                <a:latin typeface="Arial MT"/>
                <a:cs typeface="Arial MT"/>
              </a:rPr>
              <a:t> </a:t>
            </a:r>
            <a:r>
              <a:rPr lang="en-US" sz="1000" dirty="0">
                <a:solidFill>
                  <a:srgbClr val="8993A5"/>
                </a:solidFill>
                <a:latin typeface="Arial MT"/>
                <a:cs typeface="Arial MT"/>
              </a:rPr>
              <a:t>actors, ten coordinated use cases - Autonomous Vehicle, Intersection Manager</a:t>
            </a:r>
            <a:r>
              <a:rPr lang="en-US" sz="1000" spc="-5" dirty="0">
                <a:solidFill>
                  <a:srgbClr val="8993A5"/>
                </a:solidFill>
                <a:latin typeface="Arial MT"/>
                <a:cs typeface="Arial MT"/>
              </a:rPr>
              <a:t> </a:t>
            </a:r>
            <a:r>
              <a:rPr lang="en-US" sz="1000" dirty="0">
                <a:solidFill>
                  <a:srgbClr val="8993A5"/>
                </a:solidFill>
                <a:latin typeface="Arial MT"/>
                <a:cs typeface="Arial MT"/>
              </a:rPr>
              <a:t>(RSU), and V2V peer </a:t>
            </a:r>
            <a:r>
              <a:rPr lang="en-US" sz="1000" spc="-10" dirty="0">
                <a:solidFill>
                  <a:srgbClr val="8993A5"/>
                </a:solidFill>
                <a:latin typeface="Arial MT"/>
                <a:cs typeface="Arial MT"/>
              </a:rPr>
              <a:t>vehicles</a:t>
            </a:r>
            <a:endParaRPr lang="en-US" sz="1000" dirty="0">
              <a:latin typeface="Arial MT"/>
              <a:cs typeface="Arial M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017520" y="914400"/>
            <a:ext cx="4572000" cy="3913632"/>
          </a:xfrm>
          <a:prstGeom prst="roundRect">
            <a:avLst/>
          </a:prstGeom>
          <a:solidFill>
            <a:srgbClr val="FBFDFE"/>
          </a:solidFill>
          <a:ln w="15875">
            <a:solidFill>
              <a:srgbClr val="D7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0" y="987552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E2761"/>
                </a:solidFill>
                <a:latin typeface="Calibri"/>
              </a:rPr>
              <a:t>Cross Traffic Management System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234440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68680" y="1417320"/>
            <a:ext cx="0" cy="274320"/>
          </a:xfrm>
          <a:prstGeom prst="line">
            <a:avLst/>
          </a:prstGeom>
          <a:ln w="15875">
            <a:solidFill>
              <a:srgbClr val="1E27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85800" y="1545336"/>
            <a:ext cx="365760" cy="0"/>
          </a:xfrm>
          <a:prstGeom prst="line">
            <a:avLst/>
          </a:prstGeom>
          <a:ln w="15875">
            <a:solidFill>
              <a:srgbClr val="1E27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22375" y="1691640"/>
            <a:ext cx="146305" cy="228600"/>
          </a:xfrm>
          <a:prstGeom prst="line">
            <a:avLst/>
          </a:prstGeom>
          <a:ln w="15875">
            <a:solidFill>
              <a:srgbClr val="1E27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868680" y="1691640"/>
            <a:ext cx="146303" cy="228600"/>
          </a:xfrm>
          <a:prstGeom prst="line">
            <a:avLst/>
          </a:prstGeom>
          <a:ln w="15875">
            <a:solidFill>
              <a:srgbClr val="1E27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19" y="1965960"/>
            <a:ext cx="1645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  <a:latin typeface="Calibri"/>
              </a:rPr>
              <a:t>Autonomous</a:t>
            </a:r>
          </a:p>
          <a:p>
            <a:pPr algn="ctr"/>
            <a:r>
              <a:rPr sz="850" b="1" i="0">
                <a:solidFill>
                  <a:srgbClr val="1E2761"/>
                </a:solidFill>
                <a:latin typeface="Calibri"/>
              </a:rPr>
              <a:t>Vehicle (AV)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246120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68680" y="3429000"/>
            <a:ext cx="0" cy="274320"/>
          </a:xfrm>
          <a:prstGeom prst="line">
            <a:avLst/>
          </a:prstGeom>
          <a:ln w="15875">
            <a:solidFill>
              <a:srgbClr val="1E27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" y="3557016"/>
            <a:ext cx="365760" cy="0"/>
          </a:xfrm>
          <a:prstGeom prst="line">
            <a:avLst/>
          </a:prstGeom>
          <a:ln w="15875">
            <a:solidFill>
              <a:srgbClr val="1E27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2375" y="3703320"/>
            <a:ext cx="146305" cy="228600"/>
          </a:xfrm>
          <a:prstGeom prst="line">
            <a:avLst/>
          </a:prstGeom>
          <a:ln w="15875">
            <a:solidFill>
              <a:srgbClr val="1E27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868680" y="3703320"/>
            <a:ext cx="146303" cy="228600"/>
          </a:xfrm>
          <a:prstGeom prst="line">
            <a:avLst/>
          </a:prstGeom>
          <a:ln w="15875">
            <a:solidFill>
              <a:srgbClr val="1E27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19" y="3977639"/>
            <a:ext cx="1645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  <a:latin typeface="Calibri"/>
              </a:rPr>
              <a:t>Other Vehicles</a:t>
            </a:r>
          </a:p>
          <a:p>
            <a:pPr algn="ctr"/>
            <a:r>
              <a:rPr sz="850" b="1" i="0">
                <a:solidFill>
                  <a:srgbClr val="1E2761"/>
                </a:solidFill>
                <a:latin typeface="Calibri"/>
              </a:rPr>
              <a:t>(V2V peers)</a:t>
            </a:r>
          </a:p>
        </p:txBody>
      </p:sp>
      <p:sp>
        <p:nvSpPr>
          <p:cNvPr id="17" name="Oval 16"/>
          <p:cNvSpPr/>
          <p:nvPr/>
        </p:nvSpPr>
        <p:spPr>
          <a:xfrm>
            <a:off x="8183880" y="2331720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275320" y="2514600"/>
            <a:ext cx="0" cy="274320"/>
          </a:xfrm>
          <a:prstGeom prst="line">
            <a:avLst/>
          </a:prstGeom>
          <a:ln w="15875">
            <a:solidFill>
              <a:srgbClr val="1E27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92440" y="2642616"/>
            <a:ext cx="365760" cy="0"/>
          </a:xfrm>
          <a:prstGeom prst="line">
            <a:avLst/>
          </a:prstGeom>
          <a:ln w="15875">
            <a:solidFill>
              <a:srgbClr val="1E27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129016" y="2788920"/>
            <a:ext cx="146304" cy="228600"/>
          </a:xfrm>
          <a:prstGeom prst="line">
            <a:avLst/>
          </a:prstGeom>
          <a:ln w="15875">
            <a:solidFill>
              <a:srgbClr val="1E27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8275320" y="2788920"/>
            <a:ext cx="146304" cy="228600"/>
          </a:xfrm>
          <a:prstGeom prst="line">
            <a:avLst/>
          </a:prstGeom>
          <a:ln w="15875">
            <a:solidFill>
              <a:srgbClr val="1E27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52360" y="3063240"/>
            <a:ext cx="1645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  <a:latin typeface="Calibri"/>
              </a:rPr>
              <a:t>Intersection</a:t>
            </a:r>
          </a:p>
          <a:p>
            <a:pPr algn="ctr"/>
            <a:r>
              <a:rPr sz="850" b="1" i="0">
                <a:solidFill>
                  <a:srgbClr val="1E2761"/>
                </a:solidFill>
                <a:latin typeface="Calibri"/>
              </a:rPr>
              <a:t>Manager (IM/RSU)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868680" y="1490472"/>
            <a:ext cx="3337560" cy="109728"/>
          </a:xfrm>
          <a:prstGeom prst="line">
            <a:avLst/>
          </a:prstGeom>
          <a:ln w="9525">
            <a:solidFill>
              <a:srgbClr val="AFB7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68680" y="1490472"/>
            <a:ext cx="5486399" cy="109728"/>
          </a:xfrm>
          <a:prstGeom prst="line">
            <a:avLst/>
          </a:prstGeom>
          <a:ln w="9525">
            <a:solidFill>
              <a:srgbClr val="AFB7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8680" y="1600200"/>
            <a:ext cx="3337560" cy="452628"/>
          </a:xfrm>
          <a:prstGeom prst="line">
            <a:avLst/>
          </a:prstGeom>
          <a:ln w="9525">
            <a:solidFill>
              <a:srgbClr val="AFB7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8680" y="1600200"/>
            <a:ext cx="5486399" cy="452628"/>
          </a:xfrm>
          <a:prstGeom prst="line">
            <a:avLst/>
          </a:prstGeom>
          <a:ln w="9525">
            <a:solidFill>
              <a:srgbClr val="AFB7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68680" y="1600200"/>
            <a:ext cx="3337560" cy="1014984"/>
          </a:xfrm>
          <a:prstGeom prst="line">
            <a:avLst/>
          </a:prstGeom>
          <a:ln w="9525">
            <a:solidFill>
              <a:srgbClr val="AFB7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68680" y="1600200"/>
            <a:ext cx="3337560" cy="1577339"/>
          </a:xfrm>
          <a:prstGeom prst="line">
            <a:avLst/>
          </a:prstGeom>
          <a:ln w="9525">
            <a:solidFill>
              <a:srgbClr val="AFB7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68680" y="1600200"/>
            <a:ext cx="5486399" cy="1577339"/>
          </a:xfrm>
          <a:prstGeom prst="line">
            <a:avLst/>
          </a:prstGeom>
          <a:ln w="9525">
            <a:solidFill>
              <a:srgbClr val="AFB7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6355079" y="1490472"/>
            <a:ext cx="1920241" cy="1207008"/>
          </a:xfrm>
          <a:prstGeom prst="line">
            <a:avLst/>
          </a:prstGeom>
          <a:ln w="9525">
            <a:solidFill>
              <a:srgbClr val="AFB7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4206240" y="2052828"/>
            <a:ext cx="4069080" cy="644652"/>
          </a:xfrm>
          <a:prstGeom prst="line">
            <a:avLst/>
          </a:prstGeom>
          <a:ln w="9525">
            <a:solidFill>
              <a:srgbClr val="AFB7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6355079" y="2052828"/>
            <a:ext cx="1920241" cy="644652"/>
          </a:xfrm>
          <a:prstGeom prst="line">
            <a:avLst/>
          </a:prstGeom>
          <a:ln w="9525">
            <a:solidFill>
              <a:srgbClr val="AFB7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6355079" y="2697480"/>
            <a:ext cx="1920241" cy="480059"/>
          </a:xfrm>
          <a:prstGeom prst="line">
            <a:avLst/>
          </a:prstGeom>
          <a:ln w="9525">
            <a:solidFill>
              <a:srgbClr val="AFB7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4206240" y="2697480"/>
            <a:ext cx="4069080" cy="1042416"/>
          </a:xfrm>
          <a:prstGeom prst="line">
            <a:avLst/>
          </a:prstGeom>
          <a:ln w="9525">
            <a:solidFill>
              <a:srgbClr val="AFB7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6355079" y="2697480"/>
            <a:ext cx="1920241" cy="1042416"/>
          </a:xfrm>
          <a:prstGeom prst="line">
            <a:avLst/>
          </a:prstGeom>
          <a:ln w="9525">
            <a:solidFill>
              <a:srgbClr val="AFB7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8680" y="2615184"/>
            <a:ext cx="3337560" cy="996696"/>
          </a:xfrm>
          <a:prstGeom prst="line">
            <a:avLst/>
          </a:prstGeom>
          <a:ln w="9525">
            <a:solidFill>
              <a:srgbClr val="AFB7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680" y="2615184"/>
            <a:ext cx="5486399" cy="996696"/>
          </a:xfrm>
          <a:prstGeom prst="line">
            <a:avLst/>
          </a:prstGeom>
          <a:ln w="9525">
            <a:solidFill>
              <a:srgbClr val="AFB7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3200400" y="1261872"/>
            <a:ext cx="201168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46120" y="1261872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65A82"/>
                </a:solidFill>
                <a:latin typeface="Calibri"/>
              </a:rPr>
              <a:t>UC1</a:t>
            </a:r>
          </a:p>
          <a:p>
            <a:pPr algn="ctr"/>
            <a:r>
              <a:rPr sz="760" b="0">
                <a:solidFill>
                  <a:srgbClr val="1E2761"/>
                </a:solidFill>
                <a:latin typeface="Calibri"/>
              </a:rPr>
              <a:t>Arrive at intersection</a:t>
            </a:r>
          </a:p>
        </p:txBody>
      </p:sp>
      <p:sp>
        <p:nvSpPr>
          <p:cNvPr id="40" name="Oval 39"/>
          <p:cNvSpPr/>
          <p:nvPr/>
        </p:nvSpPr>
        <p:spPr>
          <a:xfrm>
            <a:off x="5349240" y="1261872"/>
            <a:ext cx="201168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4959" y="1261872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65A82"/>
                </a:solidFill>
                <a:latin typeface="Calibri"/>
              </a:rPr>
              <a:t>UC2</a:t>
            </a:r>
          </a:p>
          <a:p>
            <a:pPr algn="ctr"/>
            <a:r>
              <a:rPr sz="760" b="0">
                <a:solidFill>
                  <a:srgbClr val="1E2761"/>
                </a:solidFill>
                <a:latin typeface="Calibri"/>
              </a:rPr>
              <a:t>Send crossing request</a:t>
            </a:r>
          </a:p>
        </p:txBody>
      </p:sp>
      <p:sp>
        <p:nvSpPr>
          <p:cNvPr id="42" name="Oval 41"/>
          <p:cNvSpPr/>
          <p:nvPr/>
        </p:nvSpPr>
        <p:spPr>
          <a:xfrm>
            <a:off x="3200400" y="1824228"/>
            <a:ext cx="201168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46120" y="1824228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65A82"/>
                </a:solidFill>
                <a:latin typeface="Calibri"/>
              </a:rPr>
              <a:t>UC3</a:t>
            </a:r>
          </a:p>
          <a:p>
            <a:pPr algn="ctr"/>
            <a:r>
              <a:rPr sz="760" b="0">
                <a:solidFill>
                  <a:srgbClr val="1E2761"/>
                </a:solidFill>
                <a:latin typeface="Calibri"/>
              </a:rPr>
              <a:t>Receive grant</a:t>
            </a:r>
          </a:p>
        </p:txBody>
      </p:sp>
      <p:sp>
        <p:nvSpPr>
          <p:cNvPr id="44" name="Oval 43"/>
          <p:cNvSpPr/>
          <p:nvPr/>
        </p:nvSpPr>
        <p:spPr>
          <a:xfrm>
            <a:off x="5349240" y="1824228"/>
            <a:ext cx="201168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94959" y="1824228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65A82"/>
                </a:solidFill>
                <a:latin typeface="Calibri"/>
              </a:rPr>
              <a:t>UC4</a:t>
            </a:r>
          </a:p>
          <a:p>
            <a:pPr algn="ctr"/>
            <a:r>
              <a:rPr sz="760" b="0">
                <a:solidFill>
                  <a:srgbClr val="1E2761"/>
                </a:solidFill>
                <a:latin typeface="Calibri"/>
              </a:rPr>
              <a:t>Receive defer &amp; retry</a:t>
            </a:r>
          </a:p>
        </p:txBody>
      </p:sp>
      <p:sp>
        <p:nvSpPr>
          <p:cNvPr id="46" name="Oval 45"/>
          <p:cNvSpPr/>
          <p:nvPr/>
        </p:nvSpPr>
        <p:spPr>
          <a:xfrm>
            <a:off x="3200400" y="2386584"/>
            <a:ext cx="201168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46120" y="2386584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65A82"/>
                </a:solidFill>
                <a:latin typeface="Calibri"/>
              </a:rPr>
              <a:t>UC5</a:t>
            </a:r>
          </a:p>
          <a:p>
            <a:pPr algn="ctr"/>
            <a:r>
              <a:rPr sz="760" b="0">
                <a:solidFill>
                  <a:srgbClr val="1E2761"/>
                </a:solidFill>
                <a:latin typeface="Calibri"/>
              </a:rPr>
              <a:t>Broadcast crossing intent (V2V)</a:t>
            </a:r>
          </a:p>
        </p:txBody>
      </p:sp>
      <p:sp>
        <p:nvSpPr>
          <p:cNvPr id="48" name="Oval 47"/>
          <p:cNvSpPr/>
          <p:nvPr/>
        </p:nvSpPr>
        <p:spPr>
          <a:xfrm>
            <a:off x="5349240" y="2386584"/>
            <a:ext cx="201168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94959" y="2386584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65A82"/>
                </a:solidFill>
                <a:latin typeface="Calibri"/>
              </a:rPr>
              <a:t>UC6</a:t>
            </a:r>
          </a:p>
          <a:p>
            <a:pPr algn="ctr"/>
            <a:r>
              <a:rPr sz="760" b="0">
                <a:solidFill>
                  <a:srgbClr val="1E2761"/>
                </a:solidFill>
                <a:latin typeface="Calibri"/>
              </a:rPr>
              <a:t>Receive V2V intent from other car</a:t>
            </a:r>
          </a:p>
        </p:txBody>
      </p:sp>
      <p:sp>
        <p:nvSpPr>
          <p:cNvPr id="50" name="Oval 49"/>
          <p:cNvSpPr/>
          <p:nvPr/>
        </p:nvSpPr>
        <p:spPr>
          <a:xfrm>
            <a:off x="3200400" y="2948939"/>
            <a:ext cx="201168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46120" y="2948939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65A82"/>
                </a:solidFill>
                <a:latin typeface="Calibri"/>
              </a:rPr>
              <a:t>UC7</a:t>
            </a:r>
          </a:p>
          <a:p>
            <a:pPr algn="ctr"/>
            <a:r>
              <a:rPr sz="760" b="0">
                <a:solidFill>
                  <a:srgbClr val="1E2761"/>
                </a:solidFill>
                <a:latin typeface="Calibri"/>
              </a:rPr>
              <a:t>Cross intersection</a:t>
            </a:r>
          </a:p>
        </p:txBody>
      </p:sp>
      <p:sp>
        <p:nvSpPr>
          <p:cNvPr id="52" name="Oval 51"/>
          <p:cNvSpPr/>
          <p:nvPr/>
        </p:nvSpPr>
        <p:spPr>
          <a:xfrm>
            <a:off x="5349240" y="2948939"/>
            <a:ext cx="201168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4959" y="2948939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65A82"/>
                </a:solidFill>
                <a:latin typeface="Calibri"/>
              </a:rPr>
              <a:t>UC8</a:t>
            </a:r>
          </a:p>
          <a:p>
            <a:pPr algn="ctr"/>
            <a:r>
              <a:rPr sz="760" b="0">
                <a:solidFill>
                  <a:srgbClr val="1E2761"/>
                </a:solidFill>
                <a:latin typeface="Calibri"/>
              </a:rPr>
              <a:t>Send exit notification</a:t>
            </a:r>
          </a:p>
        </p:txBody>
      </p:sp>
      <p:sp>
        <p:nvSpPr>
          <p:cNvPr id="54" name="Oval 53"/>
          <p:cNvSpPr/>
          <p:nvPr/>
        </p:nvSpPr>
        <p:spPr>
          <a:xfrm>
            <a:off x="3200400" y="3511296"/>
            <a:ext cx="201168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46120" y="3511296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65A82"/>
                </a:solidFill>
                <a:latin typeface="Calibri"/>
              </a:rPr>
              <a:t>UC9</a:t>
            </a:r>
          </a:p>
          <a:p>
            <a:pPr algn="ctr"/>
            <a:r>
              <a:rPr sz="760" b="0">
                <a:solidFill>
                  <a:srgbClr val="1E2761"/>
                </a:solidFill>
                <a:latin typeface="Calibri"/>
              </a:rPr>
              <a:t>Check path compatibility</a:t>
            </a:r>
          </a:p>
        </p:txBody>
      </p:sp>
      <p:sp>
        <p:nvSpPr>
          <p:cNvPr id="56" name="Oval 55"/>
          <p:cNvSpPr/>
          <p:nvPr/>
        </p:nvSpPr>
        <p:spPr>
          <a:xfrm>
            <a:off x="5349240" y="3511296"/>
            <a:ext cx="201168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94959" y="3511296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065A82"/>
                </a:solidFill>
                <a:latin typeface="Calibri"/>
              </a:rPr>
              <a:t>UC10</a:t>
            </a:r>
          </a:p>
          <a:p>
            <a:pPr algn="ctr"/>
            <a:r>
              <a:rPr sz="760" b="0">
                <a:solidFill>
                  <a:srgbClr val="1E2761"/>
                </a:solidFill>
                <a:latin typeface="Calibri"/>
              </a:rPr>
              <a:t>Update crossing state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9"/>
                </a:solidFill>
                <a:latin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66174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3891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108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UPPAAL Formal Model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5156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timed-automata templates coordinated through typed channels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" y="1477670"/>
            <a:ext cx="382219" cy="3822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371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280160" y="1664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instance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40080" y="20574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+ 4 committed Proc states; grants/defers each of 4 requesters</a:t>
            </a:r>
            <a:endParaRPr lang="en-US" sz="930" dirty="0"/>
          </a:p>
        </p:txBody>
      </p:sp>
      <p:sp>
        <p:nvSpPr>
          <p:cNvPr id="12" name="Shape 8"/>
          <p:cNvSpPr/>
          <p:nvPr/>
        </p:nvSpPr>
        <p:spPr>
          <a:xfrm>
            <a:off x="3291840" y="123444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Shape 9"/>
          <p:cNvSpPr/>
          <p:nvPr/>
        </p:nvSpPr>
        <p:spPr>
          <a:xfrm>
            <a:off x="347472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5070" y="1477670"/>
            <a:ext cx="382219" cy="38221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14800" y="1371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Car(id)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114800" y="1664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instances - N,S,E,W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474720" y="20574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-&gt; Queued -&gt; WaitResp -&gt; Deferred / V2V -&gt; Crossing -&gt; Idle</a:t>
            </a:r>
            <a:endParaRPr lang="en-US" sz="930" dirty="0"/>
          </a:p>
        </p:txBody>
      </p:sp>
      <p:sp>
        <p:nvSpPr>
          <p:cNvPr id="18" name="Shape 13"/>
          <p:cNvSpPr/>
          <p:nvPr/>
        </p:nvSpPr>
        <p:spPr>
          <a:xfrm>
            <a:off x="6126480" y="123444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4"/>
          <p:cNvSpPr/>
          <p:nvPr/>
        </p:nvSpPr>
        <p:spPr>
          <a:xfrm>
            <a:off x="630936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9710" y="1477670"/>
            <a:ext cx="382219" cy="3822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49440" y="1371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V2VListener(sid)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949440" y="1664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instances - N,S,E,W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309360" y="20574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Listen state; reacts to broadcast channel vv[sid]?</a:t>
            </a:r>
            <a:endParaRPr lang="en-US" sz="930" dirty="0"/>
          </a:p>
        </p:txBody>
      </p:sp>
      <p:sp>
        <p:nvSpPr>
          <p:cNvPr id="24" name="Text 18"/>
          <p:cNvSpPr/>
          <p:nvPr/>
        </p:nvSpPr>
        <p:spPr>
          <a:xfrm>
            <a:off x="45720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DECLARATIONS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36118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cc  -  crossCount (vehicles currently crossing)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cm  -  crossMode (which movement class owns the intersection)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rm[4]  -  requested movement per direction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 rq[4], gr[4], df[4]  -  per-direction request / grant / defer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chan vv[4]  -  V2V crossing-intent broadcast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12648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QUERIES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126480" y="361188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EAF7F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2"/>
          <p:cNvSpPr/>
          <p:nvPr/>
        </p:nvSpPr>
        <p:spPr>
          <a:xfrm>
            <a:off x="6309360" y="3730752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6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Q1-Q5 formally check deadlock-freedom, path exclusivity, and the M/M/2 pairing rule - see next section.</a:t>
            </a:r>
            <a:endParaRPr lang="en-US" sz="960" dirty="0"/>
          </a:p>
        </p:txBody>
      </p:sp>
      <p:sp>
        <p:nvSpPr>
          <p:cNvPr id="29" name="Text 23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438912"/>
            <a:ext cx="347472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310896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Cambria"/>
              </a:rPr>
              <a:t>UPPAAL Editor — Intersection Manager (IM)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49808"/>
            <a:ext cx="8138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479"/>
                </a:solidFill>
                <a:latin typeface="Calibri"/>
              </a:rPr>
              <a:t>The real IM template: committed Proc0–Proc3 states implement the compatibility guard for each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33927" y="1133856"/>
            <a:ext cx="5876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65A82"/>
                </a:solidFill>
                <a:latin typeface="Cambria"/>
              </a:rPr>
              <a:t>IM TEMPLATE — EDITOR 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33927" y="1417320"/>
            <a:ext cx="5876144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hatsApp_Image_2026-07-06_at_11_30_0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935" y="1481328"/>
            <a:ext cx="5748128" cy="2615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33927" y="4215383"/>
            <a:ext cx="5876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5B6479"/>
                </a:solidFill>
                <a:latin typeface="Calibri"/>
              </a:rPr>
              <a:t>Each Proc_i fires gr[i]! when compatible with the active crossing mode, or df[i]! otherwise — mirrors canGrant() in FreeRTOS and can_grant_fn() in VHDL.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B6479"/>
                </a:solidFill>
                <a:latin typeface="Calibri"/>
              </a:rPr>
              <a:t>Captured from UPPAAL 5.1.0-beta5 (aim_uppaal_final.xml)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3891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108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Protocol State Machine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5156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state flow modeled in UPPAAL and mirrored in the LaneTask retry loop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457200" y="1828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15798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movement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74520" y="2125980"/>
            <a:ext cx="292608" cy="0"/>
          </a:xfrm>
          <a:prstGeom prst="line">
            <a:avLst/>
          </a:prstGeom>
          <a:noFill/>
          <a:ln w="2286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2167128" y="173736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2167128" y="1828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67128" y="215798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rq[id]!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584448" y="2125980"/>
            <a:ext cx="292608" cy="0"/>
          </a:xfrm>
          <a:prstGeom prst="line">
            <a:avLst/>
          </a:prstGeom>
          <a:noFill/>
          <a:ln w="2286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1"/>
          <p:cNvSpPr/>
          <p:nvPr/>
        </p:nvSpPr>
        <p:spPr>
          <a:xfrm>
            <a:off x="3877056" y="173736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3877056" y="1828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WaitResp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877056" y="215798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gr[id]? / df[id]?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294376" y="2125980"/>
            <a:ext cx="292608" cy="0"/>
          </a:xfrm>
          <a:prstGeom prst="line">
            <a:avLst/>
          </a:prstGeom>
          <a:noFill/>
          <a:ln w="2286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5"/>
          <p:cNvSpPr/>
          <p:nvPr/>
        </p:nvSpPr>
        <p:spPr>
          <a:xfrm>
            <a:off x="5586984" y="173736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DFF3E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6"/>
          <p:cNvSpPr/>
          <p:nvPr/>
        </p:nvSpPr>
        <p:spPr>
          <a:xfrm>
            <a:off x="5586984" y="1828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V2V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586984" y="215798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vv[id]! broadcast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7004304" y="2125980"/>
            <a:ext cx="292608" cy="0"/>
          </a:xfrm>
          <a:prstGeom prst="line">
            <a:avLst/>
          </a:prstGeom>
          <a:noFill/>
          <a:ln w="2286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19"/>
          <p:cNvSpPr/>
          <p:nvPr/>
        </p:nvSpPr>
        <p:spPr>
          <a:xfrm>
            <a:off x="7296912" y="173736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0"/>
          <p:cNvSpPr/>
          <p:nvPr/>
        </p:nvSpPr>
        <p:spPr>
          <a:xfrm>
            <a:off x="7296912" y="1828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296912" y="215798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&lt;= SERVICE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310128" y="29718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BE9E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3"/>
          <p:cNvSpPr/>
          <p:nvPr/>
        </p:nvSpPr>
        <p:spPr>
          <a:xfrm>
            <a:off x="3310128" y="3063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Deferred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310128" y="33924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&lt;= DEFER_T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585716" y="2514600"/>
            <a:ext cx="0" cy="457200"/>
          </a:xfrm>
          <a:prstGeom prst="line">
            <a:avLst/>
          </a:prstGeom>
          <a:noFill/>
          <a:ln w="20320">
            <a:solidFill>
              <a:srgbClr val="C1443C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6"/>
          <p:cNvSpPr/>
          <p:nvPr/>
        </p:nvSpPr>
        <p:spPr>
          <a:xfrm>
            <a:off x="4640580" y="25877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310128" y="3360420"/>
            <a:ext cx="0" cy="0"/>
          </a:xfrm>
          <a:prstGeom prst="line">
            <a:avLst/>
          </a:prstGeom>
          <a:noFill/>
          <a:ln w="20320">
            <a:solidFill>
              <a:srgbClr val="C1443C"/>
            </a:solidFill>
            <a:prstDash val="dash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8"/>
          <p:cNvSpPr/>
          <p:nvPr/>
        </p:nvSpPr>
        <p:spPr>
          <a:xfrm>
            <a:off x="2052828" y="34061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i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(wait elapsed)</a:t>
            </a:r>
            <a:endParaRPr lang="en-US" sz="760" dirty="0"/>
          </a:p>
        </p:txBody>
      </p:sp>
      <p:sp>
        <p:nvSpPr>
          <p:cNvPr id="32" name="Shape 29"/>
          <p:cNvSpPr/>
          <p:nvPr/>
        </p:nvSpPr>
        <p:spPr>
          <a:xfrm>
            <a:off x="8005572" y="2514600"/>
            <a:ext cx="0" cy="82296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0"/>
          <p:cNvSpPr/>
          <p:nvPr/>
        </p:nvSpPr>
        <p:spPr>
          <a:xfrm>
            <a:off x="5093550" y="3337560"/>
            <a:ext cx="2912021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31"/>
          <p:cNvSpPr/>
          <p:nvPr/>
        </p:nvSpPr>
        <p:spPr>
          <a:xfrm flipH="1" flipV="1">
            <a:off x="4787226" y="3337558"/>
            <a:ext cx="306324" cy="2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2"/>
          <p:cNvSpPr/>
          <p:nvPr/>
        </p:nvSpPr>
        <p:spPr>
          <a:xfrm>
            <a:off x="2194560" y="36845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cc==1: reset cross state to empty  |  cc&gt;1: decrement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457200" y="41605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7" name="Text 34"/>
          <p:cNvSpPr/>
          <p:nvPr/>
        </p:nvSpPr>
        <p:spPr>
          <a:xfrm>
            <a:off x="685800" y="42519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mapping to code:  </a:t>
            </a:r>
            <a:r>
              <a:rPr lang="en-US" sz="103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Idle/Queued/WaitResp/Deferred/V2V/Crossing correspond directly to the retry loop, xQueueSend/xQueueReceive calls, and vTaskDelay(SERVICE_MS) / vTaskDelay(DEFER_MS) in LaneTask() (aim_freertos.c).</a:t>
            </a:r>
            <a:endParaRPr lang="en-US" sz="1030" dirty="0"/>
          </a:p>
        </p:txBody>
      </p:sp>
      <p:sp>
        <p:nvSpPr>
          <p:cNvPr id="38" name="Text 35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3891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108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Verification Results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5156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UPPAAL queries check the safety-critical properties of the model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4"/>
          <p:cNvSpPr/>
          <p:nvPr/>
        </p:nvSpPr>
        <p:spPr>
          <a:xfrm>
            <a:off x="594360" y="128930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594360" y="1289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234440" y="124358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deadlock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246120" y="124358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A[] not deadlock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0" y="124358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90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can always make progress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90195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594360" y="200253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594360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234440" y="195681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exclusivity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246120" y="195681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N-straight &amp; E-straight never together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00800" y="195681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90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paths never overlap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261518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6"/>
          <p:cNvSpPr/>
          <p:nvPr/>
        </p:nvSpPr>
        <p:spPr>
          <a:xfrm>
            <a:off x="594360" y="271576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5943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234440" y="267004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M/M/2 server 1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246120" y="26700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&amp; S cross together only if both straight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00800" y="26700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90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Opposite-lane pairing enforced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7200" y="332841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Shape 22"/>
          <p:cNvSpPr/>
          <p:nvPr/>
        </p:nvSpPr>
        <p:spPr>
          <a:xfrm>
            <a:off x="594360" y="34290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3"/>
          <p:cNvSpPr/>
          <p:nvPr/>
        </p:nvSpPr>
        <p:spPr>
          <a:xfrm>
            <a:off x="5943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234440" y="33832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M/M/2 server 2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3246120" y="33832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&amp; W cross together only if both straight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00800" y="3383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90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Opposite-lane pairing enforced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57200" y="404164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Shape 28"/>
          <p:cNvSpPr/>
          <p:nvPr/>
        </p:nvSpPr>
        <p:spPr>
          <a:xfrm>
            <a:off x="594360" y="414223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29"/>
          <p:cNvSpPr/>
          <p:nvPr/>
        </p:nvSpPr>
        <p:spPr>
          <a:xfrm>
            <a:off x="59436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234440" y="409651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 crossings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3246120" y="40965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 &lt;= 4 at all times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400800" y="409651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90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more than 4 vehicles crossing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57200" y="47914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60" i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properties are verified TRUE against the UPPAAL model, giving formal assurance that the same rules implemented in FreeRTOS and VHDL are safe by construction.</a:t>
            </a:r>
            <a:endParaRPr lang="en-US" sz="960" dirty="0"/>
          </a:p>
        </p:txBody>
      </p:sp>
      <p:sp>
        <p:nvSpPr>
          <p:cNvPr id="37" name="Text 34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438912"/>
            <a:ext cx="347472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310896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Cambria"/>
              </a:rPr>
              <a:t>UPPAAL Editor — Car Template &amp; Verifier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49808"/>
            <a:ext cx="8138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479"/>
                </a:solidFill>
                <a:latin typeface="Calibri"/>
              </a:rPr>
              <a:t>Left: the full Car(id) state machine as modeled. Right: all five safety and liveness queries in the Verifier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7"/>
            <a:ext cx="40599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65A82"/>
                </a:solidFill>
                <a:latin typeface="Cambria"/>
              </a:rPr>
              <a:t>CAR TEMPLATE — EDITOR 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90472"/>
            <a:ext cx="4059936" cy="2276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hatsApp_Image_2026-07-06_at_11_30_1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554480"/>
            <a:ext cx="3931920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3822191"/>
            <a:ext cx="4059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5B6479"/>
                </a:solidFill>
                <a:latin typeface="Calibri"/>
              </a:rPr>
              <a:t>Idle → Queued → WaitResp → Deferred/V2V → Crossing → Idle, with d ≤ DEFER_T and d ≤ SERVICE bounding each wait.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1207007"/>
            <a:ext cx="40599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65A82"/>
                </a:solidFill>
                <a:latin typeface="Cambria"/>
              </a:rPr>
              <a:t>VERIFIER — SAFETY &amp; LIVENESS QUERIES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0872" y="1490472"/>
            <a:ext cx="4059936" cy="2276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hatsApp_Image_2026-07-06_at_11_30_2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554480"/>
            <a:ext cx="3931920" cy="2148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90872" y="3822191"/>
            <a:ext cx="4059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5B6479"/>
                </a:solidFill>
                <a:latin typeface="Calibri"/>
              </a:rPr>
              <a:t>A[] not deadlock, path exclusivity, M/M/2 server pairing (Q3/Q4), and cc ≤ 4 — all checked against the 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7083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B6479"/>
                </a:solidFill>
                <a:latin typeface="Calibri"/>
              </a:rPr>
              <a:t>Captured from UPPAAL 5.1.0-beta5 (aim_uppaal_final.xml)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3891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108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FreeRTOS System Architecture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5156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task-for-template mapping from the UPPAAL model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4"/>
          <p:cNvSpPr/>
          <p:nvPr/>
        </p:nvSpPr>
        <p:spPr>
          <a:xfrm>
            <a:off x="621792" y="13533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1408176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344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IMTask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88720" y="1645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x1 - priority +3 (highest)</a:t>
            </a:r>
            <a:endParaRPr lang="en-US" sz="880" dirty="0"/>
          </a:p>
        </p:txBody>
      </p:sp>
      <p:sp>
        <p:nvSpPr>
          <p:cNvPr id="11" name="Shape 7"/>
          <p:cNvSpPr/>
          <p:nvPr/>
        </p:nvSpPr>
        <p:spPr>
          <a:xfrm>
            <a:off x="621792" y="1975104"/>
            <a:ext cx="2368296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8"/>
          <p:cNvSpPr/>
          <p:nvPr/>
        </p:nvSpPr>
        <p:spPr>
          <a:xfrm>
            <a:off x="621792" y="2066544"/>
            <a:ext cx="23682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v2i_reqQueue; runs canGrant(); sends GRANT/DEFER; handles EXIT</a:t>
            </a:r>
            <a:endParaRPr lang="en-US" sz="930" dirty="0"/>
          </a:p>
        </p:txBody>
      </p:sp>
      <p:sp>
        <p:nvSpPr>
          <p:cNvPr id="13" name="Shape 9"/>
          <p:cNvSpPr/>
          <p:nvPr/>
        </p:nvSpPr>
        <p:spPr>
          <a:xfrm>
            <a:off x="3291840" y="118872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0"/>
          <p:cNvSpPr/>
          <p:nvPr/>
        </p:nvSpPr>
        <p:spPr>
          <a:xfrm>
            <a:off x="3456432" y="13533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1408176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023360" y="1344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LaneTask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023360" y="1645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x4 - priority +1</a:t>
            </a:r>
            <a:endParaRPr lang="en-US" sz="880" dirty="0"/>
          </a:p>
        </p:txBody>
      </p:sp>
      <p:sp>
        <p:nvSpPr>
          <p:cNvPr id="18" name="Shape 13"/>
          <p:cNvSpPr/>
          <p:nvPr/>
        </p:nvSpPr>
        <p:spPr>
          <a:xfrm>
            <a:off x="3456432" y="1975104"/>
            <a:ext cx="2368296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4"/>
          <p:cNvSpPr/>
          <p:nvPr/>
        </p:nvSpPr>
        <p:spPr>
          <a:xfrm>
            <a:off x="3456432" y="2066544"/>
            <a:ext cx="23682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timing; V2I request/retry loop; V2V broadcast; crossing delay</a:t>
            </a:r>
            <a:endParaRPr lang="en-US" sz="930" dirty="0"/>
          </a:p>
        </p:txBody>
      </p:sp>
      <p:sp>
        <p:nvSpPr>
          <p:cNvPr id="20" name="Shape 15"/>
          <p:cNvSpPr/>
          <p:nvPr/>
        </p:nvSpPr>
        <p:spPr>
          <a:xfrm>
            <a:off x="6126480" y="118872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Shape 16"/>
          <p:cNvSpPr/>
          <p:nvPr/>
        </p:nvSpPr>
        <p:spPr>
          <a:xfrm>
            <a:off x="6291072" y="13533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1408176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0" y="1344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V2VListenerTask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858000" y="1645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x4 - priority +2</a:t>
            </a:r>
            <a:endParaRPr lang="en-US" sz="880" dirty="0"/>
          </a:p>
        </p:txBody>
      </p:sp>
      <p:sp>
        <p:nvSpPr>
          <p:cNvPr id="25" name="Shape 19"/>
          <p:cNvSpPr/>
          <p:nvPr/>
        </p:nvSpPr>
        <p:spPr>
          <a:xfrm>
            <a:off x="6291072" y="1975104"/>
            <a:ext cx="2368296" cy="0"/>
          </a:xfrm>
          <a:prstGeom prst="line">
            <a:avLst/>
          </a:prstGeom>
          <a:noFill/>
          <a:ln w="9525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0"/>
          <p:cNvSpPr/>
          <p:nvPr/>
        </p:nvSpPr>
        <p:spPr>
          <a:xfrm>
            <a:off x="6291072" y="2066544"/>
            <a:ext cx="23682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3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Subscribes to v2v_broadcastQueue[dir]; updates awareness table</a:t>
            </a:r>
            <a:endParaRPr lang="en-US" sz="930" dirty="0"/>
          </a:p>
        </p:txBody>
      </p:sp>
      <p:sp>
        <p:nvSpPr>
          <p:cNvPr id="27" name="Shape 21"/>
          <p:cNvSpPr/>
          <p:nvPr/>
        </p:nvSpPr>
        <p:spPr>
          <a:xfrm>
            <a:off x="457200" y="3063240"/>
            <a:ext cx="8229600" cy="1783080"/>
          </a:xfrm>
          <a:prstGeom prst="roundRect">
            <a:avLst>
              <a:gd name="adj" fmla="val 410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Shape 22"/>
          <p:cNvSpPr/>
          <p:nvPr/>
        </p:nvSpPr>
        <p:spPr>
          <a:xfrm>
            <a:off x="5394960" y="3246120"/>
            <a:ext cx="0" cy="1417320"/>
          </a:xfrm>
          <a:prstGeom prst="line">
            <a:avLst/>
          </a:prstGeom>
          <a:noFill/>
          <a:ln w="12700">
            <a:solidFill>
              <a:srgbClr val="D7DCE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3"/>
          <p:cNvSpPr/>
          <p:nvPr/>
        </p:nvSpPr>
        <p:spPr>
          <a:xfrm>
            <a:off x="685800" y="32278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&amp; SYNCHRONIZATION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685800" y="3538728"/>
            <a:ext cx="4389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v2i_reqQueue - all 4 lanes to IM (shared request channel)</a:t>
            </a:r>
            <a:endParaRPr lang="en-US" sz="10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v2i_respQueue[4] - IM to lane[dir] (GRANT / DEFER)</a:t>
            </a:r>
            <a:endParaRPr lang="en-US" sz="10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v2v_broadcastQueue[4] - one per sender, fan-out to listeners</a:t>
            </a:r>
            <a:endParaRPr lang="en-US" sz="10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0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imMutex, v2vMutex - protect crossCount/crossMode and awareness table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669280" y="32278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669280" y="3538728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6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IMTask runs at the highest priority so it never blocks a LaneTask waiting on a grant/defer decision - directly satisfying NFR6 (real-time response): the IM always decides within one atomic step.</a:t>
            </a:r>
            <a:endParaRPr lang="en-US" sz="960" dirty="0"/>
          </a:p>
        </p:txBody>
      </p:sp>
      <p:sp>
        <p:nvSpPr>
          <p:cNvPr id="33" name="Text 27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3891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108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V2I / V2V Protocol Flow in Code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5156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crossing cycle, from arrival to exit notification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1353312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530352" y="14721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0352" y="170992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0352" y="196596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76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inter-arrival</a:t>
            </a:r>
            <a:endParaRPr lang="en-US" sz="760" dirty="0"/>
          </a:p>
          <a:p>
            <a:pPr marL="0" indent="0">
              <a:lnSpc>
                <a:spcPts val="900"/>
              </a:lnSpc>
              <a:buNone/>
            </a:pPr>
            <a:r>
              <a:rPr lang="en-US" sz="76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[2000-8000 ms]</a:t>
            </a:r>
            <a:endParaRPr lang="en-US" sz="760" dirty="0"/>
          </a:p>
        </p:txBody>
      </p:sp>
      <p:sp>
        <p:nvSpPr>
          <p:cNvPr id="10" name="Shape 7"/>
          <p:cNvSpPr/>
          <p:nvPr/>
        </p:nvSpPr>
        <p:spPr>
          <a:xfrm>
            <a:off x="1810512" y="1943100"/>
            <a:ext cx="137160" cy="0"/>
          </a:xfrm>
          <a:prstGeom prst="line">
            <a:avLst/>
          </a:prstGeom>
          <a:noFill/>
          <a:ln w="2032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1947672" y="1417320"/>
            <a:ext cx="1353312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2020824" y="14721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020824" y="170992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020824" y="196596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76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V2IRequest(dir,move)</a:t>
            </a:r>
            <a:endParaRPr lang="en-US" sz="760" dirty="0"/>
          </a:p>
          <a:p>
            <a:pPr marL="0" indent="0">
              <a:lnSpc>
                <a:spcPts val="900"/>
              </a:lnSpc>
              <a:buNone/>
            </a:pPr>
            <a:r>
              <a:rPr lang="en-US" sz="76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v2i_reqQueue</a:t>
            </a:r>
            <a:endParaRPr lang="en-US" sz="760" dirty="0"/>
          </a:p>
        </p:txBody>
      </p:sp>
      <p:sp>
        <p:nvSpPr>
          <p:cNvPr id="15" name="Shape 12"/>
          <p:cNvSpPr/>
          <p:nvPr/>
        </p:nvSpPr>
        <p:spPr>
          <a:xfrm>
            <a:off x="3300984" y="1943100"/>
            <a:ext cx="137160" cy="0"/>
          </a:xfrm>
          <a:prstGeom prst="line">
            <a:avLst/>
          </a:prstGeom>
          <a:noFill/>
          <a:ln w="2032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3"/>
          <p:cNvSpPr/>
          <p:nvPr/>
        </p:nvSpPr>
        <p:spPr>
          <a:xfrm>
            <a:off x="3438144" y="1417320"/>
            <a:ext cx="1353312" cy="1051560"/>
          </a:xfrm>
          <a:prstGeom prst="roundRect">
            <a:avLst>
              <a:gd name="adj" fmla="val 6957"/>
            </a:avLst>
          </a:prstGeom>
          <a:solidFill>
            <a:srgbClr val="FBEFE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3511296" y="14721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11296" y="170992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 / Defer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511296" y="196596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76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canGrant() check</a:t>
            </a:r>
            <a:endParaRPr lang="en-US" sz="760" dirty="0"/>
          </a:p>
          <a:p>
            <a:pPr marL="0" indent="0">
              <a:lnSpc>
                <a:spcPts val="900"/>
              </a:lnSpc>
              <a:buNone/>
            </a:pPr>
            <a:r>
              <a:rPr lang="en-US" sz="76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on v2i_respQueue</a:t>
            </a:r>
            <a:endParaRPr lang="en-US" sz="760" dirty="0"/>
          </a:p>
        </p:txBody>
      </p:sp>
      <p:sp>
        <p:nvSpPr>
          <p:cNvPr id="20" name="Shape 17"/>
          <p:cNvSpPr/>
          <p:nvPr/>
        </p:nvSpPr>
        <p:spPr>
          <a:xfrm>
            <a:off x="4791456" y="1943100"/>
            <a:ext cx="137160" cy="0"/>
          </a:xfrm>
          <a:prstGeom prst="line">
            <a:avLst/>
          </a:prstGeom>
          <a:noFill/>
          <a:ln w="2032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8"/>
          <p:cNvSpPr/>
          <p:nvPr/>
        </p:nvSpPr>
        <p:spPr>
          <a:xfrm>
            <a:off x="4928616" y="1417320"/>
            <a:ext cx="1353312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19"/>
          <p:cNvSpPr/>
          <p:nvPr/>
        </p:nvSpPr>
        <p:spPr>
          <a:xfrm>
            <a:off x="5001768" y="14721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01768" y="170992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001768" y="196596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76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V2V intent to all</a:t>
            </a:r>
            <a:endParaRPr lang="en-US" sz="760" dirty="0"/>
          </a:p>
          <a:p>
            <a:pPr marL="0" indent="0">
              <a:lnSpc>
                <a:spcPts val="900"/>
              </a:lnSpc>
              <a:buNone/>
            </a:pPr>
            <a:r>
              <a:rPr lang="en-US" sz="76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directions</a:t>
            </a:r>
            <a:endParaRPr lang="en-US" sz="760" dirty="0"/>
          </a:p>
        </p:txBody>
      </p:sp>
      <p:sp>
        <p:nvSpPr>
          <p:cNvPr id="25" name="Shape 22"/>
          <p:cNvSpPr/>
          <p:nvPr/>
        </p:nvSpPr>
        <p:spPr>
          <a:xfrm>
            <a:off x="6281928" y="1943100"/>
            <a:ext cx="137160" cy="0"/>
          </a:xfrm>
          <a:prstGeom prst="line">
            <a:avLst/>
          </a:prstGeom>
          <a:noFill/>
          <a:ln w="2032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3"/>
          <p:cNvSpPr/>
          <p:nvPr/>
        </p:nvSpPr>
        <p:spPr>
          <a:xfrm>
            <a:off x="6419088" y="1417320"/>
            <a:ext cx="1353312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4"/>
          <p:cNvSpPr/>
          <p:nvPr/>
        </p:nvSpPr>
        <p:spPr>
          <a:xfrm>
            <a:off x="6492240" y="14721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492240" y="170992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92240" y="196596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76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intersection for</a:t>
            </a:r>
            <a:endParaRPr lang="en-US" sz="760" dirty="0"/>
          </a:p>
          <a:p>
            <a:pPr marL="0" indent="0">
              <a:lnSpc>
                <a:spcPts val="900"/>
              </a:lnSpc>
              <a:buNone/>
            </a:pPr>
            <a:r>
              <a:rPr lang="en-US" sz="76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SERVICE_MS = 4000</a:t>
            </a:r>
            <a:endParaRPr lang="en-US" sz="760" dirty="0"/>
          </a:p>
        </p:txBody>
      </p:sp>
      <p:sp>
        <p:nvSpPr>
          <p:cNvPr id="30" name="Shape 27"/>
          <p:cNvSpPr/>
          <p:nvPr/>
        </p:nvSpPr>
        <p:spPr>
          <a:xfrm>
            <a:off x="7772400" y="1943100"/>
            <a:ext cx="137160" cy="0"/>
          </a:xfrm>
          <a:prstGeom prst="line">
            <a:avLst/>
          </a:prstGeom>
          <a:noFill/>
          <a:ln w="2032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8"/>
          <p:cNvSpPr/>
          <p:nvPr/>
        </p:nvSpPr>
        <p:spPr>
          <a:xfrm>
            <a:off x="7909560" y="1417320"/>
            <a:ext cx="1353312" cy="1051560"/>
          </a:xfrm>
          <a:prstGeom prst="roundRect">
            <a:avLst>
              <a:gd name="adj" fmla="val 6957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29"/>
          <p:cNvSpPr/>
          <p:nvPr/>
        </p:nvSpPr>
        <p:spPr>
          <a:xfrm>
            <a:off x="7982712" y="14721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982712" y="170992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982712" y="196596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76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v2i_exit() decrements</a:t>
            </a:r>
            <a:endParaRPr lang="en-US" sz="760" dirty="0"/>
          </a:p>
          <a:p>
            <a:pPr marL="0" indent="0">
              <a:lnSpc>
                <a:spcPts val="900"/>
              </a:lnSpc>
              <a:buNone/>
            </a:pPr>
            <a:r>
              <a:rPr lang="en-US" sz="76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crossCount</a:t>
            </a:r>
            <a:endParaRPr lang="en-US" sz="760" dirty="0"/>
          </a:p>
        </p:txBody>
      </p:sp>
      <p:sp>
        <p:nvSpPr>
          <p:cNvPr id="35" name="Text 32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DEFER, the vehicle waits DEFER_MS = 3000 ms then re-enters step 2 (retry) - guaranteeing liveness (NFR2) without polling the IM continuously.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720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TIMING CONSTANTS (aim_freertos.c)</a:t>
            </a:r>
            <a:endParaRPr lang="en-US" sz="11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15544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MIN_ARR_MS / MAX_ARR_MS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2000 / 8000</a:t>
                      </a:r>
                      <a:endParaRPr lang="en-US" sz="9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inter-arrival window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SERVICE_MS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4000</a:t>
                      </a:r>
                      <a:endParaRPr lang="en-US" sz="9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spent crossing the intersection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DEFER_MS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3000</a:t>
                      </a:r>
                      <a:endParaRPr lang="en-US" sz="9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time before retrying after a defer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MAX_QUEUE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9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queued vehicles per approach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438912"/>
            <a:ext cx="347472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310896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Cambria"/>
              </a:rPr>
              <a:t>Runtime Simulation — Compatible Crossings (Case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49808"/>
            <a:ext cx="8138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479"/>
                </a:solidFill>
                <a:latin typeface="Calibri"/>
              </a:rPr>
              <a:t>FreeRTOS AIM simulator: canGrant() lets non-conflicting movements cross the intersection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9944" y="1133856"/>
            <a:ext cx="488411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65A82"/>
                </a:solidFill>
                <a:latin typeface="Cambria"/>
              </a:rPr>
              <a:t>CASE 1 — N-straight + S-straight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29944" y="1417320"/>
            <a:ext cx="488411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s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952" y="1481328"/>
            <a:ext cx="4756094" cy="2615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29944" y="4215383"/>
            <a:ext cx="48841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0" b="0" i="0">
                <a:solidFill>
                  <a:srgbClr val="5B6479"/>
                </a:solidFill>
                <a:latin typeface="Calibri"/>
              </a:rPr>
              <a:t>Same mode (MODE_NS_STR) — both cars GRANTed; crossMode: NS_STRAIGHT. This is M/M/2 server 1 (opposite lanes never cross).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B6479"/>
                </a:solidFill>
                <a:latin typeface="Calibri"/>
              </a:rPr>
              <a:t>Captured from the FreeRTOS AIM simulator console (aim_freertos.c)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con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438912"/>
            <a:ext cx="347472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310896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Cambria"/>
              </a:rPr>
              <a:t>Runtime Simulation - Compatible Crossings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49808"/>
            <a:ext cx="8138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5B6479"/>
                </a:solidFill>
                <a:latin typeface="Calibri"/>
              </a:rPr>
              <a:t>FreeRTOS AIM simulator: canGrant() lets non-conflicting movements cross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65A82"/>
                </a:solidFill>
                <a:latin typeface="Cambria"/>
              </a:rPr>
              <a:t>CASE 2 - E-straight + W-straight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" y="1490472"/>
            <a:ext cx="4059935" cy="2276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3192" y="1490472"/>
            <a:ext cx="4059935" cy="2276856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7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WhatsApp_Image_2026-07-06_at_10_58_42__1_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3931920" cy="2148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3822191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479"/>
                </a:solidFill>
                <a:latin typeface="Calibri"/>
              </a:rPr>
              <a:t>Same mode (MODE_EW_STR) - both cars GRANTed; crossMode: EW_STRAIGHT, crossCount: 0 before entry.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207008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65A82"/>
                </a:solidFill>
                <a:latin typeface="Cambria"/>
              </a:rPr>
              <a:t>CASE 3 - All Right Turns Together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90872" y="1490472"/>
            <a:ext cx="4059935" cy="2276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690872" y="1490472"/>
            <a:ext cx="4059935" cy="2276856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7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WhatsApp_Image_2026-07-06_at_10_58_43__1_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554480"/>
            <a:ext cx="3931920" cy="2148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54880" y="3822191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479"/>
                </a:solidFill>
                <a:latin typeface="Calibri"/>
              </a:rPr>
              <a:t>MODE_RTURN allows all four corners at once - crossMode: RIGHT_TURN, crossCount: 4, all four GRANTed.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B6479"/>
                </a:solidFill>
                <a:latin typeface="Calibri"/>
              </a:rPr>
              <a:t>Captured from the FreeRTOS AIM simulator console (aim_freertos.c) - matches the UPPAAL canGrant() guards exactly.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479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c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438912"/>
            <a:ext cx="347472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310896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i="0">
                <a:solidFill>
                  <a:srgbClr val="1E2761"/>
                </a:solidFill>
                <a:latin typeface="Cambria"/>
              </a:rPr>
              <a:t>Runtime Simulation - Exclusive Left Turn &amp; Retry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749808"/>
            <a:ext cx="8138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5B6479"/>
                </a:solidFill>
                <a:latin typeface="Calibri"/>
              </a:rPr>
              <a:t>canGrant() defers conflicting cars, then grants the retry once the intersection clears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65A82"/>
                </a:solidFill>
                <a:latin typeface="Cambria"/>
              </a:rPr>
              <a:t>CASE 4 - Left Turn is Exclusive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" y="1490472"/>
            <a:ext cx="4059935" cy="2276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3192" y="1490472"/>
            <a:ext cx="4059935" cy="2276856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7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WhatsApp_Image_2026-07-06_at_10_58_42__2_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3931920" cy="2148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3822191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479"/>
                </a:solidFill>
                <a:latin typeface="Calibri"/>
              </a:rPr>
              <a:t>N-left GRANTed alone (MODE_EXCL); S/E/W straight requests all DEFER until it exits.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207008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65A82"/>
                </a:solidFill>
                <a:latin typeface="Cambria"/>
              </a:rPr>
              <a:t>AFTER EXIT - Waiting Car Retries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90872" y="1490472"/>
            <a:ext cx="4059935" cy="2276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690872" y="1490472"/>
            <a:ext cx="4059935" cy="2276856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D7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WhatsApp_Image_2026-07-06_at_10_58_4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554480"/>
            <a:ext cx="3931920" cy="2148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54880" y="3822191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479"/>
                </a:solidFill>
                <a:latin typeface="Calibri"/>
              </a:rPr>
              <a:t>crossCount returns to 0 on EXIT; the deferred car retries after DEFER_MS and is GRANTed.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B6479"/>
                </a:solidFill>
                <a:latin typeface="Calibri"/>
              </a:rPr>
              <a:t>Demonstrates NFR2 (liveness): every deferred vehicle is eventually granted - no starvation.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479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3891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108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VHDL Hardware Implementation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5156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aim_intersection_manager - the same rule, synthesized as RTL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1188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PORTS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149961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clk, rst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2880360" y="14996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50"/>
              </a:lnSpc>
              <a:buNone/>
            </a:pPr>
            <a:r>
              <a:rPr lang="en-US" sz="81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clock; synchronous active-high reset</a:t>
            </a:r>
            <a:endParaRPr lang="en-US" sz="810" dirty="0"/>
          </a:p>
        </p:txBody>
      </p:sp>
      <p:sp>
        <p:nvSpPr>
          <p:cNvPr id="9" name="Shape 6"/>
          <p:cNvSpPr/>
          <p:nvPr/>
        </p:nvSpPr>
        <p:spPr>
          <a:xfrm>
            <a:off x="457200" y="1810512"/>
            <a:ext cx="4709160" cy="329184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502920" y="18288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v2i_req_valid[4], v2i_req_move[8]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2880360" y="18288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50"/>
              </a:lnSpc>
              <a:buNone/>
            </a:pPr>
            <a:r>
              <a:rPr lang="en-US" sz="81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 + 2 bits/car - request + movement (00 straight, 01 right, 10 left)</a:t>
            </a:r>
            <a:endParaRPr lang="en-US" sz="810" dirty="0"/>
          </a:p>
        </p:txBody>
      </p:sp>
      <p:sp>
        <p:nvSpPr>
          <p:cNvPr id="12" name="Text 9"/>
          <p:cNvSpPr/>
          <p:nvPr/>
        </p:nvSpPr>
        <p:spPr>
          <a:xfrm>
            <a:off x="502920" y="21579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v2i_grant[4], v2i_defer[4]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2880360" y="215798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50"/>
              </a:lnSpc>
              <a:buNone/>
            </a:pPr>
            <a:r>
              <a:rPr lang="en-US" sz="81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one-cycle pulse per car - grant or defer</a:t>
            </a:r>
            <a:endParaRPr lang="en-US" sz="810" dirty="0"/>
          </a:p>
        </p:txBody>
      </p:sp>
      <p:sp>
        <p:nvSpPr>
          <p:cNvPr id="14" name="Shape 11"/>
          <p:cNvSpPr/>
          <p:nvPr/>
        </p:nvSpPr>
        <p:spPr>
          <a:xfrm>
            <a:off x="457200" y="2468880"/>
            <a:ext cx="4709160" cy="329184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v2i_exit[4]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880360" y="24871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50"/>
              </a:lnSpc>
              <a:buNone/>
            </a:pPr>
            <a:r>
              <a:rPr lang="en-US" sz="81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finished crossing</a:t>
            </a:r>
            <a:endParaRPr lang="en-US" sz="810" dirty="0"/>
          </a:p>
        </p:txBody>
      </p:sp>
      <p:sp>
        <p:nvSpPr>
          <p:cNvPr id="17" name="Text 14"/>
          <p:cNvSpPr/>
          <p:nvPr/>
        </p:nvSpPr>
        <p:spPr>
          <a:xfrm>
            <a:off x="502920" y="28163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v2v_intent[4] -&gt; v2v_aware[4]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2880360" y="28163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50"/>
              </a:lnSpc>
              <a:buNone/>
            </a:pPr>
            <a:r>
              <a:rPr lang="en-US" sz="81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V2V broadcast passthrough</a:t>
            </a:r>
            <a:endParaRPr lang="en-US" sz="810" dirty="0"/>
          </a:p>
        </p:txBody>
      </p:sp>
      <p:sp>
        <p:nvSpPr>
          <p:cNvPr id="19" name="Shape 16"/>
          <p:cNvSpPr/>
          <p:nvPr/>
        </p:nvSpPr>
        <p:spPr>
          <a:xfrm>
            <a:off x="457200" y="3127248"/>
            <a:ext cx="4709160" cy="329184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502920" y="31455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cross_count[3], cross_mode[2]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2880360" y="31455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50"/>
              </a:lnSpc>
              <a:buNone/>
            </a:pPr>
            <a:r>
              <a:rPr lang="en-US" sz="81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cnt_reg (0-7) and mode_reg ("00".. "11")</a:t>
            </a:r>
            <a:endParaRPr lang="en-US" sz="810" dirty="0"/>
          </a:p>
        </p:txBody>
      </p:sp>
      <p:sp>
        <p:nvSpPr>
          <p:cNvPr id="22" name="Shape 19"/>
          <p:cNvSpPr/>
          <p:nvPr/>
        </p:nvSpPr>
        <p:spPr>
          <a:xfrm>
            <a:off x="5394960" y="1188720"/>
            <a:ext cx="3291840" cy="1783080"/>
          </a:xfrm>
          <a:prstGeom prst="roundRect">
            <a:avLst>
              <a:gd name="adj" fmla="val 4103"/>
            </a:avLst>
          </a:prstGeom>
          <a:solidFill>
            <a:srgbClr val="EAF7F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0"/>
          <p:cNvSpPr/>
          <p:nvPr/>
        </p:nvSpPr>
        <p:spPr>
          <a:xfrm>
            <a:off x="5577840" y="1298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can_grant_fn(dir, mv, mode_r, excl, cnt)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577840" y="1627632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excl='1'  -&gt;  false (exclusive left-turn active)</a:t>
            </a:r>
            <a:endParaRPr lang="en-US" sz="86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cnt = 0  -&gt;  true (intersection empty)</a:t>
            </a:r>
            <a:endParaRPr lang="en-US" sz="86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 = LEFT  -&gt;  false (left turns always exclusive)</a:t>
            </a:r>
            <a:endParaRPr lang="en-US" sz="86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get_mode_fn(dir,mv) = mode_r  -&gt;  true</a:t>
            </a:r>
            <a:endParaRPr lang="en-US" sz="86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86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 -&gt;  false (defer)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457200" y="351129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TESTBENCH - tb_aim_intersection_manager (ModelSim / Questa, 100 MHz / 10 ns clk)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7200" y="3803904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4"/>
          <p:cNvSpPr/>
          <p:nvPr/>
        </p:nvSpPr>
        <p:spPr>
          <a:xfrm>
            <a:off x="548640" y="38404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T1-T2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48640" y="401421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78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then S straight, empty -&gt; both GRANT, M/M/2 server 1 (mode 01)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3223260" y="3803904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7"/>
          <p:cNvSpPr/>
          <p:nvPr/>
        </p:nvSpPr>
        <p:spPr>
          <a:xfrm>
            <a:off x="3314700" y="38404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314700" y="401421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78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straight while NS active -&gt; DEFER (cross-conflict)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5989320" y="3803904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Text 30"/>
          <p:cNvSpPr/>
          <p:nvPr/>
        </p:nvSpPr>
        <p:spPr>
          <a:xfrm>
            <a:off x="6080760" y="38404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080760" y="401421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78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&amp; S exit -&gt; cross_count=0, mode reset to empty</a:t>
            </a:r>
            <a:endParaRPr lang="en-US" sz="780" dirty="0"/>
          </a:p>
        </p:txBody>
      </p:sp>
      <p:sp>
        <p:nvSpPr>
          <p:cNvPr id="35" name="Shape 32"/>
          <p:cNvSpPr/>
          <p:nvPr/>
        </p:nvSpPr>
        <p:spPr>
          <a:xfrm>
            <a:off x="457200" y="4425696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6" name="Text 33"/>
          <p:cNvSpPr/>
          <p:nvPr/>
        </p:nvSpPr>
        <p:spPr>
          <a:xfrm>
            <a:off x="548640" y="446227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48640" y="46360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78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&amp; W broadcast V2V intent -&gt; v2v_aware reflects both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3223260" y="4425696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Text 36"/>
          <p:cNvSpPr/>
          <p:nvPr/>
        </p:nvSpPr>
        <p:spPr>
          <a:xfrm>
            <a:off x="3314700" y="446227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T6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3314700" y="46360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78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right turns at once -&gt; all GRANT, mode=11 (right-turn)</a:t>
            </a:r>
            <a:endParaRPr lang="en-US" sz="780" dirty="0"/>
          </a:p>
        </p:txBody>
      </p:sp>
      <p:sp>
        <p:nvSpPr>
          <p:cNvPr id="41" name="Shape 38"/>
          <p:cNvSpPr/>
          <p:nvPr/>
        </p:nvSpPr>
        <p:spPr>
          <a:xfrm>
            <a:off x="5989320" y="4425696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2" name="Text 39"/>
          <p:cNvSpPr/>
          <p:nvPr/>
        </p:nvSpPr>
        <p:spPr>
          <a:xfrm>
            <a:off x="6080760" y="446227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T7-T8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080760" y="46360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78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left turn -&gt; GRANT + exclusive; S straight during it -&gt; DEFER</a:t>
            </a:r>
            <a:endParaRPr lang="en-US" sz="780" dirty="0"/>
          </a:p>
        </p:txBody>
      </p:sp>
      <p:sp>
        <p:nvSpPr>
          <p:cNvPr id="44" name="Text 41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3891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108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M/M/2 Crossing-Mode Mapping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5156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getMode()/canGrant() in C and can_grant_fn() in VHDL enforce the identical rule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7432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VHDL encoding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Compatible movements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MODE_EMPTY</a:t>
                      </a:r>
                      <a:endParaRPr lang="en-US" sz="9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Intersection idle</a:t>
                      </a:r>
                      <a:endParaRPr lang="en-US" sz="9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"00"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new request accepted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MODE_NS_STR (server 1)</a:t>
                      </a:r>
                      <a:endParaRPr lang="en-US" sz="9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N/S straight active</a:t>
                      </a:r>
                      <a:endParaRPr lang="en-US" sz="9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"01"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more N/S straight requests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MODE_EW_STR (server 2)</a:t>
                      </a:r>
                      <a:endParaRPr lang="en-US" sz="9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E/W straight active</a:t>
                      </a:r>
                      <a:endParaRPr lang="en-US" sz="9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"10"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more E/W straight requests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MODE_RTURN</a:t>
                      </a:r>
                      <a:endParaRPr lang="en-US" sz="9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Right turns active</a:t>
                      </a:r>
                      <a:endParaRPr lang="en-US" sz="9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"11"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right turns, any direction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MODE_EXCL</a:t>
                      </a:r>
                      <a:endParaRPr lang="en-US" sz="9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Left turn active</a:t>
                      </a:r>
                      <a:endParaRPr lang="en-US" sz="9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excl_flag='1'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6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other movement until it exits</a:t>
                      </a:r>
                      <a:endParaRPr lang="en-US" sz="9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148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AF7F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4"/>
          <p:cNvSpPr/>
          <p:nvPr/>
        </p:nvSpPr>
        <p:spPr>
          <a:xfrm>
            <a:off x="685800" y="42062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canGrant() / can_grant_fn():  </a:t>
            </a:r>
            <a:r>
              <a:rPr lang="en-US" sz="98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the intersection is empty, or the requested movement's mode matches the active mode and is shareable (right turns or the same straight server). Left turns and cross-conflicting straights are always deferred - identical logic in C and VHDL.</a:t>
            </a:r>
            <a:endParaRPr lang="en-US" sz="980" dirty="0"/>
          </a:p>
        </p:txBody>
      </p:sp>
      <p:sp>
        <p:nvSpPr>
          <p:cNvPr id="9" name="Text 5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3891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108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Traceability: Requirement to Implementation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5156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behavior, expressed three ways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32841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UPPAAL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freeRTOS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</a:rPr>
                        <a:t>VHDL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FR4 - compatibility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Guards on Proc transitions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canGrant() function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can_grant_fn() in RTL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FR5/FR6 - grant/defer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gr[id]! / df[id]!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RESP_GRANT / RESP_DEFER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v2i_grant / v2i_defer pulses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FR7 - V2V broadcast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vv[id]! broadcast chan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v2v_broadcastQueue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v2v_intent input bus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NFR1 - safety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Q2 verified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canGrant() prevents conflict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can_grant_fn() hardware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NFR4 - bounded (&lt;=4)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Q5 verified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cc&lt;=4 max crossings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cnt_reg range 0-7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NFR5 - M/M/2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cm modes 1 and 2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MODE_NS_STR / MODE_EW_STR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E2761"/>
                          </a:solidFill>
                        </a:rPr>
                        <a:t>mode_reg "01" / "10"</a:t>
                      </a:r>
                      <a:endParaRPr lang="en-US" sz="940" dirty="0"/>
                    </a:p>
                  </a:txBody>
                  <a:tcPr anchor="ctr">
                    <a:lnL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columns were independently verified: 5 UPPAAL queries, the aim_freertos.c retry/priority design, and 8 directed VHDL testbench cases (tb_aim_intersection_manager).</a:t>
            </a:r>
            <a:endParaRPr lang="en-US" sz="960" dirty="0"/>
          </a:p>
        </p:txBody>
      </p:sp>
      <p:sp>
        <p:nvSpPr>
          <p:cNvPr id="8" name="Text 4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38912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108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Constraints &amp; Scope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5156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the design operates within (SC1-SC7)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4"/>
          <p:cNvSpPr/>
          <p:nvPr/>
        </p:nvSpPr>
        <p:spPr>
          <a:xfrm>
            <a:off x="566928" y="1353312"/>
            <a:ext cx="530352" cy="329184"/>
          </a:xfrm>
          <a:prstGeom prst="roundRect">
            <a:avLst>
              <a:gd name="adj" fmla="val 1388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566928" y="135331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SC1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234440" y="128016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Single-lane approaches - no dedicated turn lanes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566928" y="1901952"/>
            <a:ext cx="530352" cy="329184"/>
          </a:xfrm>
          <a:prstGeom prst="roundRect">
            <a:avLst>
              <a:gd name="adj" fmla="val 1388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566928" y="190195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SC2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234440" y="182880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vehicles are V2I / V2V capable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457200" y="237744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Shape 12"/>
          <p:cNvSpPr/>
          <p:nvPr/>
        </p:nvSpPr>
        <p:spPr>
          <a:xfrm>
            <a:off x="566928" y="2450592"/>
            <a:ext cx="530352" cy="329184"/>
          </a:xfrm>
          <a:prstGeom prst="roundRect">
            <a:avLst>
              <a:gd name="adj" fmla="val 1388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566928" y="245059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SC3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234440" y="237744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is a single roadside unit (RSU)</a:t>
            </a:r>
            <a:endParaRPr lang="en-US" sz="1030" dirty="0"/>
          </a:p>
        </p:txBody>
      </p:sp>
      <p:sp>
        <p:nvSpPr>
          <p:cNvPr id="18" name="Shape 15"/>
          <p:cNvSpPr/>
          <p:nvPr/>
        </p:nvSpPr>
        <p:spPr>
          <a:xfrm>
            <a:off x="457200" y="292608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6"/>
          <p:cNvSpPr/>
          <p:nvPr/>
        </p:nvSpPr>
        <p:spPr>
          <a:xfrm>
            <a:off x="566928" y="2999232"/>
            <a:ext cx="530352" cy="329184"/>
          </a:xfrm>
          <a:prstGeom prst="roundRect">
            <a:avLst>
              <a:gd name="adj" fmla="val 1388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566928" y="299923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SC4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234440" y="292608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Queuing model: M/M/2 (Markovian arrivals, exponential service, 2 servers)</a:t>
            </a:r>
            <a:endParaRPr lang="en-US" sz="1030" dirty="0"/>
          </a:p>
        </p:txBody>
      </p:sp>
      <p:sp>
        <p:nvSpPr>
          <p:cNvPr id="22" name="Shape 19"/>
          <p:cNvSpPr/>
          <p:nvPr/>
        </p:nvSpPr>
        <p:spPr>
          <a:xfrm>
            <a:off x="457200" y="347472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Shape 20"/>
          <p:cNvSpPr/>
          <p:nvPr/>
        </p:nvSpPr>
        <p:spPr>
          <a:xfrm>
            <a:off x="566928" y="3547872"/>
            <a:ext cx="530352" cy="329184"/>
          </a:xfrm>
          <a:prstGeom prst="roundRect">
            <a:avLst>
              <a:gd name="adj" fmla="val 1388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1"/>
          <p:cNvSpPr/>
          <p:nvPr/>
        </p:nvSpPr>
        <p:spPr>
          <a:xfrm>
            <a:off x="566928" y="354787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SC5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234440" y="347472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implementation: VHDL (aim_intersection_manager), verified in ModelSim / Questa</a:t>
            </a:r>
            <a:endParaRPr lang="en-US" sz="1030" dirty="0"/>
          </a:p>
        </p:txBody>
      </p:sp>
      <p:sp>
        <p:nvSpPr>
          <p:cNvPr id="26" name="Shape 23"/>
          <p:cNvSpPr/>
          <p:nvPr/>
        </p:nvSpPr>
        <p:spPr>
          <a:xfrm>
            <a:off x="457200" y="402336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Shape 24"/>
          <p:cNvSpPr/>
          <p:nvPr/>
        </p:nvSpPr>
        <p:spPr>
          <a:xfrm>
            <a:off x="566928" y="4096512"/>
            <a:ext cx="530352" cy="329184"/>
          </a:xfrm>
          <a:prstGeom prst="roundRect">
            <a:avLst>
              <a:gd name="adj" fmla="val 1388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5"/>
          <p:cNvSpPr/>
          <p:nvPr/>
        </p:nvSpPr>
        <p:spPr>
          <a:xfrm>
            <a:off x="566928" y="409651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SC6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234440" y="402336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implementation: C with FreeRTOS</a:t>
            </a:r>
            <a:endParaRPr lang="en-US" sz="1030" dirty="0"/>
          </a:p>
        </p:txBody>
      </p:sp>
      <p:sp>
        <p:nvSpPr>
          <p:cNvPr id="30" name="Shape 27"/>
          <p:cNvSpPr/>
          <p:nvPr/>
        </p:nvSpPr>
        <p:spPr>
          <a:xfrm>
            <a:off x="457200" y="457200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Shape 28"/>
          <p:cNvSpPr/>
          <p:nvPr/>
        </p:nvSpPr>
        <p:spPr>
          <a:xfrm>
            <a:off x="566928" y="4645152"/>
            <a:ext cx="530352" cy="329184"/>
          </a:xfrm>
          <a:prstGeom prst="roundRect">
            <a:avLst>
              <a:gd name="adj" fmla="val 1388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29"/>
          <p:cNvSpPr/>
          <p:nvPr/>
        </p:nvSpPr>
        <p:spPr>
          <a:xfrm>
            <a:off x="566928" y="464515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SC7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234440" y="457200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model: UPPAAL timed automata</a:t>
            </a:r>
            <a:endParaRPr lang="en-US" sz="1030" dirty="0"/>
          </a:p>
        </p:txBody>
      </p:sp>
      <p:sp>
        <p:nvSpPr>
          <p:cNvPr id="34" name="Text 31"/>
          <p:cNvSpPr/>
          <p:nvPr/>
        </p:nvSpPr>
        <p:spPr>
          <a:xfrm>
            <a:off x="873252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4206240" cy="4206240"/>
          </a:xfrm>
          <a:prstGeom prst="ellipse">
            <a:avLst/>
          </a:prstGeom>
          <a:solidFill>
            <a:srgbClr val="2E3A8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-1280160" y="3017520"/>
            <a:ext cx="3291840" cy="3291840"/>
          </a:xfrm>
          <a:prstGeom prst="ellipse">
            <a:avLst/>
          </a:prstGeom>
          <a:solidFill>
            <a:srgbClr val="141A4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Rule, Three Implementations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88366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8105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by construction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80160" y="21031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canGrant() compatibility rule is enforced identically in UPPAAL, C/FreeRTOS, and VHDL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254203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59689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5237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Formally verified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80160" y="281635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UPPAAL queries confirm no deadlock, path exclusivity, correct M/M/2 pairing, and a bounded crossing count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25526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310128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2369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Liveness guaranteed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280160" y="352958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defer-and-retry loop ensures every vehicle is eventually granted - no starvation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40080" y="396849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023360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39502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traffic lights needed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280160" y="424281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9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V2I reservation plus V2V awareness fully replace signal-phase control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64008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Traffic Management  -  UPPAAL  x  FreeRTOS  x  VHDL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FA7AAB-5F7D-8F1C-CBF9-FD80A9D0A135}"/>
              </a:ext>
            </a:extLst>
          </p:cNvPr>
          <p:cNvSpPr txBox="1"/>
          <p:nvPr/>
        </p:nvSpPr>
        <p:spPr>
          <a:xfrm>
            <a:off x="1536700" y="1092200"/>
            <a:ext cx="60706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/>
              <a:t>THANK YOU FOR LISTENING</a:t>
            </a:r>
          </a:p>
          <a:p>
            <a:pPr algn="ctr"/>
            <a:endParaRPr lang="de-DE" dirty="0"/>
          </a:p>
          <a:p>
            <a:pPr algn="ctr"/>
            <a:endParaRPr lang="de-DE" dirty="0"/>
          </a:p>
          <a:p>
            <a:pPr algn="ctr"/>
            <a:r>
              <a:rPr lang="de-DE" sz="28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039131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2460</Words>
  <Application>Microsoft Office PowerPoint</Application>
  <PresentationFormat>On-screen Show (16:9)</PresentationFormat>
  <Paragraphs>418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 MT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 Traffic Management</dc:title>
  <dc:subject>PptxGenJS Presentation</dc:subject>
  <dc:creator>Cross Traffic Management Project</dc:creator>
  <cp:lastModifiedBy>oluwasholape oyemade</cp:lastModifiedBy>
  <cp:revision>3</cp:revision>
  <dcterms:created xsi:type="dcterms:W3CDTF">2026-07-06T02:25:12Z</dcterms:created>
  <dcterms:modified xsi:type="dcterms:W3CDTF">2026-07-06T09:15:47Z</dcterms:modified>
</cp:coreProperties>
</file>